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c0dca687aee24fe7" /><Relationship Type="http://schemas.openxmlformats.org/officeDocument/2006/relationships/extended-properties" Target="/docProps/app.xml" Id="R0bdc49bafcc64e76" /><Relationship Type="http://schemas.openxmlformats.org/officeDocument/2006/relationships/officeDocument" Target="/ppt/presentation.xml" Id="R986bac9a750d456a" /></Relationships>
</file>

<file path=ppt/presentation.xml><?xml version="1.0" encoding="utf-8"?>
<p:presentation xmlns:p="http://schemas.openxmlformats.org/presentationml/2006/main">
  <p:sldMasterIdLst>
    <p:sldMasterId xmlns:r="http://schemas.openxmlformats.org/officeDocument/2006/relationships" id="2147483648" r:id="R988141562cf6429d"/>
  </p:sldMasterIdLst>
  <p:notesMasterIdLst>
    <p:notesMasterId xmlns:r="http://schemas.openxmlformats.org/officeDocument/2006/relationships" r:id="R9b32e4ff3f5842f7"/>
  </p:notesMasterIdLst>
  <p:sldIdLst>
    <p:sldId xmlns:r="http://schemas.openxmlformats.org/officeDocument/2006/relationships" id="256" r:id="Rf3bffea4cb3e412a"/>
    <p:sldId xmlns:r="http://schemas.openxmlformats.org/officeDocument/2006/relationships" id="257" r:id="R26a57a947e4a4114"/>
    <p:sldId xmlns:r="http://schemas.openxmlformats.org/officeDocument/2006/relationships" id="258" r:id="Rb08be836b95544e0"/>
    <p:sldId xmlns:r="http://schemas.openxmlformats.org/officeDocument/2006/relationships" id="259" r:id="Rbb6ccfc23c4045ee"/>
    <p:sldId xmlns:r="http://schemas.openxmlformats.org/officeDocument/2006/relationships" id="260" r:id="Rf7d463880c964c05"/>
    <p:sldId xmlns:r="http://schemas.openxmlformats.org/officeDocument/2006/relationships" id="261" r:id="Rc9ef45260fe94117"/>
    <p:sldId xmlns:r="http://schemas.openxmlformats.org/officeDocument/2006/relationships" id="262" r:id="R45f90edbce384e0c"/>
    <p:sldId xmlns:r="http://schemas.openxmlformats.org/officeDocument/2006/relationships" id="263" r:id="Rcc24767dade14dd6"/>
    <p:sldId xmlns:r="http://schemas.openxmlformats.org/officeDocument/2006/relationships" id="264" r:id="R0d9cd3800b254062"/>
    <p:sldId xmlns:r="http://schemas.openxmlformats.org/officeDocument/2006/relationships" id="265" r:id="Rd89d3c202e73466a"/>
    <p:sldId xmlns:r="http://schemas.openxmlformats.org/officeDocument/2006/relationships" id="266" r:id="R10454948177445e9"/>
    <p:sldId xmlns:r="http://schemas.openxmlformats.org/officeDocument/2006/relationships" id="267" r:id="R1dd1a6bb36fe4cdf"/>
    <p:sldId xmlns:r="http://schemas.openxmlformats.org/officeDocument/2006/relationships" id="268" r:id="Rcdca1cddee4646a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8665e241eb142b2" /><Relationship Type="http://schemas.openxmlformats.org/officeDocument/2006/relationships/slideMaster" Target="/ppt/slideMasters/slideMaster1.xml" Id="R988141562cf6429d" /><Relationship Type="http://schemas.openxmlformats.org/officeDocument/2006/relationships/notesMaster" Target="/ppt/notesMasters/notesMaster1.xml" Id="R9b32e4ff3f5842f7" /><Relationship Type="http://schemas.openxmlformats.org/officeDocument/2006/relationships/presProps" Target="/ppt/presProps.xml" Id="R52b28ef9d9df471e" /><Relationship Type="http://schemas.openxmlformats.org/officeDocument/2006/relationships/tableStyles" Target="/ppt/tableStyles.xml" Id="R8eb3685aae994fad" /><Relationship Type="http://schemas.openxmlformats.org/officeDocument/2006/relationships/slide" Target="/ppt/slides/slide1.xml" Id="Rf3bffea4cb3e412a" /><Relationship Type="http://schemas.openxmlformats.org/officeDocument/2006/relationships/slide" Target="/ppt/slides/slide2.xml" Id="R26a57a947e4a4114" /><Relationship Type="http://schemas.openxmlformats.org/officeDocument/2006/relationships/slide" Target="/ppt/slides/slide3.xml" Id="Rb08be836b95544e0" /><Relationship Type="http://schemas.openxmlformats.org/officeDocument/2006/relationships/slide" Target="/ppt/slides/slide4.xml" Id="Rbb6ccfc23c4045ee" /><Relationship Type="http://schemas.openxmlformats.org/officeDocument/2006/relationships/slide" Target="/ppt/slides/slide5.xml" Id="Rf7d463880c964c05" /><Relationship Type="http://schemas.openxmlformats.org/officeDocument/2006/relationships/slide" Target="/ppt/slides/slide6.xml" Id="Rc9ef45260fe94117" /><Relationship Type="http://schemas.openxmlformats.org/officeDocument/2006/relationships/slide" Target="/ppt/slides/slide7.xml" Id="R45f90edbce384e0c" /><Relationship Type="http://schemas.openxmlformats.org/officeDocument/2006/relationships/slide" Target="/ppt/slides/slide8.xml" Id="Rcc24767dade14dd6" /><Relationship Type="http://schemas.openxmlformats.org/officeDocument/2006/relationships/slide" Target="/ppt/slides/slide9.xml" Id="R0d9cd3800b254062" /><Relationship Type="http://schemas.openxmlformats.org/officeDocument/2006/relationships/slide" Target="/ppt/slides/slide10.xml" Id="Rd89d3c202e73466a" /><Relationship Type="http://schemas.openxmlformats.org/officeDocument/2006/relationships/slide" Target="/ppt/slides/slide11.xml" Id="R10454948177445e9" /><Relationship Type="http://schemas.openxmlformats.org/officeDocument/2006/relationships/slide" Target="/ppt/slides/slide12.xml" Id="R1dd1a6bb36fe4cdf" /><Relationship Type="http://schemas.openxmlformats.org/officeDocument/2006/relationships/slide" Target="/ppt/slides/slide13.xml" Id="Rcdca1cddee4646a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fb69b2c2e184f9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8fd3d80cba64108" /><Relationship Type="http://schemas.openxmlformats.org/officeDocument/2006/relationships/notesMaster" Target="/ppt/notesMasters/notesMaster1.xml" Id="Rc3c8707df1bd4006" /></Relationships>
</file>

<file path=ppt/notesSlides/_rels/notesSlide2.xml.rels>&#65279;<?xml version="1.0" encoding="utf-8"?><Relationships xmlns="http://schemas.openxmlformats.org/package/2006/relationships"><Relationship Type="http://schemas.openxmlformats.org/officeDocument/2006/relationships/slide" Target="/ppt/slides/slide2.xml" Id="Rd518f28d9dca49ae" /><Relationship Type="http://schemas.openxmlformats.org/officeDocument/2006/relationships/notesMaster" Target="/ppt/notesMasters/notesMaster1.xml" Id="R335c2a04f1ee4fdf" /></Relationships>
</file>

<file path=ppt/notesSlides/_rels/notesSlide3.xml.rels>&#65279;<?xml version="1.0" encoding="utf-8"?><Relationships xmlns="http://schemas.openxmlformats.org/package/2006/relationships"><Relationship Type="http://schemas.openxmlformats.org/officeDocument/2006/relationships/slide" Target="/ppt/slides/slide3.xml" Id="R0e0f2c89a5ec4cf5" /><Relationship Type="http://schemas.openxmlformats.org/officeDocument/2006/relationships/notesMaster" Target="/ppt/notesMasters/notesMaster1.xml" Id="R3fd88041732d4d2e" /></Relationships>
</file>

<file path=ppt/notesSlides/_rels/notesSlide4.xml.rels>&#65279;<?xml version="1.0" encoding="utf-8"?><Relationships xmlns="http://schemas.openxmlformats.org/package/2006/relationships"><Relationship Type="http://schemas.openxmlformats.org/officeDocument/2006/relationships/slide" Target="/ppt/slides/slide4.xml" Id="R7741b628e41244e5" /><Relationship Type="http://schemas.openxmlformats.org/officeDocument/2006/relationships/notesMaster" Target="/ppt/notesMasters/notesMaster1.xml" Id="R5b38d2ebabbe4a51" /></Relationships>
</file>

<file path=ppt/notesSlides/_rels/notesSlide5.xml.rels>&#65279;<?xml version="1.0" encoding="utf-8"?><Relationships xmlns="http://schemas.openxmlformats.org/package/2006/relationships"><Relationship Type="http://schemas.openxmlformats.org/officeDocument/2006/relationships/slide" Target="/ppt/slides/slide5.xml" Id="Rad60d3da82014dd1" /><Relationship Type="http://schemas.openxmlformats.org/officeDocument/2006/relationships/notesMaster" Target="/ppt/notesMasters/notesMaster1.xml" Id="R8e7b6a1c74ee424e" /></Relationships>
</file>

<file path=ppt/notesSlides/_rels/notesSlide6.xml.rels>&#65279;<?xml version="1.0" encoding="utf-8"?><Relationships xmlns="http://schemas.openxmlformats.org/package/2006/relationships"><Relationship Type="http://schemas.openxmlformats.org/officeDocument/2006/relationships/slide" Target="/ppt/slides/slide6.xml" Id="R6fdde5a72af84441" /><Relationship Type="http://schemas.openxmlformats.org/officeDocument/2006/relationships/notesMaster" Target="/ppt/notesMasters/notesMaster1.xml" Id="R4ea68b4c29b1482f" /></Relationships>
</file>

<file path=ppt/notesSlides/_rels/notesSlide7.xml.rels>&#65279;<?xml version="1.0" encoding="utf-8"?><Relationships xmlns="http://schemas.openxmlformats.org/package/2006/relationships"><Relationship Type="http://schemas.openxmlformats.org/officeDocument/2006/relationships/slide" Target="/ppt/slides/slide7.xml" Id="Rc96952877dee4102" /><Relationship Type="http://schemas.openxmlformats.org/officeDocument/2006/relationships/notesMaster" Target="/ppt/notesMasters/notesMaster1.xml" Id="R3c7b43ecad05434e" /></Relationships>
</file>

<file path=ppt/notesSlides/_rels/notesSlide8.xml.rels>&#65279;<?xml version="1.0" encoding="utf-8"?><Relationships xmlns="http://schemas.openxmlformats.org/package/2006/relationships"><Relationship Type="http://schemas.openxmlformats.org/officeDocument/2006/relationships/slide" Target="/ppt/slides/slide8.xml" Id="R71cfcecb66224cfc" /><Relationship Type="http://schemas.openxmlformats.org/officeDocument/2006/relationships/notesMaster" Target="/ppt/notesMasters/notesMaster1.xml" Id="R9bca095b3ca94b23" /></Relationships>
</file>

<file path=ppt/notesSlides/_rels/notesSlide9.xml.rels>&#65279;<?xml version="1.0" encoding="utf-8"?><Relationships xmlns="http://schemas.openxmlformats.org/package/2006/relationships"><Relationship Type="http://schemas.openxmlformats.org/officeDocument/2006/relationships/slide" Target="/ppt/slides/slide9.xml" Id="R8526907b4f204f0f" /><Relationship Type="http://schemas.openxmlformats.org/officeDocument/2006/relationships/notesMaster" Target="/ppt/notesMasters/notesMaster1.xml" Id="R58e58305214743e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1df8a813ce84392" /><Relationship Type="http://schemas.openxmlformats.org/officeDocument/2006/relationships/notesMaster" Target="/ppt/notesMasters/notesMaster1.xml" Id="R6f681084d713479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f806e1952b54cd1" /><Relationship Type="http://schemas.openxmlformats.org/officeDocument/2006/relationships/notesMaster" Target="/ppt/notesMasters/notesMaster1.xml" Id="R1faede07624743a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5e4dbe407d34bdd" /><Relationship Type="http://schemas.openxmlformats.org/officeDocument/2006/relationships/notesMaster" Target="/ppt/notesMasters/notesMaster1.xml" Id="Rfc4d2801e4584a1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a9f87f7fcb04afa" /><Relationship Type="http://schemas.openxmlformats.org/officeDocument/2006/relationships/notesMaster" Target="/ppt/notesMasters/notesMaster1.xml" Id="Rf7536498633746f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Team 22, Project 1. Inspiration: Yangyang Yu (2016), Stanford CS229, https://cs229.stanford.edu/proj2016spr/report/032.pdf. Our corpus, methods and scores differ from the paper. Updated results: outputs/real/metrics.csv.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src/aspect_router.py and src/train.py. The sentence illustrates deterministic routing, not guaranteed sentiment accuracy. Overall always uses the full review. Validation may retain full_review for an aspect. The actual model input and routed_aspect_text are separate fields.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data/hotel_reviews_real.provenance.json and outputs/real/split_manifest.csv. ArguAna TripAdvisor annotated v2, https://zenodo.org/records/3973241, Wachsmuth et al. (2014). Scientific use only, not commercial. Real data are historical English reviews balanced by overall sentiment. Synthetic generator/provenance was not supplied.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src/train.py, src/confidence.py. Candidate vectorizers use max_features=12000 and ngram_range=(1,2). NB alpha=0.5, SVM C=0.1, LR C=4; SVM/LR class_weight=balanced. SVM calibration uses cloned complete pipelines with out-of-fold sigmoid probabilities. Official method: https://scikit-learn.org/stable/modules/calibration.html. Current real winners use NB/LR native uncalibrated probabilities.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outputs/real/system_comparison.csv and validation_model_comparison.csv. Selection metric is validation polarity macro-F1, with star accuracy, full-review preference and model name as deterministic tie breaks. Every target compares all six candidates. Overall full/routed text is intentionally identical. The historical test was already known; no new test metric drove selection.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outputs/real/system_comparison.csv and hotel_bootstrap_metrics.csv. All labelled test rows are scored before abstention. Old full-review predictions reproduce the archived baseline. Hotel bootstrap: 500 seeded paired replicates. Cleanliness F1 delta 95% CI [-0.064,+0.083]; Location [-0.122,+0.088]. Both include zero. Conditional intervals exclude retraining variability.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outputs/real/metrics.csv. Within one star counts absolute error &lt;=1. MAE is mean absolute star error. Polarity maps 1-2 negative, 3 neutral, 4-5 positive. Majority polarity accuracy is shown for comparison. Detailed exact-star baselines and all per-class reports accompany the 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outputs/real/*_classification_report.json, label_distribution.csv and aspect_routing_evaluation.csv. Location test support negative/neutral/positive: 20/27/176. Business: 42/37/51. Rules route 551/794 Location training rows and 149/499 Business rows confidently. Whole-review fallback preserves other observed labels. No test-guided resampling or tuning was used.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outputs/real/confidence_analysis.csv. UI coverage is fraction of all observed target test rows that have an explicit mention, known vocabulary and confidence above the validation threshold. UI accuracy is conditional on those accepted rows. The main test metrics always include all labelled rows. Thresholds maximize balanced accuracy of validation correctness detection, not test accuracy. Native probabilities are uncalibrated and can shift after refit.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outputs/real/difficult_review_comparison.json, case 9. Full sentence: The location was excellent, the staff were helpful and the hotel was great value for money, but the room was extremely dirty. These are actual saved predictions. The qualitative example has no formal gold benchmark annotation. Old Cleanliness candidate is in the before/after JSON. Rooms remains full_review because it won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outputs/real/difficult_review_comparison.json cases 3,5,6,7 and mixed_aspect_evaluation.csv. Each diagnostic output comes from a saved model. Negation tests assert preservation, not perfect natural language interpretation. All nine requested examples remain in DEMO_GUIDE.md with before/after outputs. Mixed-label subset requires disagreement among observed aspect polarities and is not gold aspect-span annotation.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outputs/verification/test_summary.json and test_results.txt. 78 tests, zero failures/errors/skips. Tests preserve original coverage and add deterministic router, confidence, calibration and saved-artifact tests. Final verifier also starts a real Streamlit server and checks health/application HTTP responses, recomputes metrics/thresholds and verifies source/model/document hashes. Run from the project root using the pinned Python 3.11 environment.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References: Wachsmuth et al. (2014), A Review Corpus for Argumentation Analysis, https://zenodo.org/records/3973241. Yangyang Yu (2016), Aspect-based Sentiment Analysis on Hotel Reviews, Stanford CS229, https://cs229.stanford.edu/proj2016spr/report/032.pdf. Calibration documentation: https://scikit-learn.org/stable/modules/calibration.html. Sources for results: outputs/real/metrics.csv, system_comparison.csv, hotel_bootstrap_metrics.csv. A transformer was not trained. Private repository access, portal submission and truthful contributions remain manual.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6b57068097c401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da002d5039749c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1e155f2a1d949e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a35436251734de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5b440818e0a40b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4217b2f0eec438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39108AC-FC37-4FF7-BAFD-351555DD265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944ADC5-43EF-4AD4-B824-1045B52E363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438EB9B-2875-4B83-8EEE-D3AC5AAF3412}"/>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9B91154-44A5-4B9A-A790-D2D9B61EAD4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E31D5B7-DD68-4C75-9ED2-B15FF2045BA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EA95385-150B-4C78-AF16-4B60592A154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B886AB9-2A94-4750-8797-09511C8BAA4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50D420F-E722-42E4-A80E-E731027EC743}"/>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BD449FF-DFAE-4FD2-8BE6-14CC4E8219D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9372C01-FCFD-4CB7-BFDE-3FD435346EF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2ff4721c64e41bc" /><Relationship Type="http://schemas.openxmlformats.org/officeDocument/2006/relationships/slideLayout" Target="/ppt/slideLayouts/slideLayout1.xml" Id="R6b684ba9477742c6" /><Relationship Type="http://schemas.openxmlformats.org/officeDocument/2006/relationships/slideLayout" Target="/ppt/slideLayouts/slideLayout2.xml" Id="Rec3d717589c54de7" /><Relationship Type="http://schemas.openxmlformats.org/officeDocument/2006/relationships/slideLayout" Target="/ppt/slideLayouts/slideLayout3.xml" Id="R09661234d55e4429" /><Relationship Type="http://schemas.openxmlformats.org/officeDocument/2006/relationships/slideLayout" Target="/ppt/slideLayouts/slideLayout4.xml" Id="R946f4f6a9c794254" /><Relationship Type="http://schemas.openxmlformats.org/officeDocument/2006/relationships/slideLayout" Target="/ppt/slideLayouts/slideLayout5.xml" Id="R1be18ef7a1c7464c" /><Relationship Type="http://schemas.openxmlformats.org/officeDocument/2006/relationships/slideLayout" Target="/ppt/slideLayouts/slideLayout6.xml" Id="R176144f1bb4e4b7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b684ba9477742c6"/>
    <p:sldLayoutId xmlns:r="http://schemas.openxmlformats.org/officeDocument/2006/relationships" id="2147483650" r:id="Rec3d717589c54de7"/>
    <p:sldLayoutId xmlns:r="http://schemas.openxmlformats.org/officeDocument/2006/relationships" id="2147483651" r:id="R09661234d55e4429"/>
    <p:sldLayoutId xmlns:r="http://schemas.openxmlformats.org/officeDocument/2006/relationships" id="2147483652" r:id="R946f4f6a9c794254"/>
    <p:sldLayoutId xmlns:r="http://schemas.openxmlformats.org/officeDocument/2006/relationships" id="2147483653" r:id="R1be18ef7a1c7464c"/>
    <p:sldLayoutId xmlns:r="http://schemas.openxmlformats.org/officeDocument/2006/relationships" id="2147483654" r:id="R176144f1bb4e4b7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68df6f7dedf4829" /><Relationship Type="http://schemas.openxmlformats.org/officeDocument/2006/relationships/notesSlide" Target="/ppt/notesSlides/notesSlide1.xml" Id="Rb4dcc00484d049d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c1416f73f954144" /><Relationship Type="http://schemas.openxmlformats.org/officeDocument/2006/relationships/notesSlide" Target="/ppt/notesSlides/notesSlide2.xml" Id="R4ddefd8d0dca41b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aeec27e255b44ba" /><Relationship Type="http://schemas.openxmlformats.org/officeDocument/2006/relationships/notesSlide" Target="/ppt/notesSlides/notesSlide3.xml" Id="R8f020eed8e6744c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02a4d9b8cc34f7a" /><Relationship Type="http://schemas.openxmlformats.org/officeDocument/2006/relationships/notesSlide" Target="/ppt/notesSlides/notesSlide4.xml" Id="R642d89545177405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e275ddfee20447b" /><Relationship Type="http://schemas.openxmlformats.org/officeDocument/2006/relationships/notesSlide" Target="/ppt/notesSlides/notesSlide5.xml" Id="R249799cbac8948f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1408979ba034383" /><Relationship Type="http://schemas.openxmlformats.org/officeDocument/2006/relationships/chart" Target="/ppt/slides/charts/chart1.xml" Id="R8a6551ef635b4452" /><Relationship Type="http://schemas.openxmlformats.org/officeDocument/2006/relationships/notesSlide" Target="/ppt/notesSlides/notesSlide6.xml" Id="R85fcab338e634b4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36bc09464d84c59" /><Relationship Type="http://schemas.openxmlformats.org/officeDocument/2006/relationships/notesSlide" Target="/ppt/notesSlides/notesSlide7.xml" Id="R51ed468a01874dd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bbe7fa9f7e2d4df3" /><Relationship Type="http://schemas.openxmlformats.org/officeDocument/2006/relationships/notesSlide" Target="/ppt/notesSlides/notesSlide8.xml" Id="Rc6f2c15a945e4896"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9d0ace59d64b455c" /><Relationship Type="http://schemas.openxmlformats.org/officeDocument/2006/relationships/notesSlide" Target="/ppt/notesSlides/notesSlide9.xml" Id="Rc0c51de773e2483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f9f3da72f6044a0b" /><Relationship Type="http://schemas.openxmlformats.org/officeDocument/2006/relationships/notesSlide" Target="/ppt/notesSlides/notesSlide10.xml" Id="R7e08f5d4796a4a6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d87fa274ce2c40d1" /><Relationship Type="http://schemas.openxmlformats.org/officeDocument/2006/relationships/notesSlide" Target="/ppt/notesSlides/notesSlide11.xml" Id="R1193fe57fcf443c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410aedc829ae4b0d" /><Relationship Type="http://schemas.openxmlformats.org/officeDocument/2006/relationships/notesSlide" Target="/ppt/notesSlides/notesSlide12.xml" Id="R2b40b3ec41dd4a5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b3a2fc2e769b4a24" /><Relationship Type="http://schemas.openxmlformats.org/officeDocument/2006/relationships/notesSlide" Target="/ppt/notesSlides/notesSlide13.xml" Id="R0c3bbb9547624c32"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Old full review</c:v>
          </c:tx>
          <c:spPr>
            <a:solidFill xmlns:a="http://schemas.openxmlformats.org/drawingml/2006/main">
              <a:srgbClr val="A7B7C0"/>
            </a:solidFill>
          </c:spPr>
          <c:cat>
            <c:strRef>
              <c:f>'Chart Data'!$A$2:$A$8</c:f>
              <c:strCache>
                <c:ptCount val="7"/>
                <c:pt idx="0">
                  <c:v>Overall</c:v>
                </c:pt>
                <c:pt idx="1">
                  <c:v>Service</c:v>
                </c:pt>
                <c:pt idx="2">
                  <c:v>Rooms</c:v>
                </c:pt>
                <c:pt idx="3">
                  <c:v>Location</c:v>
                </c:pt>
                <c:pt idx="4">
                  <c:v>Value</c:v>
                </c:pt>
                <c:pt idx="5">
                  <c:v>Cleanliness</c:v>
                </c:pt>
                <c:pt idx="6">
                  <c:v>Business</c:v>
                </c:pt>
              </c:strCache>
            </c:strRef>
          </c:cat>
          <c:val>
            <c:numRef>
              <c:f>'Chart Data'!$B$2:$B$8</c:f>
              <c:numCache>
                <c:formatCode>0.0</c:formatCode>
                <c:ptCount val="7"/>
                <c:pt idx="0">
                  <c:v>0.70929</c:v>
                </c:pt>
                <c:pt idx="1">
                  <c:v>0.627935</c:v>
                </c:pt>
                <c:pt idx="2">
                  <c:v>0.560372</c:v>
                </c:pt>
                <c:pt idx="3">
                  <c:v>0.422644</c:v>
                </c:pt>
                <c:pt idx="4">
                  <c:v>0.615382</c:v>
                </c:pt>
                <c:pt idx="5">
                  <c:v>0.538528</c:v>
                </c:pt>
                <c:pt idx="6">
                  <c:v>0.557902</c:v>
                </c:pt>
              </c:numCache>
            </c:numRef>
          </c:val>
        </c:ser>
        <c:ser>
          <c:idx val="1"/>
          <c:order val="1"/>
          <c:tx>
            <c:v>New validation selection</c:v>
          </c:tx>
          <c:spPr>
            <a:solidFill xmlns:a="http://schemas.openxmlformats.org/drawingml/2006/main">
              <a:srgbClr val="176B87"/>
            </a:solidFill>
          </c:spPr>
          <c:cat>
            <c:strRef>
              <c:f>'Chart Data'!$C$2:$C$8</c:f>
              <c:strCache>
                <c:ptCount val="7"/>
                <c:pt idx="0">
                  <c:v>Overall</c:v>
                </c:pt>
                <c:pt idx="1">
                  <c:v>Service</c:v>
                </c:pt>
                <c:pt idx="2">
                  <c:v>Rooms</c:v>
                </c:pt>
                <c:pt idx="3">
                  <c:v>Location</c:v>
                </c:pt>
                <c:pt idx="4">
                  <c:v>Value</c:v>
                </c:pt>
                <c:pt idx="5">
                  <c:v>Cleanliness</c:v>
                </c:pt>
                <c:pt idx="6">
                  <c:v>Business</c:v>
                </c:pt>
              </c:strCache>
            </c:strRef>
          </c:cat>
          <c:val>
            <c:numRef>
              <c:f>'Chart Data'!$D$2:$D$8</c:f>
              <c:numCache>
                <c:formatCode>0.0</c:formatCode>
                <c:ptCount val="7"/>
                <c:pt idx="0">
                  <c:v>0.70929</c:v>
                </c:pt>
                <c:pt idx="1">
                  <c:v>0.627935</c:v>
                </c:pt>
                <c:pt idx="2">
                  <c:v>0.560372</c:v>
                </c:pt>
                <c:pt idx="3">
                  <c:v>0.383361</c:v>
                </c:pt>
                <c:pt idx="4">
                  <c:v>0.615382</c:v>
                </c:pt>
                <c:pt idx="5">
                  <c:v>0.565798</c:v>
                </c:pt>
                <c:pt idx="6">
                  <c:v>0.557902</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72768"/>
      </c:catAx>
      <c:valAx>
        <c:axId val="48672768"/>
        <c:scaling>
          <c:orientation val="minMax"/>
          <c:max val="1"/>
          <c:min val="0"/>
        </c:scaling>
        <c:delete val="0"/>
        <c:axPos val="l"/>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1425">
              <a:latin typeface="Arial"/>
              <a:ea typeface="Arial"/>
              <a:cs typeface="Arial"/>
            </a:defRPr>
          </a:pPr>
        </a:p>
      </c:txPr>
    </c:legend>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9049511-C319-4E66-B4B5-AF4DB6E888B2}"/>
              </a:ext>
            </a:extLst>
          </p:cNvPr>
          <p:cNvSpPr>
            <a:spLocks xmlns:a="http://schemas.openxmlformats.org/drawingml/2006/main" noGrp="1"/>
          </p:cNvSpPr>
          <p:nvPr/>
        </p:nvSpPr>
        <p:spPr>
          <a:xfrm xmlns:a="http://schemas.openxmlformats.org/drawingml/2006/main">
            <a:off x="609600" y="40005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225" b="1">
                <a:solidFill>
                  <a:srgbClr val="173746"/>
                </a:solidFill>
                <a:latin typeface="Arial"/>
                <a:ea typeface="Arial"/>
                <a:cs typeface="Arial"/>
              </a:defRPr>
            </a:defPPr>
          </a:lstStyle>
          <a:p xmlns:a="http://schemas.openxmlformats.org/drawingml/2006/main">
            <a:pPr>
              <a:defRPr sz="3225" b="1">
                <a:solidFill>
                  <a:srgbClr val="173746"/>
                </a:solidFill>
                <a:latin typeface="Arial"/>
                <a:ea typeface="Arial"/>
                <a:cs typeface="Arial"/>
              </a:defRPr>
            </a:pPr>
            <a:r>
              <a:rPr sz="3225" b="1">
                <a:solidFill>
                  <a:srgbClr val="173746"/>
                </a:solidFill>
                <a:latin typeface="Arial"/>
                <a:ea typeface="Arial"/>
                <a:cs typeface="Arial"/>
              </a:rPr>
              <a:t>Aspect-Based Sentiment Analysis</a:t>
            </a:r>
          </a:p>
          <a:p xmlns:a="http://schemas.openxmlformats.org/drawingml/2006/main">
            <a:pPr>
              <a:defRPr sz="3225" b="1">
                <a:solidFill>
                  <a:srgbClr val="173746"/>
                </a:solidFill>
                <a:latin typeface="Arial"/>
                <a:ea typeface="Arial"/>
                <a:cs typeface="Arial"/>
              </a:defRPr>
            </a:pPr>
            <a:r>
              <a:rPr sz="3225" b="1">
                <a:solidFill>
                  <a:srgbClr val="173746"/>
                </a:solidFill>
                <a:latin typeface="Arial"/>
                <a:ea typeface="Arial"/>
                <a:cs typeface="Arial"/>
              </a:rPr>
              <a:t>on Hotel Reviews</a:t>
            </a:r>
          </a:p>
        </p:txBody>
      </p:sp>
      <p:sp>
        <p:nvSpPr>
          <p:cNvPr id="2" name="">
            <a:extLst xmlns:a="http://schemas.openxmlformats.org/drawingml/2006/main">
              <a:ext uri="{FF2B5EF4-FFF2-40B4-BE49-F238E27FC236}">
                <a16:creationId xmlns:a16="http://schemas.microsoft.com/office/drawing/2014/main" id="{F58335FE-D192-4ED1-9574-55D6C3B55140}"/>
              </a:ext>
            </a:extLst>
          </p:cNvPr>
          <p:cNvSpPr>
            <a:spLocks xmlns:a="http://schemas.openxmlformats.org/drawingml/2006/main" noGrp="1"/>
          </p:cNvSpPr>
          <p:nvPr/>
        </p:nvSpPr>
        <p:spPr>
          <a:xfrm xmlns:a="http://schemas.openxmlformats.org/drawingml/2006/main">
            <a:off x="609600" y="641985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53646C"/>
                </a:solidFill>
                <a:latin typeface="Arial"/>
                <a:ea typeface="Arial"/>
                <a:cs typeface="Arial"/>
              </a:defRPr>
            </a:defPPr>
          </a:lstStyle>
          <a:p xmlns:a="http://schemas.openxmlformats.org/drawingml/2006/main">
            <a:pPr>
              <a:defRPr sz="1200" b="0">
                <a:solidFill>
                  <a:srgbClr val="53646C"/>
                </a:solidFill>
                <a:latin typeface="Arial"/>
                <a:ea typeface="Arial"/>
                <a:cs typeface="Arial"/>
              </a:defRPr>
            </a:pPr>
            <a:r>
              <a:rPr sz="1200" b="0">
                <a:solidFill>
                  <a:srgbClr val="53646C"/>
                </a:solidFill>
                <a:latin typeface="Arial"/>
                <a:ea typeface="Arial"/>
                <a:cs typeface="Arial"/>
              </a:rPr>
              <a:t>Team 22   UE24CS352A                                     1</a:t>
            </a:r>
          </a:p>
        </p:txBody>
      </p:sp>
      <p:sp>
        <p:nvSpPr>
          <p:cNvPr id="3" name="">
            <a:extLst xmlns:a="http://schemas.openxmlformats.org/drawingml/2006/main">
              <a:ext uri="{FF2B5EF4-FFF2-40B4-BE49-F238E27FC236}">
                <a16:creationId xmlns:a16="http://schemas.microsoft.com/office/drawing/2014/main" id="{33379233-D563-496F-92C2-AE84624C3041}"/>
              </a:ext>
            </a:extLst>
          </p:cNvPr>
          <p:cNvSpPr>
            <a:spLocks xmlns:a="http://schemas.openxmlformats.org/drawingml/2006/main" noGrp="1"/>
          </p:cNvSpPr>
          <p:nvPr/>
        </p:nvSpPr>
        <p:spPr>
          <a:xfrm xmlns:a="http://schemas.openxmlformats.org/drawingml/2006/main">
            <a:off x="609600" y="242887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0">
                <a:solidFill>
                  <a:srgbClr val="176B87"/>
                </a:solidFill>
                <a:latin typeface="Arial"/>
                <a:ea typeface="Arial"/>
                <a:cs typeface="Arial"/>
              </a:defRPr>
            </a:defPPr>
          </a:lstStyle>
          <a:p xmlns:a="http://schemas.openxmlformats.org/drawingml/2006/main">
            <a:pPr>
              <a:defRPr sz="2550" b="0">
                <a:solidFill>
                  <a:srgbClr val="176B87"/>
                </a:solidFill>
                <a:latin typeface="Arial"/>
                <a:ea typeface="Arial"/>
                <a:cs typeface="Arial"/>
              </a:defRPr>
            </a:pPr>
            <a:r>
              <a:rPr sz="2550" b="0">
                <a:solidFill>
                  <a:srgbClr val="176B87"/>
                </a:solidFill>
                <a:latin typeface="Arial"/>
                <a:ea typeface="Arial"/>
                <a:cs typeface="Arial"/>
              </a:rPr>
              <a:t>Aspect evidence, uncertainty and honest evaluation</a:t>
            </a:r>
          </a:p>
        </p:txBody>
      </p:sp>
      <p:sp>
        <p:nvSpPr>
          <p:cNvPr id="4" name="">
            <a:extLst xmlns:a="http://schemas.openxmlformats.org/drawingml/2006/main">
              <a:ext uri="{FF2B5EF4-FFF2-40B4-BE49-F238E27FC236}">
                <a16:creationId xmlns:a16="http://schemas.microsoft.com/office/drawing/2014/main" id="{65720A6B-0060-45EE-88EA-103BCC14097E}"/>
              </a:ext>
            </a:extLst>
          </p:cNvPr>
          <p:cNvSpPr>
            <a:spLocks xmlns:a="http://schemas.openxmlformats.org/drawingml/2006/main" noGrp="1"/>
          </p:cNvSpPr>
          <p:nvPr/>
        </p:nvSpPr>
        <p:spPr>
          <a:xfrm xmlns:a="http://schemas.openxmlformats.org/drawingml/2006/main">
            <a:off x="609600" y="376237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73746"/>
                </a:solidFill>
                <a:latin typeface="Arial"/>
                <a:ea typeface="Arial"/>
                <a:cs typeface="Arial"/>
              </a:defRPr>
            </a:defPPr>
          </a:lstStyle>
          <a:p xmlns:a="http://schemas.openxmlformats.org/drawingml/2006/main">
            <a:pPr>
              <a:defRPr sz="2250" b="0">
                <a:solidFill>
                  <a:srgbClr val="173746"/>
                </a:solidFill>
                <a:latin typeface="Arial"/>
                <a:ea typeface="Arial"/>
                <a:cs typeface="Arial"/>
              </a:defRPr>
            </a:pPr>
            <a:r>
              <a:rPr sz="2250" b="0">
                <a:solidFill>
                  <a:srgbClr val="173746"/>
                </a:solidFill>
                <a:latin typeface="Arial"/>
                <a:ea typeface="Arial"/>
                <a:cs typeface="Arial"/>
              </a:rPr>
              <a:t>Harshit Chandak   PES2UG24CS185</a:t>
            </a:r>
          </a:p>
          <a:p xmlns:a="http://schemas.openxmlformats.org/drawingml/2006/main">
            <a:pPr>
              <a:defRPr sz="2250" b="0">
                <a:solidFill>
                  <a:srgbClr val="173746"/>
                </a:solidFill>
                <a:latin typeface="Arial"/>
                <a:ea typeface="Arial"/>
                <a:cs typeface="Arial"/>
              </a:defRPr>
            </a:pPr>
            <a:r>
              <a:rPr sz="2250" b="0">
                <a:solidFill>
                  <a:srgbClr val="173746"/>
                </a:solidFill>
                <a:latin typeface="Arial"/>
                <a:ea typeface="Arial"/>
                <a:cs typeface="Arial"/>
              </a:rPr>
              <a:t>Chinmayee C M   PES2UG24CS133</a:t>
            </a:r>
          </a:p>
        </p:txBody>
      </p:sp>
      <p:sp>
        <p:nvSpPr>
          <p:cNvPr id="5" name="">
            <a:extLst xmlns:a="http://schemas.openxmlformats.org/drawingml/2006/main">
              <a:ext uri="{FF2B5EF4-FFF2-40B4-BE49-F238E27FC236}">
                <a16:creationId xmlns:a16="http://schemas.microsoft.com/office/drawing/2014/main" id="{4F7019D2-DE5B-4B7D-A1E7-D5931AC4EA9F}"/>
              </a:ext>
            </a:extLst>
          </p:cNvPr>
          <p:cNvSpPr>
            <a:spLocks xmlns:a="http://schemas.openxmlformats.org/drawingml/2006/main" noGrp="1"/>
          </p:cNvSpPr>
          <p:nvPr/>
        </p:nvSpPr>
        <p:spPr>
          <a:xfrm xmlns:a="http://schemas.openxmlformats.org/drawingml/2006/main">
            <a:off x="609600" y="541020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53646C"/>
                </a:solidFill>
                <a:latin typeface="Arial"/>
                <a:ea typeface="Arial"/>
                <a:cs typeface="Arial"/>
              </a:defRPr>
            </a:defPPr>
          </a:lstStyle>
          <a:p xmlns:a="http://schemas.openxmlformats.org/drawingml/2006/main">
            <a:pPr>
              <a:defRPr sz="1875" b="0">
                <a:solidFill>
                  <a:srgbClr val="53646C"/>
                </a:solidFill>
                <a:latin typeface="Arial"/>
                <a:ea typeface="Arial"/>
                <a:cs typeface="Arial"/>
              </a:defRPr>
            </a:pPr>
            <a:r>
              <a:rPr sz="1875" b="0">
                <a:solidFill>
                  <a:srgbClr val="53646C"/>
                </a:solidFill>
                <a:latin typeface="Arial"/>
                <a:ea typeface="Arial"/>
                <a:cs typeface="Arial"/>
              </a:rPr>
              <a:t>Machine Learning mini-project   8 October 2026</a:t>
            </a:r>
          </a:p>
        </p:txBody>
      </p:sp>
    </p:spTree>
    <p:extLst>
      <p:ext uri="{BB962C8B-B14F-4D97-AF65-F5344CB8AC3E}">
        <p14:creationId xmlns:p14="http://schemas.microsoft.com/office/powerpoint/2010/main" val="191595311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52BC6DE-9A83-4FCE-B69E-FC483D2F0CC5}"/>
              </a:ext>
            </a:extLst>
          </p:cNvPr>
          <p:cNvSpPr>
            <a:spLocks xmlns:a="http://schemas.openxmlformats.org/drawingml/2006/main" noGrp="1"/>
          </p:cNvSpPr>
          <p:nvPr/>
        </p:nvSpPr>
        <p:spPr>
          <a:xfrm xmlns:a="http://schemas.openxmlformats.org/drawingml/2006/main">
            <a:off x="609600" y="40005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225" b="1">
                <a:solidFill>
                  <a:srgbClr val="173746"/>
                </a:solidFill>
                <a:latin typeface="Arial"/>
                <a:ea typeface="Arial"/>
                <a:cs typeface="Arial"/>
              </a:defRPr>
            </a:defPPr>
          </a:lstStyle>
          <a:p xmlns:a="http://schemas.openxmlformats.org/drawingml/2006/main">
            <a:pPr>
              <a:defRPr sz="3225" b="1">
                <a:solidFill>
                  <a:srgbClr val="173746"/>
                </a:solidFill>
                <a:latin typeface="Arial"/>
                <a:ea typeface="Arial"/>
                <a:cs typeface="Arial"/>
              </a:defRPr>
            </a:pPr>
            <a:r>
              <a:rPr sz="3225" b="1">
                <a:solidFill>
                  <a:srgbClr val="173746"/>
                </a:solidFill>
                <a:latin typeface="Arial"/>
                <a:ea typeface="Arial"/>
                <a:cs typeface="Arial"/>
              </a:rPr>
              <a:t>Aspect-specific evidence</a:t>
            </a:r>
          </a:p>
        </p:txBody>
      </p:sp>
      <p:sp>
        <p:nvSpPr>
          <p:cNvPr id="2" name="">
            <a:extLst xmlns:a="http://schemas.openxmlformats.org/drawingml/2006/main">
              <a:ext uri="{FF2B5EF4-FFF2-40B4-BE49-F238E27FC236}">
                <a16:creationId xmlns:a16="http://schemas.microsoft.com/office/drawing/2014/main" id="{462819A9-6A3C-4186-90B3-8E188089CFA4}"/>
              </a:ext>
            </a:extLst>
          </p:cNvPr>
          <p:cNvSpPr>
            <a:spLocks xmlns:a="http://schemas.openxmlformats.org/drawingml/2006/main" noGrp="1"/>
          </p:cNvSpPr>
          <p:nvPr/>
        </p:nvSpPr>
        <p:spPr>
          <a:xfrm xmlns:a="http://schemas.openxmlformats.org/drawingml/2006/main">
            <a:off x="609600" y="641985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53646C"/>
                </a:solidFill>
                <a:latin typeface="Arial"/>
                <a:ea typeface="Arial"/>
                <a:cs typeface="Arial"/>
              </a:defRPr>
            </a:defPPr>
          </a:lstStyle>
          <a:p xmlns:a="http://schemas.openxmlformats.org/drawingml/2006/main">
            <a:pPr>
              <a:defRPr sz="1200" b="0">
                <a:solidFill>
                  <a:srgbClr val="53646C"/>
                </a:solidFill>
                <a:latin typeface="Arial"/>
                <a:ea typeface="Arial"/>
                <a:cs typeface="Arial"/>
              </a:defRPr>
            </a:pPr>
            <a:r>
              <a:rPr sz="1200" b="0">
                <a:solidFill>
                  <a:srgbClr val="53646C"/>
                </a:solidFill>
                <a:latin typeface="Arial"/>
                <a:ea typeface="Arial"/>
                <a:cs typeface="Arial"/>
              </a:rPr>
              <a:t>Team 22   UE24CS352A                                     2</a:t>
            </a:r>
          </a:p>
        </p:txBody>
      </p:sp>
      <p:sp>
        <p:nvSpPr>
          <p:cNvPr id="3" name="">
            <a:extLst xmlns:a="http://schemas.openxmlformats.org/drawingml/2006/main">
              <a:ext uri="{FF2B5EF4-FFF2-40B4-BE49-F238E27FC236}">
                <a16:creationId xmlns:a16="http://schemas.microsoft.com/office/drawing/2014/main" id="{FA472B81-6B61-49F0-AC6F-967BCBDB5085}"/>
              </a:ext>
            </a:extLst>
          </p:cNvPr>
          <p:cNvSpPr>
            <a:spLocks xmlns:a="http://schemas.openxmlformats.org/drawingml/2006/main" noGrp="1"/>
          </p:cNvSpPr>
          <p:nvPr/>
        </p:nvSpPr>
        <p:spPr>
          <a:xfrm xmlns:a="http://schemas.openxmlformats.org/drawingml/2006/main">
            <a:off x="723900" y="1457325"/>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73746"/>
                </a:solidFill>
                <a:latin typeface="Arial"/>
                <a:ea typeface="Arial"/>
                <a:cs typeface="Arial"/>
              </a:defRPr>
            </a:defPPr>
          </a:lstStyle>
          <a:p xmlns:a="http://schemas.openxmlformats.org/drawingml/2006/main">
            <a:pPr>
              <a:defRPr sz="2325" b="0">
                <a:solidFill>
                  <a:srgbClr val="173746"/>
                </a:solidFill>
                <a:latin typeface="Arial"/>
                <a:ea typeface="Arial"/>
                <a:cs typeface="Arial"/>
              </a:defRPr>
            </a:pPr>
            <a:r>
              <a:rPr sz="2325" b="0">
                <a:solidFill>
                  <a:srgbClr val="173746"/>
                </a:solidFill>
                <a:latin typeface="Arial"/>
                <a:ea typeface="Arial"/>
                <a:cs typeface="Arial"/>
              </a:rPr>
              <a:t>“The staff were helpful, but the room was dirty.”</a:t>
            </a:r>
          </a:p>
        </p:txBody>
      </p:sp>
      <p:graphicFrame>
        <p:nvGraphicFramePr>
          <p:cNvPr id="4" name="">
            <a:extLst xmlns:a="http://schemas.openxmlformats.org/drawingml/2006/main">
              <a:ext uri="{FF2B5EF4-FFF2-40B4-BE49-F238E27FC236}">
                <a16:creationId xmlns:a16="http://schemas.microsoft.com/office/drawing/2014/main" id="{58883C6A-80FA-40EE-B042-86648F794C96}"/>
              </a:ext>
            </a:extLst>
          </p:cNvPr>
          <p:cNvGraphicFramePr/>
          <p:nvPr/>
        </p:nvGraphicFramePr>
        <p:xfrm>
          <a:off xmlns:a="http://schemas.openxmlformats.org/drawingml/2006/main" x="609600" y="2362200"/>
          <a:ext xmlns:a="http://schemas.openxmlformats.org/drawingml/2006/main" cx="10972800" cy="1714500"/>
        </p:xfrm>
        <a:graphic xmlns:a="http://schemas.openxmlformats.org/drawingml/2006/main">
          <a:graphicData uri="http://schemas.openxmlformats.org/drawingml/2006/table">
            <a:tbl>
              <a:tblPr/>
              <a:tblGrid>
                <a:gridCol w="3333750"/>
                <a:gridCol w="7639050"/>
              </a:tblGrid>
              <a:tr h="571500">
                <a:tc>
                  <a:txBody>
                    <a:bodyPr/>
                    <a:lstStyle/>
                    <a:p>
                      <a:r>
                        <a:rPr sz="2100" b="1">
                          <a:solidFill>
                            <a:srgbClr val="FFFFFF"/>
                          </a:solidFill>
                          <a:latin typeface="Arial"/>
                          <a:ea typeface="Arial"/>
                          <a:cs typeface="Arial"/>
                        </a:rPr>
                        <a:t>Aspect</a:t>
                      </a:r>
                    </a:p>
                  </a:txBody>
                  <a:tcPr marL="91440" marR="91440" marT="45720" marB="45720">
                    <a:solidFill>
                      <a:srgbClr val="173746"/>
                    </a:solidFill>
                  </a:tcPr>
                </a:tc>
                <a:tc>
                  <a:txBody>
                    <a:bodyPr/>
                    <a:lstStyle/>
                    <a:p>
                      <a:r>
                        <a:rPr sz="2100" b="1">
                          <a:solidFill>
                            <a:srgbClr val="FFFFFF"/>
                          </a:solidFill>
                          <a:latin typeface="Arial"/>
                          <a:ea typeface="Arial"/>
                          <a:cs typeface="Arial"/>
                        </a:rPr>
                        <a:t>Relevant clause</a:t>
                      </a:r>
                    </a:p>
                  </a:txBody>
                  <a:tcPr marL="91440" marR="91440" marT="45720" marB="45720">
                    <a:solidFill>
                      <a:srgbClr val="173746"/>
                    </a:solidFill>
                  </a:tcPr>
                </a:tc>
              </a:tr>
              <a:tr h="571500">
                <a:tc>
                  <a:txBody>
                    <a:bodyPr/>
                    <a:lstStyle/>
                    <a:p>
                      <a:r>
                        <a:rPr sz="2100" b="0">
                          <a:solidFill>
                            <a:srgbClr val="173746"/>
                          </a:solidFill>
                          <a:latin typeface="Arial"/>
                          <a:ea typeface="Arial"/>
                          <a:cs typeface="Arial"/>
                        </a:rPr>
                        <a:t>Service</a:t>
                      </a:r>
                    </a:p>
                  </a:txBody>
                  <a:tcPr marL="91440" marR="91440" marT="45720" marB="45720">
                    <a:solidFill>
                      <a:srgbClr val="FFFFFF"/>
                    </a:solidFill>
                  </a:tcPr>
                </a:tc>
                <a:tc>
                  <a:txBody>
                    <a:bodyPr/>
                    <a:lstStyle/>
                    <a:p>
                      <a:r>
                        <a:rPr sz="2100" b="0">
                          <a:solidFill>
                            <a:srgbClr val="173746"/>
                          </a:solidFill>
                          <a:latin typeface="Arial"/>
                          <a:ea typeface="Arial"/>
                          <a:cs typeface="Arial"/>
                        </a:rPr>
                        <a:t>The staff were helpful</a:t>
                      </a:r>
                    </a:p>
                  </a:txBody>
                  <a:tcPr marL="91440" marR="91440" marT="45720" marB="45720">
                    <a:solidFill>
                      <a:srgbClr val="FFFFFF"/>
                    </a:solidFill>
                  </a:tcPr>
                </a:tc>
              </a:tr>
              <a:tr h="571500">
                <a:tc>
                  <a:txBody>
                    <a:bodyPr/>
                    <a:lstStyle/>
                    <a:p>
                      <a:r>
                        <a:rPr sz="2100" b="0">
                          <a:solidFill>
                            <a:srgbClr val="173746"/>
                          </a:solidFill>
                          <a:latin typeface="Arial"/>
                          <a:ea typeface="Arial"/>
                          <a:cs typeface="Arial"/>
                        </a:rPr>
                        <a:t>Rooms / Cleanliness</a:t>
                      </a:r>
                    </a:p>
                  </a:txBody>
                  <a:tcPr marL="91440" marR="91440" marT="45720" marB="45720">
                    <a:solidFill>
                      <a:srgbClr val="F0F5F7"/>
                    </a:solidFill>
                  </a:tcPr>
                </a:tc>
                <a:tc>
                  <a:txBody>
                    <a:bodyPr/>
                    <a:lstStyle/>
                    <a:p>
                      <a:r>
                        <a:rPr sz="2100" b="0">
                          <a:solidFill>
                            <a:srgbClr val="173746"/>
                          </a:solidFill>
                          <a:latin typeface="Arial"/>
                          <a:ea typeface="Arial"/>
                          <a:cs typeface="Arial"/>
                        </a:rPr>
                        <a:t>the room was dirty</a:t>
                      </a:r>
                    </a:p>
                  </a:txBody>
                  <a:tcPr marL="91440" marR="91440" marT="45720" marB="45720">
                    <a:solidFill>
                      <a:srgbClr val="F0F5F7"/>
                    </a:solidFill>
                  </a:tcPr>
                </a:tc>
              </a:tr>
            </a:tbl>
          </a:graphicData>
        </a:graphic>
      </p:graphicFrame>
      <p:sp>
        <p:nvSpPr>
          <p:cNvPr id="5" name="">
            <a:extLst xmlns:a="http://schemas.openxmlformats.org/drawingml/2006/main">
              <a:ext uri="{FF2B5EF4-FFF2-40B4-BE49-F238E27FC236}">
                <a16:creationId xmlns:a16="http://schemas.microsoft.com/office/drawing/2014/main" id="{3E5ACE0A-13FB-477E-95AD-0B0C0959DD08}"/>
              </a:ext>
            </a:extLst>
          </p:cNvPr>
          <p:cNvSpPr>
            <a:spLocks xmlns:a="http://schemas.openxmlformats.org/drawingml/2006/main" noGrp="1"/>
          </p:cNvSpPr>
          <p:nvPr/>
        </p:nvSpPr>
        <p:spPr>
          <a:xfrm xmlns:a="http://schemas.openxmlformats.org/drawingml/2006/main">
            <a:off x="723900" y="4429125"/>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73746"/>
                </a:solidFill>
                <a:latin typeface="Arial"/>
                <a:ea typeface="Arial"/>
                <a:cs typeface="Arial"/>
              </a:defRPr>
            </a:defPPr>
          </a:lstStyle>
          <a:p xmlns:a="http://schemas.openxmlformats.org/drawingml/2006/main">
            <a:pPr>
              <a:defRPr sz="2175" b="0">
                <a:solidFill>
                  <a:srgbClr val="173746"/>
                </a:solidFill>
                <a:latin typeface="Arial"/>
                <a:ea typeface="Arial"/>
                <a:cs typeface="Arial"/>
              </a:defRPr>
            </a:pPr>
            <a:r>
              <a:rPr sz="2175" b="0">
                <a:solidFill>
                  <a:srgbClr val="173746"/>
                </a:solidFill>
                <a:latin typeface="Arial"/>
                <a:ea typeface="Arial"/>
                <a:cs typeface="Arial"/>
              </a:rPr>
              <a:t>Old models saw every word for every aspect.</a:t>
            </a:r>
          </a:p>
        </p:txBody>
      </p:sp>
      <p:sp>
        <p:nvSpPr>
          <p:cNvPr id="6" name="">
            <a:extLst xmlns:a="http://schemas.openxmlformats.org/drawingml/2006/main">
              <a:ext uri="{FF2B5EF4-FFF2-40B4-BE49-F238E27FC236}">
                <a16:creationId xmlns:a16="http://schemas.microsoft.com/office/drawing/2014/main" id="{F7042E7B-A2A8-4858-83E4-D02938C341C2}"/>
              </a:ext>
            </a:extLst>
          </p:cNvPr>
          <p:cNvSpPr>
            <a:spLocks xmlns:a="http://schemas.openxmlformats.org/drawingml/2006/main" noGrp="1"/>
          </p:cNvSpPr>
          <p:nvPr/>
        </p:nvSpPr>
        <p:spPr>
          <a:xfrm xmlns:a="http://schemas.openxmlformats.org/drawingml/2006/main">
            <a:off x="723900" y="5219700"/>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73746"/>
                </a:solidFill>
                <a:latin typeface="Arial"/>
                <a:ea typeface="Arial"/>
                <a:cs typeface="Arial"/>
              </a:defRPr>
            </a:defPPr>
          </a:lstStyle>
          <a:p xmlns:a="http://schemas.openxmlformats.org/drawingml/2006/main">
            <a:pPr>
              <a:defRPr sz="2175" b="0">
                <a:solidFill>
                  <a:srgbClr val="173746"/>
                </a:solidFill>
                <a:latin typeface="Arial"/>
                <a:ea typeface="Arial"/>
                <a:cs typeface="Arial"/>
              </a:defRPr>
            </a:pPr>
            <a:r>
              <a:rPr sz="2175" b="0">
                <a:solidFill>
                  <a:srgbClr val="173746"/>
                </a:solidFill>
                <a:latin typeface="Arial"/>
                <a:ea typeface="Arial"/>
                <a:cs typeface="Arial"/>
              </a:rPr>
              <a:t>New pipelines compare routed clauses with the whole review.</a:t>
            </a:r>
          </a:p>
        </p:txBody>
      </p:sp>
    </p:spTree>
    <p:extLst>
      <p:ext uri="{BB962C8B-B14F-4D97-AF65-F5344CB8AC3E}">
        <p14:creationId xmlns:p14="http://schemas.microsoft.com/office/powerpoint/2010/main" val="79336307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73B6827-BB8B-4C2E-AF14-46535F1D9E96}"/>
              </a:ext>
            </a:extLst>
          </p:cNvPr>
          <p:cNvSpPr>
            <a:spLocks xmlns:a="http://schemas.openxmlformats.org/drawingml/2006/main" noGrp="1"/>
          </p:cNvSpPr>
          <p:nvPr/>
        </p:nvSpPr>
        <p:spPr>
          <a:xfrm xmlns:a="http://schemas.openxmlformats.org/drawingml/2006/main">
            <a:off x="609600" y="40005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225" b="1">
                <a:solidFill>
                  <a:srgbClr val="173746"/>
                </a:solidFill>
                <a:latin typeface="Arial"/>
                <a:ea typeface="Arial"/>
                <a:cs typeface="Arial"/>
              </a:defRPr>
            </a:defPPr>
          </a:lstStyle>
          <a:p xmlns:a="http://schemas.openxmlformats.org/drawingml/2006/main">
            <a:pPr>
              <a:defRPr sz="3225" b="1">
                <a:solidFill>
                  <a:srgbClr val="173746"/>
                </a:solidFill>
                <a:latin typeface="Arial"/>
                <a:ea typeface="Arial"/>
                <a:cs typeface="Arial"/>
              </a:defRPr>
            </a:pPr>
            <a:r>
              <a:rPr sz="3225" b="1">
                <a:solidFill>
                  <a:srgbClr val="173746"/>
                </a:solidFill>
                <a:latin typeface="Arial"/>
                <a:ea typeface="Arial"/>
                <a:cs typeface="Arial"/>
              </a:rPr>
              <a:t>Data and hotel separation</a:t>
            </a:r>
          </a:p>
        </p:txBody>
      </p:sp>
      <p:sp>
        <p:nvSpPr>
          <p:cNvPr id="2" name="">
            <a:extLst xmlns:a="http://schemas.openxmlformats.org/drawingml/2006/main">
              <a:ext uri="{FF2B5EF4-FFF2-40B4-BE49-F238E27FC236}">
                <a16:creationId xmlns:a16="http://schemas.microsoft.com/office/drawing/2014/main" id="{60F3D113-FD56-4BC1-B136-F9917621404D}"/>
              </a:ext>
            </a:extLst>
          </p:cNvPr>
          <p:cNvSpPr>
            <a:spLocks xmlns:a="http://schemas.openxmlformats.org/drawingml/2006/main" noGrp="1"/>
          </p:cNvSpPr>
          <p:nvPr/>
        </p:nvSpPr>
        <p:spPr>
          <a:xfrm xmlns:a="http://schemas.openxmlformats.org/drawingml/2006/main">
            <a:off x="609600" y="641985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53646C"/>
                </a:solidFill>
                <a:latin typeface="Arial"/>
                <a:ea typeface="Arial"/>
                <a:cs typeface="Arial"/>
              </a:defRPr>
            </a:defPPr>
          </a:lstStyle>
          <a:p xmlns:a="http://schemas.openxmlformats.org/drawingml/2006/main">
            <a:pPr>
              <a:defRPr sz="1200" b="0">
                <a:solidFill>
                  <a:srgbClr val="53646C"/>
                </a:solidFill>
                <a:latin typeface="Arial"/>
                <a:ea typeface="Arial"/>
                <a:cs typeface="Arial"/>
              </a:defRPr>
            </a:pPr>
            <a:r>
              <a:rPr sz="1200" b="0">
                <a:solidFill>
                  <a:srgbClr val="53646C"/>
                </a:solidFill>
                <a:latin typeface="Arial"/>
                <a:ea typeface="Arial"/>
                <a:cs typeface="Arial"/>
              </a:rPr>
              <a:t>Team 22   UE24CS352A                                     3</a:t>
            </a:r>
          </a:p>
        </p:txBody>
      </p:sp>
      <p:graphicFrame>
        <p:nvGraphicFramePr>
          <p:cNvPr id="3" name="">
            <a:extLst xmlns:a="http://schemas.openxmlformats.org/drawingml/2006/main">
              <a:ext uri="{FF2B5EF4-FFF2-40B4-BE49-F238E27FC236}">
                <a16:creationId xmlns:a16="http://schemas.microsoft.com/office/drawing/2014/main" id="{3A831D3C-F83A-43AF-92D4-9E54F40EF3AD}"/>
              </a:ext>
            </a:extLst>
          </p:cNvPr>
          <p:cNvGraphicFramePr/>
          <p:nvPr/>
        </p:nvGraphicFramePr>
        <p:xfrm>
          <a:off xmlns:a="http://schemas.openxmlformats.org/drawingml/2006/main" x="609600" y="1524000"/>
          <a:ext xmlns:a="http://schemas.openxmlformats.org/drawingml/2006/main" cx="10972800" cy="2286000"/>
        </p:xfrm>
        <a:graphic xmlns:a="http://schemas.openxmlformats.org/drawingml/2006/main">
          <a:graphicData uri="http://schemas.openxmlformats.org/drawingml/2006/table">
            <a:tbl>
              <a:tblPr/>
              <a:tblGrid>
                <a:gridCol w="2381250"/>
                <a:gridCol w="4295775"/>
                <a:gridCol w="4295775"/>
              </a:tblGrid>
              <a:tr h="457200">
                <a:tc>
                  <a:txBody>
                    <a:bodyPr/>
                    <a:lstStyle/>
                    <a:p>
                      <a:r>
                        <a:rPr sz="1725" b="1">
                          <a:solidFill>
                            <a:srgbClr val="FFFFFF"/>
                          </a:solidFill>
                          <a:latin typeface="Arial"/>
                          <a:ea typeface="Arial"/>
                          <a:cs typeface="Arial"/>
                        </a:rPr>
                        <a:t>Property</a:t>
                      </a:r>
                    </a:p>
                  </a:txBody>
                  <a:tcPr marL="91440" marR="91440" marT="45720" marB="45720">
                    <a:solidFill>
                      <a:srgbClr val="173746"/>
                    </a:solidFill>
                  </a:tcPr>
                </a:tc>
                <a:tc>
                  <a:txBody>
                    <a:bodyPr/>
                    <a:lstStyle/>
                    <a:p>
                      <a:r>
                        <a:rPr sz="1725" b="1">
                          <a:solidFill>
                            <a:srgbClr val="FFFFFF"/>
                          </a:solidFill>
                          <a:latin typeface="Arial"/>
                          <a:ea typeface="Arial"/>
                          <a:cs typeface="Arial"/>
                        </a:rPr>
                        <a:t>Real evaluation</a:t>
                      </a:r>
                    </a:p>
                  </a:txBody>
                  <a:tcPr marL="91440" marR="91440" marT="45720" marB="45720">
                    <a:solidFill>
                      <a:srgbClr val="173746"/>
                    </a:solidFill>
                  </a:tcPr>
                </a:tc>
                <a:tc>
                  <a:txBody>
                    <a:bodyPr/>
                    <a:lstStyle/>
                    <a:p>
                      <a:r>
                        <a:rPr sz="1725" b="1">
                          <a:solidFill>
                            <a:srgbClr val="FFFFFF"/>
                          </a:solidFill>
                          <a:latin typeface="Arial"/>
                          <a:ea typeface="Arial"/>
                          <a:cs typeface="Arial"/>
                        </a:rPr>
                        <a:t>Synthetic demo</a:t>
                      </a:r>
                    </a:p>
                  </a:txBody>
                  <a:tcPr marL="91440" marR="91440" marT="45720" marB="45720">
                    <a:solidFill>
                      <a:srgbClr val="173746"/>
                    </a:solidFill>
                  </a:tcPr>
                </a:tc>
              </a:tr>
              <a:tr h="457200">
                <a:tc>
                  <a:txBody>
                    <a:bodyPr/>
                    <a:lstStyle/>
                    <a:p>
                      <a:r>
                        <a:rPr sz="1725" b="0">
                          <a:solidFill>
                            <a:srgbClr val="173746"/>
                          </a:solidFill>
                          <a:latin typeface="Arial"/>
                          <a:ea typeface="Arial"/>
                          <a:cs typeface="Arial"/>
                        </a:rPr>
                        <a:t>Reviews</a:t>
                      </a:r>
                    </a:p>
                  </a:txBody>
                  <a:tcPr marL="91440" marR="91440" marT="45720" marB="45720">
                    <a:solidFill>
                      <a:srgbClr val="FFFFFF"/>
                    </a:solidFill>
                  </a:tcPr>
                </a:tc>
                <a:tc>
                  <a:txBody>
                    <a:bodyPr/>
                    <a:lstStyle/>
                    <a:p>
                      <a:r>
                        <a:rPr sz="1725" b="0">
                          <a:solidFill>
                            <a:srgbClr val="173746"/>
                          </a:solidFill>
                          <a:latin typeface="Arial"/>
                          <a:ea typeface="Arial"/>
                          <a:cs typeface="Arial"/>
                        </a:rPr>
                        <a:t>2,100 from 122 hotels</a:t>
                      </a:r>
                    </a:p>
                  </a:txBody>
                  <a:tcPr marL="91440" marR="91440" marT="45720" marB="45720">
                    <a:solidFill>
                      <a:srgbClr val="FFFFFF"/>
                    </a:solidFill>
                  </a:tcPr>
                </a:tc>
                <a:tc>
                  <a:txBody>
                    <a:bodyPr/>
                    <a:lstStyle/>
                    <a:p>
                      <a:r>
                        <a:rPr sz="1725" b="0">
                          <a:solidFill>
                            <a:srgbClr val="173746"/>
                          </a:solidFill>
                          <a:latin typeface="Arial"/>
                          <a:ea typeface="Arial"/>
                          <a:cs typeface="Arial"/>
                        </a:rPr>
                        <a:t>320 template reviews</a:t>
                      </a:r>
                    </a:p>
                  </a:txBody>
                  <a:tcPr marL="91440" marR="91440" marT="45720" marB="45720">
                    <a:solidFill>
                      <a:srgbClr val="FFFFFF"/>
                    </a:solidFill>
                  </a:tcPr>
                </a:tc>
              </a:tr>
              <a:tr h="457200">
                <a:tc>
                  <a:txBody>
                    <a:bodyPr/>
                    <a:lstStyle/>
                    <a:p>
                      <a:r>
                        <a:rPr sz="1725" b="0">
                          <a:solidFill>
                            <a:srgbClr val="173746"/>
                          </a:solidFill>
                          <a:latin typeface="Arial"/>
                          <a:ea typeface="Arial"/>
                          <a:cs typeface="Arial"/>
                        </a:rPr>
                        <a:t>Split</a:t>
                      </a:r>
                    </a:p>
                  </a:txBody>
                  <a:tcPr marL="91440" marR="91440" marT="45720" marB="45720">
                    <a:solidFill>
                      <a:srgbClr val="F0F5F7"/>
                    </a:solidFill>
                  </a:tcPr>
                </a:tc>
                <a:tc>
                  <a:txBody>
                    <a:bodyPr/>
                    <a:lstStyle/>
                    <a:p>
                      <a:r>
                        <a:rPr sz="1725" b="0">
                          <a:solidFill>
                            <a:srgbClr val="173746"/>
                          </a:solidFill>
                          <a:latin typeface="Arial"/>
                          <a:ea typeface="Arial"/>
                          <a:cs typeface="Arial"/>
                        </a:rPr>
                        <a:t>1,342 / 388 / 370</a:t>
                      </a:r>
                    </a:p>
                  </a:txBody>
                  <a:tcPr marL="91440" marR="91440" marT="45720" marB="45720">
                    <a:solidFill>
                      <a:srgbClr val="F0F5F7"/>
                    </a:solidFill>
                  </a:tcPr>
                </a:tc>
                <a:tc>
                  <a:txBody>
                    <a:bodyPr/>
                    <a:lstStyle/>
                    <a:p>
                      <a:r>
                        <a:rPr sz="1725" b="0">
                          <a:solidFill>
                            <a:srgbClr val="173746"/>
                          </a:solidFill>
                          <a:latin typeface="Arial"/>
                          <a:ea typeface="Arial"/>
                          <a:cs typeface="Arial"/>
                        </a:rPr>
                        <a:t>192 / 64 / 64</a:t>
                      </a:r>
                    </a:p>
                  </a:txBody>
                  <a:tcPr marL="91440" marR="91440" marT="45720" marB="45720">
                    <a:solidFill>
                      <a:srgbClr val="F0F5F7"/>
                    </a:solidFill>
                  </a:tcPr>
                </a:tc>
              </a:tr>
              <a:tr h="457200">
                <a:tc>
                  <a:txBody>
                    <a:bodyPr/>
                    <a:lstStyle/>
                    <a:p>
                      <a:r>
                        <a:rPr sz="1725" b="0">
                          <a:solidFill>
                            <a:srgbClr val="173746"/>
                          </a:solidFill>
                          <a:latin typeface="Arial"/>
                          <a:ea typeface="Arial"/>
                          <a:cs typeface="Arial"/>
                        </a:rPr>
                        <a:t>Targets</a:t>
                      </a:r>
                    </a:p>
                  </a:txBody>
                  <a:tcPr marL="91440" marR="91440" marT="45720" marB="45720">
                    <a:solidFill>
                      <a:srgbClr val="FFFFFF"/>
                    </a:solidFill>
                  </a:tcPr>
                </a:tc>
                <a:tc>
                  <a:txBody>
                    <a:bodyPr/>
                    <a:lstStyle/>
                    <a:p>
                      <a:r>
                        <a:rPr sz="1725" b="0">
                          <a:solidFill>
                            <a:srgbClr val="173746"/>
                          </a:solidFill>
                          <a:latin typeface="Arial"/>
                          <a:ea typeface="Arial"/>
                          <a:cs typeface="Arial"/>
                        </a:rPr>
                        <a:t>Overall + six aspects</a:t>
                      </a:r>
                    </a:p>
                  </a:txBody>
                  <a:tcPr marL="91440" marR="91440" marT="45720" marB="45720">
                    <a:solidFill>
                      <a:srgbClr val="FFFFFF"/>
                    </a:solidFill>
                  </a:tcPr>
                </a:tc>
                <a:tc>
                  <a:txBody>
                    <a:bodyPr/>
                    <a:lstStyle/>
                    <a:p>
                      <a:r>
                        <a:rPr sz="1725" b="0">
                          <a:solidFill>
                            <a:srgbClr val="173746"/>
                          </a:solidFill>
                          <a:latin typeface="Arial"/>
                          <a:ea typeface="Arial"/>
                          <a:cs typeface="Arial"/>
                        </a:rPr>
                        <a:t>Overall + seven aspects</a:t>
                      </a:r>
                    </a:p>
                  </a:txBody>
                  <a:tcPr marL="91440" marR="91440" marT="45720" marB="45720">
                    <a:solidFill>
                      <a:srgbClr val="FFFFFF"/>
                    </a:solidFill>
                  </a:tcPr>
                </a:tc>
              </a:tr>
              <a:tr h="457200">
                <a:tc>
                  <a:txBody>
                    <a:bodyPr/>
                    <a:lstStyle/>
                    <a:p>
                      <a:r>
                        <a:rPr sz="1725" b="0">
                          <a:solidFill>
                            <a:srgbClr val="173746"/>
                          </a:solidFill>
                          <a:latin typeface="Arial"/>
                          <a:ea typeface="Arial"/>
                          <a:cs typeface="Arial"/>
                        </a:rPr>
                        <a:t>Sleep Quality</a:t>
                      </a:r>
                    </a:p>
                  </a:txBody>
                  <a:tcPr marL="91440" marR="91440" marT="45720" marB="45720">
                    <a:solidFill>
                      <a:srgbClr val="F0F5F7"/>
                    </a:solidFill>
                  </a:tcPr>
                </a:tc>
                <a:tc>
                  <a:txBody>
                    <a:bodyPr/>
                    <a:lstStyle/>
                    <a:p>
                      <a:r>
                        <a:rPr sz="1725" b="0">
                          <a:solidFill>
                            <a:srgbClr val="173746"/>
                          </a:solidFill>
                          <a:latin typeface="Arial"/>
                          <a:ea typeface="Arial"/>
                          <a:cs typeface="Arial"/>
                        </a:rPr>
                        <a:t>Unavailable</a:t>
                      </a:r>
                    </a:p>
                  </a:txBody>
                  <a:tcPr marL="91440" marR="91440" marT="45720" marB="45720">
                    <a:solidFill>
                      <a:srgbClr val="F0F5F7"/>
                    </a:solidFill>
                  </a:tcPr>
                </a:tc>
                <a:tc>
                  <a:txBody>
                    <a:bodyPr/>
                    <a:lstStyle/>
                    <a:p>
                      <a:r>
                        <a:rPr sz="1725" b="0">
                          <a:solidFill>
                            <a:srgbClr val="173746"/>
                          </a:solidFill>
                          <a:latin typeface="Arial"/>
                          <a:ea typeface="Arial"/>
                          <a:cs typeface="Arial"/>
                        </a:rPr>
                        <a:t>DEMONSTRATION ONLY</a:t>
                      </a:r>
                    </a:p>
                  </a:txBody>
                  <a:tcPr marL="91440" marR="91440" marT="45720" marB="45720">
                    <a:solidFill>
                      <a:srgbClr val="F0F5F7"/>
                    </a:solidFill>
                  </a:tcPr>
                </a:tc>
              </a:tr>
            </a:tbl>
          </a:graphicData>
        </a:graphic>
      </p:graphicFrame>
      <p:sp>
        <p:nvSpPr>
          <p:cNvPr id="4" name="">
            <a:extLst xmlns:a="http://schemas.openxmlformats.org/drawingml/2006/main">
              <a:ext uri="{FF2B5EF4-FFF2-40B4-BE49-F238E27FC236}">
                <a16:creationId xmlns:a16="http://schemas.microsoft.com/office/drawing/2014/main" id="{BAC13575-F215-4AE7-96E0-56A2FAEF6FAD}"/>
              </a:ext>
            </a:extLst>
          </p:cNvPr>
          <p:cNvSpPr>
            <a:spLocks xmlns:a="http://schemas.openxmlformats.org/drawingml/2006/main" noGrp="1"/>
          </p:cNvSpPr>
          <p:nvPr/>
        </p:nvSpPr>
        <p:spPr>
          <a:xfrm xmlns:a="http://schemas.openxmlformats.org/drawingml/2006/main">
            <a:off x="723900" y="430530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1">
                <a:solidFill>
                  <a:srgbClr val="176B87"/>
                </a:solidFill>
                <a:latin typeface="Arial"/>
                <a:ea typeface="Arial"/>
                <a:cs typeface="Arial"/>
              </a:defRPr>
            </a:defPPr>
          </a:lstStyle>
          <a:p xmlns:a="http://schemas.openxmlformats.org/drawingml/2006/main">
            <a:pPr>
              <a:defRPr sz="2175" b="1">
                <a:solidFill>
                  <a:srgbClr val="176B87"/>
                </a:solidFill>
                <a:latin typeface="Arial"/>
                <a:ea typeface="Arial"/>
                <a:cs typeface="Arial"/>
              </a:defRPr>
            </a:pPr>
            <a:r>
              <a:rPr sz="2175" b="1">
                <a:solidFill>
                  <a:srgbClr val="176B87"/>
                </a:solidFill>
                <a:latin typeface="Arial"/>
                <a:ea typeface="Arial"/>
                <a:cs typeface="Arial"/>
              </a:rPr>
              <a:t>Seed 42 preserves disjoint hotels across real partitions.</a:t>
            </a:r>
          </a:p>
        </p:txBody>
      </p:sp>
      <p:sp>
        <p:nvSpPr>
          <p:cNvPr id="5" name="">
            <a:extLst xmlns:a="http://schemas.openxmlformats.org/drawingml/2006/main">
              <a:ext uri="{FF2B5EF4-FFF2-40B4-BE49-F238E27FC236}">
                <a16:creationId xmlns:a16="http://schemas.microsoft.com/office/drawing/2014/main" id="{7ECF36D2-55CE-4125-BD01-88EEC67038D9}"/>
              </a:ext>
            </a:extLst>
          </p:cNvPr>
          <p:cNvSpPr>
            <a:spLocks xmlns:a="http://schemas.openxmlformats.org/drawingml/2006/main" noGrp="1"/>
          </p:cNvSpPr>
          <p:nvPr/>
        </p:nvSpPr>
        <p:spPr>
          <a:xfrm xmlns:a="http://schemas.openxmlformats.org/drawingml/2006/main">
            <a:off x="723900" y="514350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73746"/>
                </a:solidFill>
                <a:latin typeface="Arial"/>
                <a:ea typeface="Arial"/>
                <a:cs typeface="Arial"/>
              </a:defRPr>
            </a:defPPr>
          </a:lstStyle>
          <a:p xmlns:a="http://schemas.openxmlformats.org/drawingml/2006/main">
            <a:pPr>
              <a:defRPr sz="2100" b="0">
                <a:solidFill>
                  <a:srgbClr val="173746"/>
                </a:solidFill>
                <a:latin typeface="Arial"/>
                <a:ea typeface="Arial"/>
                <a:cs typeface="Arial"/>
              </a:defRPr>
            </a:pPr>
            <a:r>
              <a:rPr sz="2100" b="0">
                <a:solidFill>
                  <a:srgbClr val="173746"/>
                </a:solidFill>
                <a:latin typeface="Arial"/>
                <a:ea typeface="Arial"/>
                <a:cs typeface="Arial"/>
              </a:rPr>
              <a:t>Missing ratings stay missing. Synthetic labels never enter real evaluation.</a:t>
            </a:r>
          </a:p>
        </p:txBody>
      </p:sp>
    </p:spTree>
    <p:extLst>
      <p:ext uri="{BB962C8B-B14F-4D97-AF65-F5344CB8AC3E}">
        <p14:creationId xmlns:p14="http://schemas.microsoft.com/office/powerpoint/2010/main" val="184471459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B44A529-5C53-455F-B6CF-4E7D8843C7F5}"/>
              </a:ext>
            </a:extLst>
          </p:cNvPr>
          <p:cNvSpPr>
            <a:spLocks xmlns:a="http://schemas.openxmlformats.org/drawingml/2006/main" noGrp="1"/>
          </p:cNvSpPr>
          <p:nvPr/>
        </p:nvSpPr>
        <p:spPr>
          <a:xfrm xmlns:a="http://schemas.openxmlformats.org/drawingml/2006/main">
            <a:off x="609600" y="40005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225" b="1">
                <a:solidFill>
                  <a:srgbClr val="173746"/>
                </a:solidFill>
                <a:latin typeface="Arial"/>
                <a:ea typeface="Arial"/>
                <a:cs typeface="Arial"/>
              </a:defRPr>
            </a:defPPr>
          </a:lstStyle>
          <a:p xmlns:a="http://schemas.openxmlformats.org/drawingml/2006/main">
            <a:pPr>
              <a:defRPr sz="3225" b="1">
                <a:solidFill>
                  <a:srgbClr val="173746"/>
                </a:solidFill>
                <a:latin typeface="Arial"/>
                <a:ea typeface="Arial"/>
                <a:cs typeface="Arial"/>
              </a:defRPr>
            </a:pPr>
            <a:r>
              <a:rPr sz="3225" b="1">
                <a:solidFill>
                  <a:srgbClr val="173746"/>
                </a:solidFill>
                <a:latin typeface="Arial"/>
                <a:ea typeface="Arial"/>
                <a:cs typeface="Arial"/>
              </a:rPr>
              <a:t>Candidate pipelines and confidence</a:t>
            </a:r>
          </a:p>
        </p:txBody>
      </p:sp>
      <p:sp>
        <p:nvSpPr>
          <p:cNvPr id="2" name="">
            <a:extLst xmlns:a="http://schemas.openxmlformats.org/drawingml/2006/main">
              <a:ext uri="{FF2B5EF4-FFF2-40B4-BE49-F238E27FC236}">
                <a16:creationId xmlns:a16="http://schemas.microsoft.com/office/drawing/2014/main" id="{208FF55E-F149-4594-A654-E5292A623837}"/>
              </a:ext>
            </a:extLst>
          </p:cNvPr>
          <p:cNvSpPr>
            <a:spLocks xmlns:a="http://schemas.openxmlformats.org/drawingml/2006/main" noGrp="1"/>
          </p:cNvSpPr>
          <p:nvPr/>
        </p:nvSpPr>
        <p:spPr>
          <a:xfrm xmlns:a="http://schemas.openxmlformats.org/drawingml/2006/main">
            <a:off x="609600" y="641985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53646C"/>
                </a:solidFill>
                <a:latin typeface="Arial"/>
                <a:ea typeface="Arial"/>
                <a:cs typeface="Arial"/>
              </a:defRPr>
            </a:defPPr>
          </a:lstStyle>
          <a:p xmlns:a="http://schemas.openxmlformats.org/drawingml/2006/main">
            <a:pPr>
              <a:defRPr sz="1200" b="0">
                <a:solidFill>
                  <a:srgbClr val="53646C"/>
                </a:solidFill>
                <a:latin typeface="Arial"/>
                <a:ea typeface="Arial"/>
                <a:cs typeface="Arial"/>
              </a:defRPr>
            </a:pPr>
            <a:r>
              <a:rPr sz="1200" b="0">
                <a:solidFill>
                  <a:srgbClr val="53646C"/>
                </a:solidFill>
                <a:latin typeface="Arial"/>
                <a:ea typeface="Arial"/>
                <a:cs typeface="Arial"/>
              </a:rPr>
              <a:t>Team 22   UE24CS352A                                     4</a:t>
            </a:r>
          </a:p>
        </p:txBody>
      </p:sp>
      <p:graphicFrame>
        <p:nvGraphicFramePr>
          <p:cNvPr id="3" name="">
            <a:extLst xmlns:a="http://schemas.openxmlformats.org/drawingml/2006/main">
              <a:ext uri="{FF2B5EF4-FFF2-40B4-BE49-F238E27FC236}">
                <a16:creationId xmlns:a16="http://schemas.microsoft.com/office/drawing/2014/main" id="{0EB0F839-5B7A-40E9-A8CA-95378887E467}"/>
              </a:ext>
            </a:extLst>
          </p:cNvPr>
          <p:cNvGraphicFramePr/>
          <p:nvPr/>
        </p:nvGraphicFramePr>
        <p:xfrm>
          <a:off xmlns:a="http://schemas.openxmlformats.org/drawingml/2006/main" x="609600" y="1504950"/>
          <a:ext xmlns:a="http://schemas.openxmlformats.org/drawingml/2006/main" cx="10972800" cy="2095500"/>
        </p:xfrm>
        <a:graphic xmlns:a="http://schemas.openxmlformats.org/drawingml/2006/main">
          <a:graphicData uri="http://schemas.openxmlformats.org/drawingml/2006/table">
            <a:tbl>
              <a:tblPr/>
              <a:tblGrid>
                <a:gridCol w="2667000"/>
                <a:gridCol w="4286250"/>
                <a:gridCol w="4019550"/>
              </a:tblGrid>
              <a:tr h="523875">
                <a:tc>
                  <a:txBody>
                    <a:bodyPr/>
                    <a:lstStyle/>
                    <a:p>
                      <a:r>
                        <a:rPr sz="1800" b="1">
                          <a:solidFill>
                            <a:srgbClr val="FFFFFF"/>
                          </a:solidFill>
                          <a:latin typeface="Arial"/>
                          <a:ea typeface="Arial"/>
                          <a:cs typeface="Arial"/>
                        </a:rPr>
                        <a:t>Family</a:t>
                      </a:r>
                    </a:p>
                  </a:txBody>
                  <a:tcPr marL="91440" marR="91440" marT="45720" marB="45720">
                    <a:solidFill>
                      <a:srgbClr val="173746"/>
                    </a:solidFill>
                  </a:tcPr>
                </a:tc>
                <a:tc>
                  <a:txBody>
                    <a:bodyPr/>
                    <a:lstStyle/>
                    <a:p>
                      <a:r>
                        <a:rPr sz="1800" b="1">
                          <a:solidFill>
                            <a:srgbClr val="FFFFFF"/>
                          </a:solidFill>
                          <a:latin typeface="Arial"/>
                          <a:ea typeface="Arial"/>
                          <a:cs typeface="Arial"/>
                        </a:rPr>
                        <a:t>Features</a:t>
                      </a:r>
                    </a:p>
                  </a:txBody>
                  <a:tcPr marL="91440" marR="91440" marT="45720" marB="45720">
                    <a:solidFill>
                      <a:srgbClr val="173746"/>
                    </a:solidFill>
                  </a:tcPr>
                </a:tc>
                <a:tc>
                  <a:txBody>
                    <a:bodyPr/>
                    <a:lstStyle/>
                    <a:p>
                      <a:r>
                        <a:rPr sz="1800" b="1">
                          <a:solidFill>
                            <a:srgbClr val="FFFFFF"/>
                          </a:solidFill>
                          <a:latin typeface="Arial"/>
                          <a:ea typeface="Arial"/>
                          <a:cs typeface="Arial"/>
                        </a:rPr>
                        <a:t>Probability method</a:t>
                      </a:r>
                    </a:p>
                  </a:txBody>
                  <a:tcPr marL="91440" marR="91440" marT="45720" marB="45720">
                    <a:solidFill>
                      <a:srgbClr val="173746"/>
                    </a:solidFill>
                  </a:tcPr>
                </a:tc>
              </a:tr>
              <a:tr h="523875">
                <a:tc>
                  <a:txBody>
                    <a:bodyPr/>
                    <a:lstStyle/>
                    <a:p>
                      <a:r>
                        <a:rPr sz="1800" b="0">
                          <a:solidFill>
                            <a:srgbClr val="173746"/>
                          </a:solidFill>
                          <a:latin typeface="Arial"/>
                          <a:ea typeface="Arial"/>
                          <a:cs typeface="Arial"/>
                        </a:rPr>
                        <a:t>Naive Bayes</a:t>
                      </a:r>
                    </a:p>
                  </a:txBody>
                  <a:tcPr marL="91440" marR="91440" marT="45720" marB="45720">
                    <a:solidFill>
                      <a:srgbClr val="FFFFFF"/>
                    </a:solidFill>
                  </a:tcPr>
                </a:tc>
                <a:tc>
                  <a:txBody>
                    <a:bodyPr/>
                    <a:lstStyle/>
                    <a:p>
                      <a:r>
                        <a:rPr sz="1800" b="0">
                          <a:solidFill>
                            <a:srgbClr val="173746"/>
                          </a:solidFill>
                          <a:latin typeface="Arial"/>
                          <a:ea typeface="Arial"/>
                          <a:cs typeface="Arial"/>
                        </a:rPr>
                        <a:t>TF-IDF unigrams/bigrams</a:t>
                      </a:r>
                    </a:p>
                  </a:txBody>
                  <a:tcPr marL="91440" marR="91440" marT="45720" marB="45720">
                    <a:solidFill>
                      <a:srgbClr val="FFFFFF"/>
                    </a:solidFill>
                  </a:tcPr>
                </a:tc>
                <a:tc>
                  <a:txBody>
                    <a:bodyPr/>
                    <a:lstStyle/>
                    <a:p>
                      <a:r>
                        <a:rPr sz="1800" b="0">
                          <a:solidFill>
                            <a:srgbClr val="173746"/>
                          </a:solidFill>
                          <a:latin typeface="Arial"/>
                          <a:ea typeface="Arial"/>
                          <a:cs typeface="Arial"/>
                        </a:rPr>
                        <a:t>Native, uncalibrated</a:t>
                      </a:r>
                    </a:p>
                  </a:txBody>
                  <a:tcPr marL="91440" marR="91440" marT="45720" marB="45720">
                    <a:solidFill>
                      <a:srgbClr val="FFFFFF"/>
                    </a:solidFill>
                  </a:tcPr>
                </a:tc>
              </a:tr>
              <a:tr h="523875">
                <a:tc>
                  <a:txBody>
                    <a:bodyPr/>
                    <a:lstStyle/>
                    <a:p>
                      <a:r>
                        <a:rPr sz="1800" b="0">
                          <a:solidFill>
                            <a:srgbClr val="173746"/>
                          </a:solidFill>
                          <a:latin typeface="Arial"/>
                          <a:ea typeface="Arial"/>
                          <a:cs typeface="Arial"/>
                        </a:rPr>
                        <a:t>Linear SVM</a:t>
                      </a:r>
                    </a:p>
                  </a:txBody>
                  <a:tcPr marL="91440" marR="91440" marT="45720" marB="45720">
                    <a:solidFill>
                      <a:srgbClr val="F0F5F7"/>
                    </a:solidFill>
                  </a:tcPr>
                </a:tc>
                <a:tc>
                  <a:txBody>
                    <a:bodyPr/>
                    <a:lstStyle/>
                    <a:p>
                      <a:r>
                        <a:rPr sz="1800" b="0">
                          <a:solidFill>
                            <a:srgbClr val="173746"/>
                          </a:solidFill>
                          <a:latin typeface="Arial"/>
                          <a:ea typeface="Arial"/>
                          <a:cs typeface="Arial"/>
                        </a:rPr>
                        <a:t>Count unigrams/bigrams</a:t>
                      </a:r>
                    </a:p>
                  </a:txBody>
                  <a:tcPr marL="91440" marR="91440" marT="45720" marB="45720">
                    <a:solidFill>
                      <a:srgbClr val="F0F5F7"/>
                    </a:solidFill>
                  </a:tcPr>
                </a:tc>
                <a:tc>
                  <a:txBody>
                    <a:bodyPr/>
                    <a:lstStyle/>
                    <a:p>
                      <a:r>
                        <a:rPr sz="1800" b="0">
                          <a:solidFill>
                            <a:srgbClr val="173746"/>
                          </a:solidFill>
                          <a:latin typeface="Arial"/>
                          <a:ea typeface="Arial"/>
                          <a:cs typeface="Arial"/>
                        </a:rPr>
                        <a:t>Out-of-fold sigmoid</a:t>
                      </a:r>
                    </a:p>
                  </a:txBody>
                  <a:tcPr marL="91440" marR="91440" marT="45720" marB="45720">
                    <a:solidFill>
                      <a:srgbClr val="F0F5F7"/>
                    </a:solidFill>
                  </a:tcPr>
                </a:tc>
              </a:tr>
              <a:tr h="523875">
                <a:tc>
                  <a:txBody>
                    <a:bodyPr/>
                    <a:lstStyle/>
                    <a:p>
                      <a:r>
                        <a:rPr sz="1800" b="0">
                          <a:solidFill>
                            <a:srgbClr val="173746"/>
                          </a:solidFill>
                          <a:latin typeface="Arial"/>
                          <a:ea typeface="Arial"/>
                          <a:cs typeface="Arial"/>
                        </a:rPr>
                        <a:t>Logistic Regression</a:t>
                      </a:r>
                    </a:p>
                  </a:txBody>
                  <a:tcPr marL="91440" marR="91440" marT="45720" marB="45720">
                    <a:solidFill>
                      <a:srgbClr val="FFFFFF"/>
                    </a:solidFill>
                  </a:tcPr>
                </a:tc>
                <a:tc>
                  <a:txBody>
                    <a:bodyPr/>
                    <a:lstStyle/>
                    <a:p>
                      <a:r>
                        <a:rPr sz="1800" b="0">
                          <a:solidFill>
                            <a:srgbClr val="173746"/>
                          </a:solidFill>
                          <a:latin typeface="Arial"/>
                          <a:ea typeface="Arial"/>
                          <a:cs typeface="Arial"/>
                        </a:rPr>
                        <a:t>TF-IDF unigrams/bigrams</a:t>
                      </a:r>
                    </a:p>
                  </a:txBody>
                  <a:tcPr marL="91440" marR="91440" marT="45720" marB="45720">
                    <a:solidFill>
                      <a:srgbClr val="FFFFFF"/>
                    </a:solidFill>
                  </a:tcPr>
                </a:tc>
                <a:tc>
                  <a:txBody>
                    <a:bodyPr/>
                    <a:lstStyle/>
                    <a:p>
                      <a:r>
                        <a:rPr sz="1800" b="0">
                          <a:solidFill>
                            <a:srgbClr val="173746"/>
                          </a:solidFill>
                          <a:latin typeface="Arial"/>
                          <a:ea typeface="Arial"/>
                          <a:cs typeface="Arial"/>
                        </a:rPr>
                        <a:t>Native, uncalibrated</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BAE1F597-7B62-4E00-8831-B3BE276A4B2C}"/>
              </a:ext>
            </a:extLst>
          </p:cNvPr>
          <p:cNvSpPr>
            <a:spLocks xmlns:a="http://schemas.openxmlformats.org/drawingml/2006/main" noGrp="1"/>
          </p:cNvSpPr>
          <p:nvPr/>
        </p:nvSpPr>
        <p:spPr>
          <a:xfrm xmlns:a="http://schemas.openxmlformats.org/drawingml/2006/main">
            <a:off x="723900" y="3924300"/>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73746"/>
                </a:solidFill>
                <a:latin typeface="Arial"/>
                <a:ea typeface="Arial"/>
                <a:cs typeface="Arial"/>
              </a:defRPr>
            </a:defPPr>
          </a:lstStyle>
          <a:p xmlns:a="http://schemas.openxmlformats.org/drawingml/2006/main">
            <a:pPr>
              <a:defRPr sz="2100" b="0">
                <a:solidFill>
                  <a:srgbClr val="173746"/>
                </a:solidFill>
                <a:latin typeface="Arial"/>
                <a:ea typeface="Arial"/>
                <a:cs typeface="Arial"/>
              </a:defRPr>
            </a:pPr>
            <a:r>
              <a:rPr sz="2100" b="0">
                <a:solidFill>
                  <a:srgbClr val="173746"/>
                </a:solidFill>
                <a:latin typeface="Arial"/>
                <a:ea typeface="Arial"/>
                <a:cs typeface="Arial"/>
              </a:rPr>
              <a:t>Two text strategies per family give six candidates per target.</a:t>
            </a:r>
          </a:p>
        </p:txBody>
      </p:sp>
      <p:sp>
        <p:nvSpPr>
          <p:cNvPr id="5" name="">
            <a:extLst xmlns:a="http://schemas.openxmlformats.org/drawingml/2006/main">
              <a:ext uri="{FF2B5EF4-FFF2-40B4-BE49-F238E27FC236}">
                <a16:creationId xmlns:a16="http://schemas.microsoft.com/office/drawing/2014/main" id="{E04D9659-87CE-4975-BCAF-DFB70AB679DB}"/>
              </a:ext>
            </a:extLst>
          </p:cNvPr>
          <p:cNvSpPr>
            <a:spLocks xmlns:a="http://schemas.openxmlformats.org/drawingml/2006/main" noGrp="1"/>
          </p:cNvSpPr>
          <p:nvPr/>
        </p:nvSpPr>
        <p:spPr>
          <a:xfrm xmlns:a="http://schemas.openxmlformats.org/drawingml/2006/main">
            <a:off x="723900" y="4648200"/>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73746"/>
                </a:solidFill>
                <a:latin typeface="Arial"/>
                <a:ea typeface="Arial"/>
                <a:cs typeface="Arial"/>
              </a:defRPr>
            </a:defPPr>
          </a:lstStyle>
          <a:p xmlns:a="http://schemas.openxmlformats.org/drawingml/2006/main">
            <a:pPr>
              <a:defRPr sz="2100" b="0">
                <a:solidFill>
                  <a:srgbClr val="173746"/>
                </a:solidFill>
                <a:latin typeface="Arial"/>
                <a:ea typeface="Arial"/>
                <a:cs typeface="Arial"/>
              </a:defRPr>
            </a:pPr>
            <a:r>
              <a:rPr sz="2100" b="0">
                <a:solidFill>
                  <a:srgbClr val="173746"/>
                </a:solidFill>
                <a:latin typeface="Arial"/>
                <a:ea typeface="Arial"/>
                <a:cs typeface="Arial"/>
              </a:rPr>
              <a:t>Training fits features. Validation selects the model and threshold.</a:t>
            </a:r>
          </a:p>
        </p:txBody>
      </p:sp>
      <p:sp>
        <p:nvSpPr>
          <p:cNvPr id="6" name="">
            <a:extLst xmlns:a="http://schemas.openxmlformats.org/drawingml/2006/main">
              <a:ext uri="{FF2B5EF4-FFF2-40B4-BE49-F238E27FC236}">
                <a16:creationId xmlns:a16="http://schemas.microsoft.com/office/drawing/2014/main" id="{C3219564-0231-4695-AD8D-A3C68AC99D29}"/>
              </a:ext>
            </a:extLst>
          </p:cNvPr>
          <p:cNvSpPr>
            <a:spLocks xmlns:a="http://schemas.openxmlformats.org/drawingml/2006/main" noGrp="1"/>
          </p:cNvSpPr>
          <p:nvPr/>
        </p:nvSpPr>
        <p:spPr>
          <a:xfrm xmlns:a="http://schemas.openxmlformats.org/drawingml/2006/main">
            <a:off x="723900" y="5372100"/>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73746"/>
                </a:solidFill>
                <a:latin typeface="Arial"/>
                <a:ea typeface="Arial"/>
                <a:cs typeface="Arial"/>
              </a:defRPr>
            </a:defPPr>
          </a:lstStyle>
          <a:p xmlns:a="http://schemas.openxmlformats.org/drawingml/2006/main">
            <a:pPr>
              <a:defRPr sz="2100" b="0">
                <a:solidFill>
                  <a:srgbClr val="173746"/>
                </a:solidFill>
                <a:latin typeface="Arial"/>
                <a:ea typeface="Arial"/>
                <a:cs typeface="Arial"/>
              </a:defRPr>
            </a:pPr>
            <a:r>
              <a:rPr sz="2100" b="0">
                <a:solidFill>
                  <a:srgbClr val="173746"/>
                </a:solidFill>
                <a:latin typeface="Arial"/>
                <a:ea typeface="Arial"/>
                <a:cs typeface="Arial"/>
              </a:rPr>
              <a:t>Final refit uses train + validation. Test rows remain excluded.</a:t>
            </a:r>
          </a:p>
        </p:txBody>
      </p:sp>
    </p:spTree>
    <p:extLst>
      <p:ext uri="{BB962C8B-B14F-4D97-AF65-F5344CB8AC3E}">
        <p14:creationId xmlns:p14="http://schemas.microsoft.com/office/powerpoint/2010/main" val="24739522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DF7387A-B0C3-45DD-88DB-93B3914FF9FA}"/>
              </a:ext>
            </a:extLst>
          </p:cNvPr>
          <p:cNvSpPr>
            <a:spLocks xmlns:a="http://schemas.openxmlformats.org/drawingml/2006/main" noGrp="1"/>
          </p:cNvSpPr>
          <p:nvPr/>
        </p:nvSpPr>
        <p:spPr>
          <a:xfrm xmlns:a="http://schemas.openxmlformats.org/drawingml/2006/main">
            <a:off x="609600" y="40005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225" b="1">
                <a:solidFill>
                  <a:srgbClr val="173746"/>
                </a:solidFill>
                <a:latin typeface="Arial"/>
                <a:ea typeface="Arial"/>
                <a:cs typeface="Arial"/>
              </a:defRPr>
            </a:defPPr>
          </a:lstStyle>
          <a:p xmlns:a="http://schemas.openxmlformats.org/drawingml/2006/main">
            <a:pPr>
              <a:defRPr sz="3225" b="1">
                <a:solidFill>
                  <a:srgbClr val="173746"/>
                </a:solidFill>
                <a:latin typeface="Arial"/>
                <a:ea typeface="Arial"/>
                <a:cs typeface="Arial"/>
              </a:defRPr>
            </a:pPr>
            <a:r>
              <a:rPr sz="3225" b="1">
                <a:solidFill>
                  <a:srgbClr val="173746"/>
                </a:solidFill>
                <a:latin typeface="Arial"/>
                <a:ea typeface="Arial"/>
                <a:cs typeface="Arial"/>
              </a:rPr>
              <a:t>Validation selects each text strategy</a:t>
            </a:r>
          </a:p>
        </p:txBody>
      </p:sp>
      <p:sp>
        <p:nvSpPr>
          <p:cNvPr id="2" name="">
            <a:extLst xmlns:a="http://schemas.openxmlformats.org/drawingml/2006/main">
              <a:ext uri="{FF2B5EF4-FFF2-40B4-BE49-F238E27FC236}">
                <a16:creationId xmlns:a16="http://schemas.microsoft.com/office/drawing/2014/main" id="{5D617890-6B85-411B-ABF6-657B08BE1A4B}"/>
              </a:ext>
            </a:extLst>
          </p:cNvPr>
          <p:cNvSpPr>
            <a:spLocks xmlns:a="http://schemas.openxmlformats.org/drawingml/2006/main" noGrp="1"/>
          </p:cNvSpPr>
          <p:nvPr/>
        </p:nvSpPr>
        <p:spPr>
          <a:xfrm xmlns:a="http://schemas.openxmlformats.org/drawingml/2006/main">
            <a:off x="609600" y="641985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53646C"/>
                </a:solidFill>
                <a:latin typeface="Arial"/>
                <a:ea typeface="Arial"/>
                <a:cs typeface="Arial"/>
              </a:defRPr>
            </a:defPPr>
          </a:lstStyle>
          <a:p xmlns:a="http://schemas.openxmlformats.org/drawingml/2006/main">
            <a:pPr>
              <a:defRPr sz="1200" b="0">
                <a:solidFill>
                  <a:srgbClr val="53646C"/>
                </a:solidFill>
                <a:latin typeface="Arial"/>
                <a:ea typeface="Arial"/>
                <a:cs typeface="Arial"/>
              </a:defRPr>
            </a:pPr>
            <a:r>
              <a:rPr sz="1200" b="0">
                <a:solidFill>
                  <a:srgbClr val="53646C"/>
                </a:solidFill>
                <a:latin typeface="Arial"/>
                <a:ea typeface="Arial"/>
                <a:cs typeface="Arial"/>
              </a:rPr>
              <a:t>Team 22   UE24CS352A                                     5</a:t>
            </a:r>
          </a:p>
        </p:txBody>
      </p:sp>
      <p:graphicFrame>
        <p:nvGraphicFramePr>
          <p:cNvPr id="3" name="">
            <a:extLst xmlns:a="http://schemas.openxmlformats.org/drawingml/2006/main">
              <a:ext uri="{FF2B5EF4-FFF2-40B4-BE49-F238E27FC236}">
                <a16:creationId xmlns:a16="http://schemas.microsoft.com/office/drawing/2014/main" id="{23F68AA3-1BBC-4CE5-85B7-12EDD24F0499}"/>
              </a:ext>
            </a:extLst>
          </p:cNvPr>
          <p:cNvGraphicFramePr/>
          <p:nvPr/>
        </p:nvGraphicFramePr>
        <p:xfrm>
          <a:off xmlns:a="http://schemas.openxmlformats.org/drawingml/2006/main" x="609600" y="1524000"/>
          <a:ext xmlns:a="http://schemas.openxmlformats.org/drawingml/2006/main" cx="10972800" cy="3657600"/>
        </p:xfrm>
        <a:graphic xmlns:a="http://schemas.openxmlformats.org/drawingml/2006/main">
          <a:graphicData uri="http://schemas.openxmlformats.org/drawingml/2006/table">
            <a:tbl>
              <a:tblPr/>
              <a:tblGrid>
                <a:gridCol w="2667000"/>
                <a:gridCol w="3352800"/>
                <a:gridCol w="2476500"/>
                <a:gridCol w="2476500"/>
              </a:tblGrid>
              <a:tr h="457200">
                <a:tc>
                  <a:txBody>
                    <a:bodyPr/>
                    <a:lstStyle/>
                    <a:p>
                      <a:r>
                        <a:rPr sz="1725" b="1">
                          <a:solidFill>
                            <a:srgbClr val="FFFFFF"/>
                          </a:solidFill>
                          <a:latin typeface="Arial"/>
                          <a:ea typeface="Arial"/>
                          <a:cs typeface="Arial"/>
                        </a:rPr>
                        <a:t>Target</a:t>
                      </a:r>
                    </a:p>
                  </a:txBody>
                  <a:tcPr marL="91440" marR="91440" marT="45720" marB="45720">
                    <a:solidFill>
                      <a:srgbClr val="173746"/>
                    </a:solidFill>
                  </a:tcPr>
                </a:tc>
                <a:tc>
                  <a:txBody>
                    <a:bodyPr/>
                    <a:lstStyle/>
                    <a:p>
                      <a:r>
                        <a:rPr sz="1725" b="1">
                          <a:solidFill>
                            <a:srgbClr val="FFFFFF"/>
                          </a:solidFill>
                          <a:latin typeface="Arial"/>
                          <a:ea typeface="Arial"/>
                          <a:cs typeface="Arial"/>
                        </a:rPr>
                        <a:t>Model / text</a:t>
                      </a:r>
                    </a:p>
                  </a:txBody>
                  <a:tcPr marL="91440" marR="91440" marT="45720" marB="45720">
                    <a:solidFill>
                      <a:srgbClr val="173746"/>
                    </a:solidFill>
                  </a:tcPr>
                </a:tc>
                <a:tc>
                  <a:txBody>
                    <a:bodyPr/>
                    <a:lstStyle/>
                    <a:p>
                      <a:r>
                        <a:rPr sz="1725" b="1">
                          <a:solidFill>
                            <a:srgbClr val="FFFFFF"/>
                          </a:solidFill>
                          <a:latin typeface="Arial"/>
                          <a:ea typeface="Arial"/>
                          <a:cs typeface="Arial"/>
                        </a:rPr>
                        <a:t>Old val. F1</a:t>
                      </a:r>
                    </a:p>
                  </a:txBody>
                  <a:tcPr marL="91440" marR="91440" marT="45720" marB="45720">
                    <a:solidFill>
                      <a:srgbClr val="173746"/>
                    </a:solidFill>
                  </a:tcPr>
                </a:tc>
                <a:tc>
                  <a:txBody>
                    <a:bodyPr/>
                    <a:lstStyle/>
                    <a:p>
                      <a:r>
                        <a:rPr sz="1725" b="1">
                          <a:solidFill>
                            <a:srgbClr val="FFFFFF"/>
                          </a:solidFill>
                          <a:latin typeface="Arial"/>
                          <a:ea typeface="Arial"/>
                          <a:cs typeface="Arial"/>
                        </a:rPr>
                        <a:t>New val. F1</a:t>
                      </a:r>
                    </a:p>
                  </a:txBody>
                  <a:tcPr marL="91440" marR="91440" marT="45720" marB="45720">
                    <a:solidFill>
                      <a:srgbClr val="173746"/>
                    </a:solidFill>
                  </a:tcPr>
                </a:tc>
              </a:tr>
              <a:tr h="457200">
                <a:tc>
                  <a:txBody>
                    <a:bodyPr/>
                    <a:lstStyle/>
                    <a:p>
                      <a:r>
                        <a:rPr sz="1725" b="0">
                          <a:solidFill>
                            <a:srgbClr val="173746"/>
                          </a:solidFill>
                          <a:latin typeface="Arial"/>
                          <a:ea typeface="Arial"/>
                          <a:cs typeface="Arial"/>
                        </a:rPr>
                        <a:t>Overall</a:t>
                      </a:r>
                    </a:p>
                  </a:txBody>
                  <a:tcPr marL="91440" marR="91440" marT="45720" marB="45720">
                    <a:solidFill>
                      <a:srgbClr val="FFFFFF"/>
                    </a:solidFill>
                  </a:tcPr>
                </a:tc>
                <a:tc>
                  <a:txBody>
                    <a:bodyPr/>
                    <a:lstStyle/>
                    <a:p>
                      <a:r>
                        <a:rPr sz="1725" b="0">
                          <a:solidFill>
                            <a:srgbClr val="173746"/>
                          </a:solidFill>
                          <a:latin typeface="Arial"/>
                          <a:ea typeface="Arial"/>
                          <a:cs typeface="Arial"/>
                        </a:rPr>
                        <a:t>NB / full</a:t>
                      </a:r>
                    </a:p>
                  </a:txBody>
                  <a:tcPr marL="91440" marR="91440" marT="45720" marB="45720">
                    <a:solidFill>
                      <a:srgbClr val="FFFFFF"/>
                    </a:solidFill>
                  </a:tcPr>
                </a:tc>
                <a:tc>
                  <a:txBody>
                    <a:bodyPr/>
                    <a:lstStyle/>
                    <a:p>
                      <a:r>
                        <a:rPr sz="1725" b="0">
                          <a:solidFill>
                            <a:srgbClr val="173746"/>
                          </a:solidFill>
                          <a:latin typeface="Arial"/>
                          <a:ea typeface="Arial"/>
                          <a:cs typeface="Arial"/>
                        </a:rPr>
                        <a:t>0.666</a:t>
                      </a:r>
                    </a:p>
                  </a:txBody>
                  <a:tcPr marL="91440" marR="91440" marT="45720" marB="45720">
                    <a:solidFill>
                      <a:srgbClr val="FFFFFF"/>
                    </a:solidFill>
                  </a:tcPr>
                </a:tc>
                <a:tc>
                  <a:txBody>
                    <a:bodyPr/>
                    <a:lstStyle/>
                    <a:p>
                      <a:r>
                        <a:rPr sz="1725" b="0">
                          <a:solidFill>
                            <a:srgbClr val="173746"/>
                          </a:solidFill>
                          <a:latin typeface="Arial"/>
                          <a:ea typeface="Arial"/>
                          <a:cs typeface="Arial"/>
                        </a:rPr>
                        <a:t>0.666</a:t>
                      </a:r>
                    </a:p>
                  </a:txBody>
                  <a:tcPr marL="91440" marR="91440" marT="45720" marB="45720">
                    <a:solidFill>
                      <a:srgbClr val="FFFFFF"/>
                    </a:solidFill>
                  </a:tcPr>
                </a:tc>
              </a:tr>
              <a:tr h="457200">
                <a:tc>
                  <a:txBody>
                    <a:bodyPr/>
                    <a:lstStyle/>
                    <a:p>
                      <a:r>
                        <a:rPr sz="1725" b="0">
                          <a:solidFill>
                            <a:srgbClr val="173746"/>
                          </a:solidFill>
                          <a:latin typeface="Arial"/>
                          <a:ea typeface="Arial"/>
                          <a:cs typeface="Arial"/>
                        </a:rPr>
                        <a:t>Service</a:t>
                      </a:r>
                    </a:p>
                  </a:txBody>
                  <a:tcPr marL="91440" marR="91440" marT="45720" marB="45720">
                    <a:solidFill>
                      <a:srgbClr val="F0F5F7"/>
                    </a:solidFill>
                  </a:tcPr>
                </a:tc>
                <a:tc>
                  <a:txBody>
                    <a:bodyPr/>
                    <a:lstStyle/>
                    <a:p>
                      <a:r>
                        <a:rPr sz="1725" b="0">
                          <a:solidFill>
                            <a:srgbClr val="173746"/>
                          </a:solidFill>
                          <a:latin typeface="Arial"/>
                          <a:ea typeface="Arial"/>
                          <a:cs typeface="Arial"/>
                        </a:rPr>
                        <a:t>LR / full</a:t>
                      </a:r>
                    </a:p>
                  </a:txBody>
                  <a:tcPr marL="91440" marR="91440" marT="45720" marB="45720">
                    <a:solidFill>
                      <a:srgbClr val="F0F5F7"/>
                    </a:solidFill>
                  </a:tcPr>
                </a:tc>
                <a:tc>
                  <a:txBody>
                    <a:bodyPr/>
                    <a:lstStyle/>
                    <a:p>
                      <a:r>
                        <a:rPr sz="1725" b="0">
                          <a:solidFill>
                            <a:srgbClr val="173746"/>
                          </a:solidFill>
                          <a:latin typeface="Arial"/>
                          <a:ea typeface="Arial"/>
                          <a:cs typeface="Arial"/>
                        </a:rPr>
                        <a:t>0.635</a:t>
                      </a:r>
                    </a:p>
                  </a:txBody>
                  <a:tcPr marL="91440" marR="91440" marT="45720" marB="45720">
                    <a:solidFill>
                      <a:srgbClr val="F0F5F7"/>
                    </a:solidFill>
                  </a:tcPr>
                </a:tc>
                <a:tc>
                  <a:txBody>
                    <a:bodyPr/>
                    <a:lstStyle/>
                    <a:p>
                      <a:r>
                        <a:rPr sz="1725" b="0">
                          <a:solidFill>
                            <a:srgbClr val="173746"/>
                          </a:solidFill>
                          <a:latin typeface="Arial"/>
                          <a:ea typeface="Arial"/>
                          <a:cs typeface="Arial"/>
                        </a:rPr>
                        <a:t>0.635</a:t>
                      </a:r>
                    </a:p>
                  </a:txBody>
                  <a:tcPr marL="91440" marR="91440" marT="45720" marB="45720">
                    <a:solidFill>
                      <a:srgbClr val="F0F5F7"/>
                    </a:solidFill>
                  </a:tcPr>
                </a:tc>
              </a:tr>
              <a:tr h="457200">
                <a:tc>
                  <a:txBody>
                    <a:bodyPr/>
                    <a:lstStyle/>
                    <a:p>
                      <a:r>
                        <a:rPr sz="1725" b="0">
                          <a:solidFill>
                            <a:srgbClr val="173746"/>
                          </a:solidFill>
                          <a:latin typeface="Arial"/>
                          <a:ea typeface="Arial"/>
                          <a:cs typeface="Arial"/>
                        </a:rPr>
                        <a:t>Rooms</a:t>
                      </a:r>
                    </a:p>
                  </a:txBody>
                  <a:tcPr marL="91440" marR="91440" marT="45720" marB="45720">
                    <a:solidFill>
                      <a:srgbClr val="FFFFFF"/>
                    </a:solidFill>
                  </a:tcPr>
                </a:tc>
                <a:tc>
                  <a:txBody>
                    <a:bodyPr/>
                    <a:lstStyle/>
                    <a:p>
                      <a:r>
                        <a:rPr sz="1725" b="0">
                          <a:solidFill>
                            <a:srgbClr val="173746"/>
                          </a:solidFill>
                          <a:latin typeface="Arial"/>
                          <a:ea typeface="Arial"/>
                          <a:cs typeface="Arial"/>
                        </a:rPr>
                        <a:t>LR / full</a:t>
                      </a:r>
                    </a:p>
                  </a:txBody>
                  <a:tcPr marL="91440" marR="91440" marT="45720" marB="45720">
                    <a:solidFill>
                      <a:srgbClr val="FFFFFF"/>
                    </a:solidFill>
                  </a:tcPr>
                </a:tc>
                <a:tc>
                  <a:txBody>
                    <a:bodyPr/>
                    <a:lstStyle/>
                    <a:p>
                      <a:r>
                        <a:rPr sz="1725" b="0">
                          <a:solidFill>
                            <a:srgbClr val="173746"/>
                          </a:solidFill>
                          <a:latin typeface="Arial"/>
                          <a:ea typeface="Arial"/>
                          <a:cs typeface="Arial"/>
                        </a:rPr>
                        <a:t>0.588</a:t>
                      </a:r>
                    </a:p>
                  </a:txBody>
                  <a:tcPr marL="91440" marR="91440" marT="45720" marB="45720">
                    <a:solidFill>
                      <a:srgbClr val="FFFFFF"/>
                    </a:solidFill>
                  </a:tcPr>
                </a:tc>
                <a:tc>
                  <a:txBody>
                    <a:bodyPr/>
                    <a:lstStyle/>
                    <a:p>
                      <a:r>
                        <a:rPr sz="1725" b="0">
                          <a:solidFill>
                            <a:srgbClr val="173746"/>
                          </a:solidFill>
                          <a:latin typeface="Arial"/>
                          <a:ea typeface="Arial"/>
                          <a:cs typeface="Arial"/>
                        </a:rPr>
                        <a:t>0.588</a:t>
                      </a:r>
                    </a:p>
                  </a:txBody>
                  <a:tcPr marL="91440" marR="91440" marT="45720" marB="45720">
                    <a:solidFill>
                      <a:srgbClr val="FFFFFF"/>
                    </a:solidFill>
                  </a:tcPr>
                </a:tc>
              </a:tr>
              <a:tr h="457200">
                <a:tc>
                  <a:txBody>
                    <a:bodyPr/>
                    <a:lstStyle/>
                    <a:p>
                      <a:r>
                        <a:rPr sz="1725" b="0">
                          <a:solidFill>
                            <a:srgbClr val="173746"/>
                          </a:solidFill>
                          <a:latin typeface="Arial"/>
                          <a:ea typeface="Arial"/>
                          <a:cs typeface="Arial"/>
                        </a:rPr>
                        <a:t>Location</a:t>
                      </a:r>
                    </a:p>
                  </a:txBody>
                  <a:tcPr marL="91440" marR="91440" marT="45720" marB="45720">
                    <a:solidFill>
                      <a:srgbClr val="F0F5F7"/>
                    </a:solidFill>
                  </a:tcPr>
                </a:tc>
                <a:tc>
                  <a:txBody>
                    <a:bodyPr/>
                    <a:lstStyle/>
                    <a:p>
                      <a:r>
                        <a:rPr sz="1725" b="0">
                          <a:solidFill>
                            <a:srgbClr val="173746"/>
                          </a:solidFill>
                          <a:latin typeface="Arial"/>
                          <a:ea typeface="Arial"/>
                          <a:cs typeface="Arial"/>
                        </a:rPr>
                        <a:t>LR / routed</a:t>
                      </a:r>
                    </a:p>
                  </a:txBody>
                  <a:tcPr marL="91440" marR="91440" marT="45720" marB="45720">
                    <a:solidFill>
                      <a:srgbClr val="F0F5F7"/>
                    </a:solidFill>
                  </a:tcPr>
                </a:tc>
                <a:tc>
                  <a:txBody>
                    <a:bodyPr/>
                    <a:lstStyle/>
                    <a:p>
                      <a:r>
                        <a:rPr sz="1725" b="0">
                          <a:solidFill>
                            <a:srgbClr val="173746"/>
                          </a:solidFill>
                          <a:latin typeface="Arial"/>
                          <a:ea typeface="Arial"/>
                          <a:cs typeface="Arial"/>
                        </a:rPr>
                        <a:t>0.411</a:t>
                      </a:r>
                    </a:p>
                  </a:txBody>
                  <a:tcPr marL="91440" marR="91440" marT="45720" marB="45720">
                    <a:solidFill>
                      <a:srgbClr val="F0F5F7"/>
                    </a:solidFill>
                  </a:tcPr>
                </a:tc>
                <a:tc>
                  <a:txBody>
                    <a:bodyPr/>
                    <a:lstStyle/>
                    <a:p>
                      <a:r>
                        <a:rPr sz="1725" b="0">
                          <a:solidFill>
                            <a:srgbClr val="173746"/>
                          </a:solidFill>
                          <a:latin typeface="Arial"/>
                          <a:ea typeface="Arial"/>
                          <a:cs typeface="Arial"/>
                        </a:rPr>
                        <a:t>0.413</a:t>
                      </a:r>
                    </a:p>
                  </a:txBody>
                  <a:tcPr marL="91440" marR="91440" marT="45720" marB="45720">
                    <a:solidFill>
                      <a:srgbClr val="F0F5F7"/>
                    </a:solidFill>
                  </a:tcPr>
                </a:tc>
              </a:tr>
              <a:tr h="457200">
                <a:tc>
                  <a:txBody>
                    <a:bodyPr/>
                    <a:lstStyle/>
                    <a:p>
                      <a:r>
                        <a:rPr sz="1725" b="0">
                          <a:solidFill>
                            <a:srgbClr val="173746"/>
                          </a:solidFill>
                          <a:latin typeface="Arial"/>
                          <a:ea typeface="Arial"/>
                          <a:cs typeface="Arial"/>
                        </a:rPr>
                        <a:t>Value</a:t>
                      </a:r>
                    </a:p>
                  </a:txBody>
                  <a:tcPr marL="91440" marR="91440" marT="45720" marB="45720">
                    <a:solidFill>
                      <a:srgbClr val="FFFFFF"/>
                    </a:solidFill>
                  </a:tcPr>
                </a:tc>
                <a:tc>
                  <a:txBody>
                    <a:bodyPr/>
                    <a:lstStyle/>
                    <a:p>
                      <a:r>
                        <a:rPr sz="1725" b="0">
                          <a:solidFill>
                            <a:srgbClr val="173746"/>
                          </a:solidFill>
                          <a:latin typeface="Arial"/>
                          <a:ea typeface="Arial"/>
                          <a:cs typeface="Arial"/>
                        </a:rPr>
                        <a:t>NB / full</a:t>
                      </a:r>
                    </a:p>
                  </a:txBody>
                  <a:tcPr marL="91440" marR="91440" marT="45720" marB="45720">
                    <a:solidFill>
                      <a:srgbClr val="FFFFFF"/>
                    </a:solidFill>
                  </a:tcPr>
                </a:tc>
                <a:tc>
                  <a:txBody>
                    <a:bodyPr/>
                    <a:lstStyle/>
                    <a:p>
                      <a:r>
                        <a:rPr sz="1725" b="0">
                          <a:solidFill>
                            <a:srgbClr val="173746"/>
                          </a:solidFill>
                          <a:latin typeface="Arial"/>
                          <a:ea typeface="Arial"/>
                          <a:cs typeface="Arial"/>
                        </a:rPr>
                        <a:t>0.600</a:t>
                      </a:r>
                    </a:p>
                  </a:txBody>
                  <a:tcPr marL="91440" marR="91440" marT="45720" marB="45720">
                    <a:solidFill>
                      <a:srgbClr val="FFFFFF"/>
                    </a:solidFill>
                  </a:tcPr>
                </a:tc>
                <a:tc>
                  <a:txBody>
                    <a:bodyPr/>
                    <a:lstStyle/>
                    <a:p>
                      <a:r>
                        <a:rPr sz="1725" b="0">
                          <a:solidFill>
                            <a:srgbClr val="173746"/>
                          </a:solidFill>
                          <a:latin typeface="Arial"/>
                          <a:ea typeface="Arial"/>
                          <a:cs typeface="Arial"/>
                        </a:rPr>
                        <a:t>0.600</a:t>
                      </a:r>
                    </a:p>
                  </a:txBody>
                  <a:tcPr marL="91440" marR="91440" marT="45720" marB="45720">
                    <a:solidFill>
                      <a:srgbClr val="FFFFFF"/>
                    </a:solidFill>
                  </a:tcPr>
                </a:tc>
              </a:tr>
              <a:tr h="457200">
                <a:tc>
                  <a:txBody>
                    <a:bodyPr/>
                    <a:lstStyle/>
                    <a:p>
                      <a:r>
                        <a:rPr sz="1725" b="0">
                          <a:solidFill>
                            <a:srgbClr val="173746"/>
                          </a:solidFill>
                          <a:latin typeface="Arial"/>
                          <a:ea typeface="Arial"/>
                          <a:cs typeface="Arial"/>
                        </a:rPr>
                        <a:t>Cleanliness</a:t>
                      </a:r>
                    </a:p>
                  </a:txBody>
                  <a:tcPr marL="91440" marR="91440" marT="45720" marB="45720">
                    <a:solidFill>
                      <a:srgbClr val="F0F5F7"/>
                    </a:solidFill>
                  </a:tcPr>
                </a:tc>
                <a:tc>
                  <a:txBody>
                    <a:bodyPr/>
                    <a:lstStyle/>
                    <a:p>
                      <a:r>
                        <a:rPr sz="1725" b="0">
                          <a:solidFill>
                            <a:srgbClr val="173746"/>
                          </a:solidFill>
                          <a:latin typeface="Arial"/>
                          <a:ea typeface="Arial"/>
                          <a:cs typeface="Arial"/>
                        </a:rPr>
                        <a:t>LR / routed</a:t>
                      </a:r>
                    </a:p>
                  </a:txBody>
                  <a:tcPr marL="91440" marR="91440" marT="45720" marB="45720">
                    <a:solidFill>
                      <a:srgbClr val="F0F5F7"/>
                    </a:solidFill>
                  </a:tcPr>
                </a:tc>
                <a:tc>
                  <a:txBody>
                    <a:bodyPr/>
                    <a:lstStyle/>
                    <a:p>
                      <a:r>
                        <a:rPr sz="1725" b="0">
                          <a:solidFill>
                            <a:srgbClr val="173746"/>
                          </a:solidFill>
                          <a:latin typeface="Arial"/>
                          <a:ea typeface="Arial"/>
                          <a:cs typeface="Arial"/>
                        </a:rPr>
                        <a:t>0.504</a:t>
                      </a:r>
                    </a:p>
                  </a:txBody>
                  <a:tcPr marL="91440" marR="91440" marT="45720" marB="45720">
                    <a:solidFill>
                      <a:srgbClr val="F0F5F7"/>
                    </a:solidFill>
                  </a:tcPr>
                </a:tc>
                <a:tc>
                  <a:txBody>
                    <a:bodyPr/>
                    <a:lstStyle/>
                    <a:p>
                      <a:r>
                        <a:rPr sz="1725" b="0">
                          <a:solidFill>
                            <a:srgbClr val="173746"/>
                          </a:solidFill>
                          <a:latin typeface="Arial"/>
                          <a:ea typeface="Arial"/>
                          <a:cs typeface="Arial"/>
                        </a:rPr>
                        <a:t>0.567</a:t>
                      </a:r>
                    </a:p>
                  </a:txBody>
                  <a:tcPr marL="91440" marR="91440" marT="45720" marB="45720">
                    <a:solidFill>
                      <a:srgbClr val="F0F5F7"/>
                    </a:solidFill>
                  </a:tcPr>
                </a:tc>
              </a:tr>
              <a:tr h="457200">
                <a:tc>
                  <a:txBody>
                    <a:bodyPr/>
                    <a:lstStyle/>
                    <a:p>
                      <a:r>
                        <a:rPr sz="1725" b="0">
                          <a:solidFill>
                            <a:srgbClr val="173746"/>
                          </a:solidFill>
                          <a:latin typeface="Arial"/>
                          <a:ea typeface="Arial"/>
                          <a:cs typeface="Arial"/>
                        </a:rPr>
                        <a:t>Business</a:t>
                      </a:r>
                    </a:p>
                  </a:txBody>
                  <a:tcPr marL="91440" marR="91440" marT="45720" marB="45720">
                    <a:solidFill>
                      <a:srgbClr val="FFFFFF"/>
                    </a:solidFill>
                  </a:tcPr>
                </a:tc>
                <a:tc>
                  <a:txBody>
                    <a:bodyPr/>
                    <a:lstStyle/>
                    <a:p>
                      <a:r>
                        <a:rPr sz="1725" b="0">
                          <a:solidFill>
                            <a:srgbClr val="173746"/>
                          </a:solidFill>
                          <a:latin typeface="Arial"/>
                          <a:ea typeface="Arial"/>
                          <a:cs typeface="Arial"/>
                        </a:rPr>
                        <a:t>LR / full</a:t>
                      </a:r>
                    </a:p>
                  </a:txBody>
                  <a:tcPr marL="91440" marR="91440" marT="45720" marB="45720">
                    <a:solidFill>
                      <a:srgbClr val="FFFFFF"/>
                    </a:solidFill>
                  </a:tcPr>
                </a:tc>
                <a:tc>
                  <a:txBody>
                    <a:bodyPr/>
                    <a:lstStyle/>
                    <a:p>
                      <a:r>
                        <a:rPr sz="1725" b="0">
                          <a:solidFill>
                            <a:srgbClr val="173746"/>
                          </a:solidFill>
                          <a:latin typeface="Arial"/>
                          <a:ea typeface="Arial"/>
                          <a:cs typeface="Arial"/>
                        </a:rPr>
                        <a:t>0.548</a:t>
                      </a:r>
                    </a:p>
                  </a:txBody>
                  <a:tcPr marL="91440" marR="91440" marT="45720" marB="45720">
                    <a:solidFill>
                      <a:srgbClr val="FFFFFF"/>
                    </a:solidFill>
                  </a:tcPr>
                </a:tc>
                <a:tc>
                  <a:txBody>
                    <a:bodyPr/>
                    <a:lstStyle/>
                    <a:p>
                      <a:r>
                        <a:rPr sz="1725" b="0">
                          <a:solidFill>
                            <a:srgbClr val="173746"/>
                          </a:solidFill>
                          <a:latin typeface="Arial"/>
                          <a:ea typeface="Arial"/>
                          <a:cs typeface="Arial"/>
                        </a:rPr>
                        <a:t>0.548</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FAA10FA6-E7CB-46A5-BCF5-0F21FCED6F38}"/>
              </a:ext>
            </a:extLst>
          </p:cNvPr>
          <p:cNvSpPr>
            <a:spLocks xmlns:a="http://schemas.openxmlformats.org/drawingml/2006/main" noGrp="1"/>
          </p:cNvSpPr>
          <p:nvPr/>
        </p:nvSpPr>
        <p:spPr>
          <a:xfrm xmlns:a="http://schemas.openxmlformats.org/drawingml/2006/main">
            <a:off x="723900" y="552450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176B87"/>
                </a:solidFill>
                <a:latin typeface="Arial"/>
                <a:ea typeface="Arial"/>
                <a:cs typeface="Arial"/>
              </a:defRPr>
            </a:defPPr>
          </a:lstStyle>
          <a:p xmlns:a="http://schemas.openxmlformats.org/drawingml/2006/main">
            <a:pPr>
              <a:defRPr sz="2100" b="1">
                <a:solidFill>
                  <a:srgbClr val="176B87"/>
                </a:solidFill>
                <a:latin typeface="Arial"/>
                <a:ea typeface="Arial"/>
                <a:cs typeface="Arial"/>
              </a:defRPr>
            </a:pPr>
            <a:r>
              <a:rPr sz="2100" b="1">
                <a:solidFill>
                  <a:srgbClr val="176B87"/>
                </a:solidFill>
                <a:latin typeface="Arial"/>
                <a:ea typeface="Arial"/>
                <a:cs typeface="Arial"/>
              </a:rPr>
              <a:t>Routing wins for Cleanliness and Location. Rooms retains full text.</a:t>
            </a:r>
          </a:p>
        </p:txBody>
      </p:sp>
    </p:spTree>
    <p:extLst>
      <p:ext uri="{BB962C8B-B14F-4D97-AF65-F5344CB8AC3E}">
        <p14:creationId xmlns:p14="http://schemas.microsoft.com/office/powerpoint/2010/main" val="147058391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8C3C136-F39B-48D5-8D55-CC268848AF8C}"/>
              </a:ext>
            </a:extLst>
          </p:cNvPr>
          <p:cNvSpPr>
            <a:spLocks xmlns:a="http://schemas.openxmlformats.org/drawingml/2006/main" noGrp="1"/>
          </p:cNvSpPr>
          <p:nvPr/>
        </p:nvSpPr>
        <p:spPr>
          <a:xfrm xmlns:a="http://schemas.openxmlformats.org/drawingml/2006/main">
            <a:off x="609600" y="40005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225" b="1">
                <a:solidFill>
                  <a:srgbClr val="173746"/>
                </a:solidFill>
                <a:latin typeface="Arial"/>
                <a:ea typeface="Arial"/>
                <a:cs typeface="Arial"/>
              </a:defRPr>
            </a:defPPr>
          </a:lstStyle>
          <a:p xmlns:a="http://schemas.openxmlformats.org/drawingml/2006/main">
            <a:pPr>
              <a:defRPr sz="3225" b="1">
                <a:solidFill>
                  <a:srgbClr val="173746"/>
                </a:solidFill>
                <a:latin typeface="Arial"/>
                <a:ea typeface="Arial"/>
                <a:cs typeface="Arial"/>
              </a:defRPr>
            </a:pPr>
            <a:r>
              <a:rPr sz="3225" b="1">
                <a:solidFill>
                  <a:srgbClr val="173746"/>
                </a:solidFill>
                <a:latin typeface="Arial"/>
                <a:ea typeface="Arial"/>
                <a:cs typeface="Arial"/>
              </a:rPr>
              <a:t>Held-out polarity macro-F1</a:t>
            </a:r>
          </a:p>
        </p:txBody>
      </p:sp>
      <p:sp>
        <p:nvSpPr>
          <p:cNvPr id="2" name="">
            <a:extLst xmlns:a="http://schemas.openxmlformats.org/drawingml/2006/main">
              <a:ext uri="{FF2B5EF4-FFF2-40B4-BE49-F238E27FC236}">
                <a16:creationId xmlns:a16="http://schemas.microsoft.com/office/drawing/2014/main" id="{E27C5485-D58F-44DD-89D8-C7A7ECBBA5C1}"/>
              </a:ext>
            </a:extLst>
          </p:cNvPr>
          <p:cNvSpPr>
            <a:spLocks xmlns:a="http://schemas.openxmlformats.org/drawingml/2006/main" noGrp="1"/>
          </p:cNvSpPr>
          <p:nvPr/>
        </p:nvSpPr>
        <p:spPr>
          <a:xfrm xmlns:a="http://schemas.openxmlformats.org/drawingml/2006/main">
            <a:off x="609600" y="641985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53646C"/>
                </a:solidFill>
                <a:latin typeface="Arial"/>
                <a:ea typeface="Arial"/>
                <a:cs typeface="Arial"/>
              </a:defRPr>
            </a:defPPr>
          </a:lstStyle>
          <a:p xmlns:a="http://schemas.openxmlformats.org/drawingml/2006/main">
            <a:pPr>
              <a:defRPr sz="1200" b="0">
                <a:solidFill>
                  <a:srgbClr val="53646C"/>
                </a:solidFill>
                <a:latin typeface="Arial"/>
                <a:ea typeface="Arial"/>
                <a:cs typeface="Arial"/>
              </a:defRPr>
            </a:pPr>
            <a:r>
              <a:rPr sz="1200" b="0">
                <a:solidFill>
                  <a:srgbClr val="53646C"/>
                </a:solidFill>
                <a:latin typeface="Arial"/>
                <a:ea typeface="Arial"/>
                <a:cs typeface="Arial"/>
              </a:rPr>
              <a:t>Team 22   UE24CS352A                                     6</a:t>
            </a:r>
          </a:p>
        </p:txBody>
      </p:sp>
      <p:graphicFrame>
        <p:nvGraphicFramePr>
          <p:cNvPr id="3" name="Chart">
            <a:extLst xmlns:a="http://schemas.openxmlformats.org/drawingml/2006/main">
              <a:ext uri="{FF2B5EF4-FFF2-40B4-BE49-F238E27FC236}">
                <a16:creationId xmlns:a16="http://schemas.microsoft.com/office/drawing/2014/main" id="{9DABDF8A-DDDD-46F8-99E3-BC5C4FF4C4DC}"/>
              </a:ext>
            </a:extLst>
          </p:cNvPr>
          <p:cNvGraphicFramePr/>
          <p:nvPr/>
        </p:nvGraphicFramePr>
        <p:xfrm>
          <a:off xmlns:a="http://schemas.openxmlformats.org/drawingml/2006/main" x="685800" y="1476375"/>
          <a:ext xmlns:a="http://schemas.openxmlformats.org/drawingml/2006/main" cx="10820400" cy="4000500"/>
        </p:xfrm>
        <a:graphic xmlns:a="http://schemas.openxmlformats.org/drawingml/2006/main">
          <a:graphicData uri="http://schemas.openxmlformats.org/drawingml/2006/chart">
            <c:chart xmlns:r="http://schemas.openxmlformats.org/officeDocument/2006/relationships" xmlns:c="http://schemas.openxmlformats.org/drawingml/2006/chart" r:id="R8a6551ef635b4452"/>
          </a:graphicData>
        </a:graphic>
      </p:graphicFrame>
      <p:sp>
        <p:nvSpPr>
          <p:cNvPr id="4" name="">
            <a:extLst xmlns:a="http://schemas.openxmlformats.org/drawingml/2006/main">
              <a:ext uri="{FF2B5EF4-FFF2-40B4-BE49-F238E27FC236}">
                <a16:creationId xmlns:a16="http://schemas.microsoft.com/office/drawing/2014/main" id="{6E243115-BBF9-4184-8EDE-754B3947A0FC}"/>
              </a:ext>
            </a:extLst>
          </p:cNvPr>
          <p:cNvSpPr>
            <a:spLocks xmlns:a="http://schemas.openxmlformats.org/drawingml/2006/main" noGrp="1"/>
          </p:cNvSpPr>
          <p:nvPr/>
        </p:nvSpPr>
        <p:spPr>
          <a:xfrm xmlns:a="http://schemas.openxmlformats.org/drawingml/2006/main">
            <a:off x="723900" y="559117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173746"/>
                </a:solidFill>
                <a:latin typeface="Arial"/>
                <a:ea typeface="Arial"/>
                <a:cs typeface="Arial"/>
              </a:defRPr>
            </a:defPPr>
          </a:lstStyle>
          <a:p xmlns:a="http://schemas.openxmlformats.org/drawingml/2006/main">
            <a:pPr>
              <a:defRPr sz="2100" b="1">
                <a:solidFill>
                  <a:srgbClr val="173746"/>
                </a:solidFill>
                <a:latin typeface="Arial"/>
                <a:ea typeface="Arial"/>
                <a:cs typeface="Arial"/>
              </a:defRPr>
            </a:pPr>
            <a:r>
              <a:rPr sz="2100" b="1">
                <a:solidFill>
                  <a:srgbClr val="173746"/>
                </a:solidFill>
                <a:latin typeface="Arial"/>
                <a:ea typeface="Arial"/>
                <a:cs typeface="Arial"/>
              </a:rPr>
              <a:t>Cleanliness: 0.539 to 0.566. Location: 0.423 to 0.383.</a:t>
            </a:r>
          </a:p>
        </p:txBody>
      </p:sp>
    </p:spTree>
    <p:extLst>
      <p:ext uri="{BB962C8B-B14F-4D97-AF65-F5344CB8AC3E}">
        <p14:creationId xmlns:p14="http://schemas.microsoft.com/office/powerpoint/2010/main" val="86532859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EDFE658-801F-41DC-87B6-81F53B70497E}"/>
              </a:ext>
            </a:extLst>
          </p:cNvPr>
          <p:cNvSpPr>
            <a:spLocks xmlns:a="http://schemas.openxmlformats.org/drawingml/2006/main" noGrp="1"/>
          </p:cNvSpPr>
          <p:nvPr/>
        </p:nvSpPr>
        <p:spPr>
          <a:xfrm xmlns:a="http://schemas.openxmlformats.org/drawingml/2006/main">
            <a:off x="609600" y="40005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225" b="1">
                <a:solidFill>
                  <a:srgbClr val="173746"/>
                </a:solidFill>
                <a:latin typeface="Arial"/>
                <a:ea typeface="Arial"/>
                <a:cs typeface="Arial"/>
              </a:defRPr>
            </a:defPPr>
          </a:lstStyle>
          <a:p xmlns:a="http://schemas.openxmlformats.org/drawingml/2006/main">
            <a:pPr>
              <a:defRPr sz="3225" b="1">
                <a:solidFill>
                  <a:srgbClr val="173746"/>
                </a:solidFill>
                <a:latin typeface="Arial"/>
                <a:ea typeface="Arial"/>
                <a:cs typeface="Arial"/>
              </a:defRPr>
            </a:pPr>
            <a:r>
              <a:rPr sz="3225" b="1">
                <a:solidFill>
                  <a:srgbClr val="173746"/>
                </a:solidFill>
                <a:latin typeface="Arial"/>
                <a:ea typeface="Arial"/>
                <a:cs typeface="Arial"/>
              </a:rPr>
              <a:t>Real rating and polarity metrics</a:t>
            </a:r>
          </a:p>
        </p:txBody>
      </p:sp>
      <p:sp>
        <p:nvSpPr>
          <p:cNvPr id="2" name="">
            <a:extLst xmlns:a="http://schemas.openxmlformats.org/drawingml/2006/main">
              <a:ext uri="{FF2B5EF4-FFF2-40B4-BE49-F238E27FC236}">
                <a16:creationId xmlns:a16="http://schemas.microsoft.com/office/drawing/2014/main" id="{D3EF85E1-E101-4C86-9F16-87C79F30F0DC}"/>
              </a:ext>
            </a:extLst>
          </p:cNvPr>
          <p:cNvSpPr>
            <a:spLocks xmlns:a="http://schemas.openxmlformats.org/drawingml/2006/main" noGrp="1"/>
          </p:cNvSpPr>
          <p:nvPr/>
        </p:nvSpPr>
        <p:spPr>
          <a:xfrm xmlns:a="http://schemas.openxmlformats.org/drawingml/2006/main">
            <a:off x="609600" y="641985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53646C"/>
                </a:solidFill>
                <a:latin typeface="Arial"/>
                <a:ea typeface="Arial"/>
                <a:cs typeface="Arial"/>
              </a:defRPr>
            </a:defPPr>
          </a:lstStyle>
          <a:p xmlns:a="http://schemas.openxmlformats.org/drawingml/2006/main">
            <a:pPr>
              <a:defRPr sz="1200" b="0">
                <a:solidFill>
                  <a:srgbClr val="53646C"/>
                </a:solidFill>
                <a:latin typeface="Arial"/>
                <a:ea typeface="Arial"/>
                <a:cs typeface="Arial"/>
              </a:defRPr>
            </a:pPr>
            <a:r>
              <a:rPr sz="1200" b="0">
                <a:solidFill>
                  <a:srgbClr val="53646C"/>
                </a:solidFill>
                <a:latin typeface="Arial"/>
                <a:ea typeface="Arial"/>
                <a:cs typeface="Arial"/>
              </a:rPr>
              <a:t>Team 22   UE24CS352A                                     7</a:t>
            </a:r>
          </a:p>
        </p:txBody>
      </p:sp>
      <p:graphicFrame>
        <p:nvGraphicFramePr>
          <p:cNvPr id="3" name="">
            <a:extLst xmlns:a="http://schemas.openxmlformats.org/drawingml/2006/main">
              <a:ext uri="{FF2B5EF4-FFF2-40B4-BE49-F238E27FC236}">
                <a16:creationId xmlns:a16="http://schemas.microsoft.com/office/drawing/2014/main" id="{DEF3B4F1-FC33-419A-85C2-31B52A0D869F}"/>
              </a:ext>
            </a:extLst>
          </p:cNvPr>
          <p:cNvGraphicFramePr/>
          <p:nvPr/>
        </p:nvGraphicFramePr>
        <p:xfrm>
          <a:off xmlns:a="http://schemas.openxmlformats.org/drawingml/2006/main" x="609600" y="1504950"/>
          <a:ext xmlns:a="http://schemas.openxmlformats.org/drawingml/2006/main" cx="10972800" cy="3657600"/>
        </p:xfrm>
        <a:graphic xmlns:a="http://schemas.openxmlformats.org/drawingml/2006/main">
          <a:graphicData uri="http://schemas.openxmlformats.org/drawingml/2006/table">
            <a:tbl>
              <a:tblPr/>
              <a:tblGrid>
                <a:gridCol w="2543175"/>
                <a:gridCol w="1685925"/>
                <a:gridCol w="1685925"/>
                <a:gridCol w="1428750"/>
                <a:gridCol w="1809750"/>
                <a:gridCol w="1819275"/>
              </a:tblGrid>
              <a:tr h="457200">
                <a:tc>
                  <a:txBody>
                    <a:bodyPr/>
                    <a:lstStyle/>
                    <a:p>
                      <a:r>
                        <a:rPr sz="1725" b="1">
                          <a:solidFill>
                            <a:srgbClr val="FFFFFF"/>
                          </a:solidFill>
                          <a:latin typeface="Arial"/>
                          <a:ea typeface="Arial"/>
                          <a:cs typeface="Arial"/>
                        </a:rPr>
                        <a:t>Target / n</a:t>
                      </a:r>
                    </a:p>
                  </a:txBody>
                  <a:tcPr marL="91440" marR="91440" marT="45720" marB="45720">
                    <a:solidFill>
                      <a:srgbClr val="173746"/>
                    </a:solidFill>
                  </a:tcPr>
                </a:tc>
                <a:tc>
                  <a:txBody>
                    <a:bodyPr/>
                    <a:lstStyle/>
                    <a:p>
                      <a:r>
                        <a:rPr sz="1725" b="1">
                          <a:solidFill>
                            <a:srgbClr val="FFFFFF"/>
                          </a:solidFill>
                          <a:latin typeface="Arial"/>
                          <a:ea typeface="Arial"/>
                          <a:cs typeface="Arial"/>
                        </a:rPr>
                        <a:t>Star acc.</a:t>
                      </a:r>
                    </a:p>
                  </a:txBody>
                  <a:tcPr marL="91440" marR="91440" marT="45720" marB="45720">
                    <a:solidFill>
                      <a:srgbClr val="173746"/>
                    </a:solidFill>
                  </a:tcPr>
                </a:tc>
                <a:tc>
                  <a:txBody>
                    <a:bodyPr/>
                    <a:lstStyle/>
                    <a:p>
                      <a:r>
                        <a:rPr sz="1725" b="1">
                          <a:solidFill>
                            <a:srgbClr val="FFFFFF"/>
                          </a:solidFill>
                          <a:latin typeface="Arial"/>
                          <a:ea typeface="Arial"/>
                          <a:cs typeface="Arial"/>
                        </a:rPr>
                        <a:t>Within 1</a:t>
                      </a:r>
                    </a:p>
                  </a:txBody>
                  <a:tcPr marL="91440" marR="91440" marT="45720" marB="45720">
                    <a:solidFill>
                      <a:srgbClr val="173746"/>
                    </a:solidFill>
                  </a:tcPr>
                </a:tc>
                <a:tc>
                  <a:txBody>
                    <a:bodyPr/>
                    <a:lstStyle/>
                    <a:p>
                      <a:r>
                        <a:rPr sz="1725" b="1">
                          <a:solidFill>
                            <a:srgbClr val="FFFFFF"/>
                          </a:solidFill>
                          <a:latin typeface="Arial"/>
                          <a:ea typeface="Arial"/>
                          <a:cs typeface="Arial"/>
                        </a:rPr>
                        <a:t>MAE</a:t>
                      </a:r>
                    </a:p>
                  </a:txBody>
                  <a:tcPr marL="91440" marR="91440" marT="45720" marB="45720">
                    <a:solidFill>
                      <a:srgbClr val="173746"/>
                    </a:solidFill>
                  </a:tcPr>
                </a:tc>
                <a:tc>
                  <a:txBody>
                    <a:bodyPr/>
                    <a:lstStyle/>
                    <a:p>
                      <a:r>
                        <a:rPr sz="1725" b="1">
                          <a:solidFill>
                            <a:srgbClr val="FFFFFF"/>
                          </a:solidFill>
                          <a:latin typeface="Arial"/>
                          <a:ea typeface="Arial"/>
                          <a:cs typeface="Arial"/>
                        </a:rPr>
                        <a:t>Pol. acc.</a:t>
                      </a:r>
                    </a:p>
                  </a:txBody>
                  <a:tcPr marL="91440" marR="91440" marT="45720" marB="45720">
                    <a:solidFill>
                      <a:srgbClr val="173746"/>
                    </a:solidFill>
                  </a:tcPr>
                </a:tc>
                <a:tc>
                  <a:txBody>
                    <a:bodyPr/>
                    <a:lstStyle/>
                    <a:p>
                      <a:r>
                        <a:rPr sz="1725" b="1">
                          <a:solidFill>
                            <a:srgbClr val="FFFFFF"/>
                          </a:solidFill>
                          <a:latin typeface="Arial"/>
                          <a:ea typeface="Arial"/>
                          <a:cs typeface="Arial"/>
                        </a:rPr>
                        <a:t>Majority</a:t>
                      </a:r>
                    </a:p>
                  </a:txBody>
                  <a:tcPr marL="91440" marR="91440" marT="45720" marB="45720">
                    <a:solidFill>
                      <a:srgbClr val="173746"/>
                    </a:solidFill>
                  </a:tcPr>
                </a:tc>
              </a:tr>
              <a:tr h="457200">
                <a:tc>
                  <a:txBody>
                    <a:bodyPr/>
                    <a:lstStyle/>
                    <a:p>
                      <a:r>
                        <a:rPr sz="1725" b="0">
                          <a:solidFill>
                            <a:srgbClr val="173746"/>
                          </a:solidFill>
                          <a:latin typeface="Arial"/>
                          <a:ea typeface="Arial"/>
                          <a:cs typeface="Arial"/>
                        </a:rPr>
                        <a:t>Overall / 370</a:t>
                      </a:r>
                    </a:p>
                  </a:txBody>
                  <a:tcPr marL="91440" marR="91440" marT="45720" marB="45720">
                    <a:solidFill>
                      <a:srgbClr val="FFFFFF"/>
                    </a:solidFill>
                  </a:tcPr>
                </a:tc>
                <a:tc>
                  <a:txBody>
                    <a:bodyPr/>
                    <a:lstStyle/>
                    <a:p>
                      <a:r>
                        <a:rPr sz="1725" b="0">
                          <a:solidFill>
                            <a:srgbClr val="173746"/>
                          </a:solidFill>
                          <a:latin typeface="Arial"/>
                          <a:ea typeface="Arial"/>
                          <a:cs typeface="Arial"/>
                        </a:rPr>
                        <a:t>51.1%</a:t>
                      </a:r>
                    </a:p>
                  </a:txBody>
                  <a:tcPr marL="91440" marR="91440" marT="45720" marB="45720">
                    <a:solidFill>
                      <a:srgbClr val="FFFFFF"/>
                    </a:solidFill>
                  </a:tcPr>
                </a:tc>
                <a:tc>
                  <a:txBody>
                    <a:bodyPr/>
                    <a:lstStyle/>
                    <a:p>
                      <a:r>
                        <a:rPr sz="1725" b="0">
                          <a:solidFill>
                            <a:srgbClr val="173746"/>
                          </a:solidFill>
                          <a:latin typeface="Arial"/>
                          <a:ea typeface="Arial"/>
                          <a:cs typeface="Arial"/>
                        </a:rPr>
                        <a:t>92.2%</a:t>
                      </a:r>
                    </a:p>
                  </a:txBody>
                  <a:tcPr marL="91440" marR="91440" marT="45720" marB="45720">
                    <a:solidFill>
                      <a:srgbClr val="FFFFFF"/>
                    </a:solidFill>
                  </a:tcPr>
                </a:tc>
                <a:tc>
                  <a:txBody>
                    <a:bodyPr/>
                    <a:lstStyle/>
                    <a:p>
                      <a:r>
                        <a:rPr sz="1725" b="0">
                          <a:solidFill>
                            <a:srgbClr val="173746"/>
                          </a:solidFill>
                          <a:latin typeface="Arial"/>
                          <a:ea typeface="Arial"/>
                          <a:cs typeface="Arial"/>
                        </a:rPr>
                        <a:t>0.608</a:t>
                      </a:r>
                    </a:p>
                  </a:txBody>
                  <a:tcPr marL="91440" marR="91440" marT="45720" marB="45720">
                    <a:solidFill>
                      <a:srgbClr val="FFFFFF"/>
                    </a:solidFill>
                  </a:tcPr>
                </a:tc>
                <a:tc>
                  <a:txBody>
                    <a:bodyPr/>
                    <a:lstStyle/>
                    <a:p>
                      <a:r>
                        <a:rPr sz="1725" b="0">
                          <a:solidFill>
                            <a:srgbClr val="173746"/>
                          </a:solidFill>
                          <a:latin typeface="Arial"/>
                          <a:ea typeface="Arial"/>
                          <a:cs typeface="Arial"/>
                        </a:rPr>
                        <a:t>74.6%</a:t>
                      </a:r>
                    </a:p>
                  </a:txBody>
                  <a:tcPr marL="91440" marR="91440" marT="45720" marB="45720">
                    <a:solidFill>
                      <a:srgbClr val="FFFFFF"/>
                    </a:solidFill>
                  </a:tcPr>
                </a:tc>
                <a:tc>
                  <a:txBody>
                    <a:bodyPr/>
                    <a:lstStyle/>
                    <a:p>
                      <a:r>
                        <a:rPr sz="1725" b="0">
                          <a:solidFill>
                            <a:srgbClr val="173746"/>
                          </a:solidFill>
                          <a:latin typeface="Arial"/>
                          <a:ea typeface="Arial"/>
                          <a:cs typeface="Arial"/>
                        </a:rPr>
                        <a:t>32.4%</a:t>
                      </a:r>
                    </a:p>
                  </a:txBody>
                  <a:tcPr marL="91440" marR="91440" marT="45720" marB="45720">
                    <a:solidFill>
                      <a:srgbClr val="FFFFFF"/>
                    </a:solidFill>
                  </a:tcPr>
                </a:tc>
              </a:tr>
              <a:tr h="457200">
                <a:tc>
                  <a:txBody>
                    <a:bodyPr/>
                    <a:lstStyle/>
                    <a:p>
                      <a:r>
                        <a:rPr sz="1725" b="0">
                          <a:solidFill>
                            <a:srgbClr val="173746"/>
                          </a:solidFill>
                          <a:latin typeface="Arial"/>
                          <a:ea typeface="Arial"/>
                          <a:cs typeface="Arial"/>
                        </a:rPr>
                        <a:t>Service / 271</a:t>
                      </a:r>
                    </a:p>
                  </a:txBody>
                  <a:tcPr marL="91440" marR="91440" marT="45720" marB="45720">
                    <a:solidFill>
                      <a:srgbClr val="F0F5F7"/>
                    </a:solidFill>
                  </a:tcPr>
                </a:tc>
                <a:tc>
                  <a:txBody>
                    <a:bodyPr/>
                    <a:lstStyle/>
                    <a:p>
                      <a:r>
                        <a:rPr sz="1725" b="0">
                          <a:solidFill>
                            <a:srgbClr val="173746"/>
                          </a:solidFill>
                          <a:latin typeface="Arial"/>
                          <a:ea typeface="Arial"/>
                          <a:cs typeface="Arial"/>
                        </a:rPr>
                        <a:t>44.6%</a:t>
                      </a:r>
                    </a:p>
                  </a:txBody>
                  <a:tcPr marL="91440" marR="91440" marT="45720" marB="45720">
                    <a:solidFill>
                      <a:srgbClr val="F0F5F7"/>
                    </a:solidFill>
                  </a:tcPr>
                </a:tc>
                <a:tc>
                  <a:txBody>
                    <a:bodyPr/>
                    <a:lstStyle/>
                    <a:p>
                      <a:r>
                        <a:rPr sz="1725" b="0">
                          <a:solidFill>
                            <a:srgbClr val="173746"/>
                          </a:solidFill>
                          <a:latin typeface="Arial"/>
                          <a:ea typeface="Arial"/>
                          <a:cs typeface="Arial"/>
                        </a:rPr>
                        <a:t>84.5%</a:t>
                      </a:r>
                    </a:p>
                  </a:txBody>
                  <a:tcPr marL="91440" marR="91440" marT="45720" marB="45720">
                    <a:solidFill>
                      <a:srgbClr val="F0F5F7"/>
                    </a:solidFill>
                  </a:tcPr>
                </a:tc>
                <a:tc>
                  <a:txBody>
                    <a:bodyPr/>
                    <a:lstStyle/>
                    <a:p>
                      <a:r>
                        <a:rPr sz="1725" b="0">
                          <a:solidFill>
                            <a:srgbClr val="173746"/>
                          </a:solidFill>
                          <a:latin typeface="Arial"/>
                          <a:ea typeface="Arial"/>
                          <a:cs typeface="Arial"/>
                        </a:rPr>
                        <a:t>0.764</a:t>
                      </a:r>
                    </a:p>
                  </a:txBody>
                  <a:tcPr marL="91440" marR="91440" marT="45720" marB="45720">
                    <a:solidFill>
                      <a:srgbClr val="F0F5F7"/>
                    </a:solidFill>
                  </a:tcPr>
                </a:tc>
                <a:tc>
                  <a:txBody>
                    <a:bodyPr/>
                    <a:lstStyle/>
                    <a:p>
                      <a:r>
                        <a:rPr sz="1725" b="0">
                          <a:solidFill>
                            <a:srgbClr val="173746"/>
                          </a:solidFill>
                          <a:latin typeface="Arial"/>
                          <a:ea typeface="Arial"/>
                          <a:cs typeface="Arial"/>
                        </a:rPr>
                        <a:t>68.3%</a:t>
                      </a:r>
                    </a:p>
                  </a:txBody>
                  <a:tcPr marL="91440" marR="91440" marT="45720" marB="45720">
                    <a:solidFill>
                      <a:srgbClr val="F0F5F7"/>
                    </a:solidFill>
                  </a:tcPr>
                </a:tc>
                <a:tc>
                  <a:txBody>
                    <a:bodyPr/>
                    <a:lstStyle/>
                    <a:p>
                      <a:r>
                        <a:rPr sz="1725" b="0">
                          <a:solidFill>
                            <a:srgbClr val="173746"/>
                          </a:solidFill>
                          <a:latin typeface="Arial"/>
                          <a:ea typeface="Arial"/>
                          <a:cs typeface="Arial"/>
                        </a:rPr>
                        <a:t>45.0%</a:t>
                      </a:r>
                    </a:p>
                  </a:txBody>
                  <a:tcPr marL="91440" marR="91440" marT="45720" marB="45720">
                    <a:solidFill>
                      <a:srgbClr val="F0F5F7"/>
                    </a:solidFill>
                  </a:tcPr>
                </a:tc>
              </a:tr>
              <a:tr h="457200">
                <a:tc>
                  <a:txBody>
                    <a:bodyPr/>
                    <a:lstStyle/>
                    <a:p>
                      <a:r>
                        <a:rPr sz="1725" b="0">
                          <a:solidFill>
                            <a:srgbClr val="173746"/>
                          </a:solidFill>
                          <a:latin typeface="Arial"/>
                          <a:ea typeface="Arial"/>
                          <a:cs typeface="Arial"/>
                        </a:rPr>
                        <a:t>Rooms / 276</a:t>
                      </a:r>
                    </a:p>
                  </a:txBody>
                  <a:tcPr marL="91440" marR="91440" marT="45720" marB="45720">
                    <a:solidFill>
                      <a:srgbClr val="FFFFFF"/>
                    </a:solidFill>
                  </a:tcPr>
                </a:tc>
                <a:tc>
                  <a:txBody>
                    <a:bodyPr/>
                    <a:lstStyle/>
                    <a:p>
                      <a:r>
                        <a:rPr sz="1725" b="0">
                          <a:solidFill>
                            <a:srgbClr val="173746"/>
                          </a:solidFill>
                          <a:latin typeface="Arial"/>
                          <a:ea typeface="Arial"/>
                          <a:cs typeface="Arial"/>
                        </a:rPr>
                        <a:t>39.1%</a:t>
                      </a:r>
                    </a:p>
                  </a:txBody>
                  <a:tcPr marL="91440" marR="91440" marT="45720" marB="45720">
                    <a:solidFill>
                      <a:srgbClr val="FFFFFF"/>
                    </a:solidFill>
                  </a:tcPr>
                </a:tc>
                <a:tc>
                  <a:txBody>
                    <a:bodyPr/>
                    <a:lstStyle/>
                    <a:p>
                      <a:r>
                        <a:rPr sz="1725" b="0">
                          <a:solidFill>
                            <a:srgbClr val="173746"/>
                          </a:solidFill>
                          <a:latin typeface="Arial"/>
                          <a:ea typeface="Arial"/>
                          <a:cs typeface="Arial"/>
                        </a:rPr>
                        <a:t>80.8%</a:t>
                      </a:r>
                    </a:p>
                  </a:txBody>
                  <a:tcPr marL="91440" marR="91440" marT="45720" marB="45720">
                    <a:solidFill>
                      <a:srgbClr val="FFFFFF"/>
                    </a:solidFill>
                  </a:tcPr>
                </a:tc>
                <a:tc>
                  <a:txBody>
                    <a:bodyPr/>
                    <a:lstStyle/>
                    <a:p>
                      <a:r>
                        <a:rPr sz="1725" b="0">
                          <a:solidFill>
                            <a:srgbClr val="173746"/>
                          </a:solidFill>
                          <a:latin typeface="Arial"/>
                          <a:ea typeface="Arial"/>
                          <a:cs typeface="Arial"/>
                        </a:rPr>
                        <a:t>0.873</a:t>
                      </a:r>
                    </a:p>
                  </a:txBody>
                  <a:tcPr marL="91440" marR="91440" marT="45720" marB="45720">
                    <a:solidFill>
                      <a:srgbClr val="FFFFFF"/>
                    </a:solidFill>
                  </a:tcPr>
                </a:tc>
                <a:tc>
                  <a:txBody>
                    <a:bodyPr/>
                    <a:lstStyle/>
                    <a:p>
                      <a:r>
                        <a:rPr sz="1725" b="0">
                          <a:solidFill>
                            <a:srgbClr val="173746"/>
                          </a:solidFill>
                          <a:latin typeface="Arial"/>
                          <a:ea typeface="Arial"/>
                          <a:cs typeface="Arial"/>
                        </a:rPr>
                        <a:t>60.9%</a:t>
                      </a:r>
                    </a:p>
                  </a:txBody>
                  <a:tcPr marL="91440" marR="91440" marT="45720" marB="45720">
                    <a:solidFill>
                      <a:srgbClr val="FFFFFF"/>
                    </a:solidFill>
                  </a:tcPr>
                </a:tc>
                <a:tc>
                  <a:txBody>
                    <a:bodyPr/>
                    <a:lstStyle/>
                    <a:p>
                      <a:r>
                        <a:rPr sz="1725" b="0">
                          <a:solidFill>
                            <a:srgbClr val="173746"/>
                          </a:solidFill>
                          <a:latin typeface="Arial"/>
                          <a:ea typeface="Arial"/>
                          <a:cs typeface="Arial"/>
                        </a:rPr>
                        <a:t>47.8%</a:t>
                      </a:r>
                    </a:p>
                  </a:txBody>
                  <a:tcPr marL="91440" marR="91440" marT="45720" marB="45720">
                    <a:solidFill>
                      <a:srgbClr val="FFFFFF"/>
                    </a:solidFill>
                  </a:tcPr>
                </a:tc>
              </a:tr>
              <a:tr h="457200">
                <a:tc>
                  <a:txBody>
                    <a:bodyPr/>
                    <a:lstStyle/>
                    <a:p>
                      <a:r>
                        <a:rPr sz="1725" b="0">
                          <a:solidFill>
                            <a:srgbClr val="173746"/>
                          </a:solidFill>
                          <a:latin typeface="Arial"/>
                          <a:ea typeface="Arial"/>
                          <a:cs typeface="Arial"/>
                        </a:rPr>
                        <a:t>Location / 223</a:t>
                      </a:r>
                    </a:p>
                  </a:txBody>
                  <a:tcPr marL="91440" marR="91440" marT="45720" marB="45720">
                    <a:solidFill>
                      <a:srgbClr val="F0F5F7"/>
                    </a:solidFill>
                  </a:tcPr>
                </a:tc>
                <a:tc>
                  <a:txBody>
                    <a:bodyPr/>
                    <a:lstStyle/>
                    <a:p>
                      <a:r>
                        <a:rPr sz="1725" b="0">
                          <a:solidFill>
                            <a:srgbClr val="173746"/>
                          </a:solidFill>
                          <a:latin typeface="Arial"/>
                          <a:ea typeface="Arial"/>
                          <a:cs typeface="Arial"/>
                        </a:rPr>
                        <a:t>42.2%</a:t>
                      </a:r>
                    </a:p>
                  </a:txBody>
                  <a:tcPr marL="91440" marR="91440" marT="45720" marB="45720">
                    <a:solidFill>
                      <a:srgbClr val="F0F5F7"/>
                    </a:solidFill>
                  </a:tcPr>
                </a:tc>
                <a:tc>
                  <a:txBody>
                    <a:bodyPr/>
                    <a:lstStyle/>
                    <a:p>
                      <a:r>
                        <a:rPr sz="1725" b="0">
                          <a:solidFill>
                            <a:srgbClr val="173746"/>
                          </a:solidFill>
                          <a:latin typeface="Arial"/>
                          <a:ea typeface="Arial"/>
                          <a:cs typeface="Arial"/>
                        </a:rPr>
                        <a:t>83.0%</a:t>
                      </a:r>
                    </a:p>
                  </a:txBody>
                  <a:tcPr marL="91440" marR="91440" marT="45720" marB="45720">
                    <a:solidFill>
                      <a:srgbClr val="F0F5F7"/>
                    </a:solidFill>
                  </a:tcPr>
                </a:tc>
                <a:tc>
                  <a:txBody>
                    <a:bodyPr/>
                    <a:lstStyle/>
                    <a:p>
                      <a:r>
                        <a:rPr sz="1725" b="0">
                          <a:solidFill>
                            <a:srgbClr val="173746"/>
                          </a:solidFill>
                          <a:latin typeface="Arial"/>
                          <a:ea typeface="Arial"/>
                          <a:cs typeface="Arial"/>
                        </a:rPr>
                        <a:t>0.807</a:t>
                      </a:r>
                    </a:p>
                  </a:txBody>
                  <a:tcPr marL="91440" marR="91440" marT="45720" marB="45720">
                    <a:solidFill>
                      <a:srgbClr val="F0F5F7"/>
                    </a:solidFill>
                  </a:tcPr>
                </a:tc>
                <a:tc>
                  <a:txBody>
                    <a:bodyPr/>
                    <a:lstStyle/>
                    <a:p>
                      <a:r>
                        <a:rPr sz="1725" b="0">
                          <a:solidFill>
                            <a:srgbClr val="173746"/>
                          </a:solidFill>
                          <a:latin typeface="Arial"/>
                          <a:ea typeface="Arial"/>
                          <a:cs typeface="Arial"/>
                        </a:rPr>
                        <a:t>72.2%</a:t>
                      </a:r>
                    </a:p>
                  </a:txBody>
                  <a:tcPr marL="91440" marR="91440" marT="45720" marB="45720">
                    <a:solidFill>
                      <a:srgbClr val="F0F5F7"/>
                    </a:solidFill>
                  </a:tcPr>
                </a:tc>
                <a:tc>
                  <a:txBody>
                    <a:bodyPr/>
                    <a:lstStyle/>
                    <a:p>
                      <a:r>
                        <a:rPr sz="1725" b="0">
                          <a:solidFill>
                            <a:srgbClr val="173746"/>
                          </a:solidFill>
                          <a:latin typeface="Arial"/>
                          <a:ea typeface="Arial"/>
                          <a:cs typeface="Arial"/>
                        </a:rPr>
                        <a:t>78.9%</a:t>
                      </a:r>
                    </a:p>
                  </a:txBody>
                  <a:tcPr marL="91440" marR="91440" marT="45720" marB="45720">
                    <a:solidFill>
                      <a:srgbClr val="F0F5F7"/>
                    </a:solidFill>
                  </a:tcPr>
                </a:tc>
              </a:tr>
              <a:tr h="457200">
                <a:tc>
                  <a:txBody>
                    <a:bodyPr/>
                    <a:lstStyle/>
                    <a:p>
                      <a:r>
                        <a:rPr sz="1725" b="0">
                          <a:solidFill>
                            <a:srgbClr val="173746"/>
                          </a:solidFill>
                          <a:latin typeface="Arial"/>
                          <a:ea typeface="Arial"/>
                          <a:cs typeface="Arial"/>
                        </a:rPr>
                        <a:t>Value / 279</a:t>
                      </a:r>
                    </a:p>
                  </a:txBody>
                  <a:tcPr marL="91440" marR="91440" marT="45720" marB="45720">
                    <a:solidFill>
                      <a:srgbClr val="FFFFFF"/>
                    </a:solidFill>
                  </a:tcPr>
                </a:tc>
                <a:tc>
                  <a:txBody>
                    <a:bodyPr/>
                    <a:lstStyle/>
                    <a:p>
                      <a:r>
                        <a:rPr sz="1725" b="0">
                          <a:solidFill>
                            <a:srgbClr val="173746"/>
                          </a:solidFill>
                          <a:latin typeface="Arial"/>
                          <a:ea typeface="Arial"/>
                          <a:cs typeface="Arial"/>
                        </a:rPr>
                        <a:t>46.2%</a:t>
                      </a:r>
                    </a:p>
                  </a:txBody>
                  <a:tcPr marL="91440" marR="91440" marT="45720" marB="45720">
                    <a:solidFill>
                      <a:srgbClr val="FFFFFF"/>
                    </a:solidFill>
                  </a:tcPr>
                </a:tc>
                <a:tc>
                  <a:txBody>
                    <a:bodyPr/>
                    <a:lstStyle/>
                    <a:p>
                      <a:r>
                        <a:rPr sz="1725" b="0">
                          <a:solidFill>
                            <a:srgbClr val="173746"/>
                          </a:solidFill>
                          <a:latin typeface="Arial"/>
                          <a:ea typeface="Arial"/>
                          <a:cs typeface="Arial"/>
                        </a:rPr>
                        <a:t>85.3%</a:t>
                      </a:r>
                    </a:p>
                  </a:txBody>
                  <a:tcPr marL="91440" marR="91440" marT="45720" marB="45720">
                    <a:solidFill>
                      <a:srgbClr val="FFFFFF"/>
                    </a:solidFill>
                  </a:tcPr>
                </a:tc>
                <a:tc>
                  <a:txBody>
                    <a:bodyPr/>
                    <a:lstStyle/>
                    <a:p>
                      <a:r>
                        <a:rPr sz="1725" b="0">
                          <a:solidFill>
                            <a:srgbClr val="173746"/>
                          </a:solidFill>
                          <a:latin typeface="Arial"/>
                          <a:ea typeface="Arial"/>
                          <a:cs typeface="Arial"/>
                        </a:rPr>
                        <a:t>0.710</a:t>
                      </a:r>
                    </a:p>
                  </a:txBody>
                  <a:tcPr marL="91440" marR="91440" marT="45720" marB="45720">
                    <a:solidFill>
                      <a:srgbClr val="FFFFFF"/>
                    </a:solidFill>
                  </a:tcPr>
                </a:tc>
                <a:tc>
                  <a:txBody>
                    <a:bodyPr/>
                    <a:lstStyle/>
                    <a:p>
                      <a:r>
                        <a:rPr sz="1725" b="0">
                          <a:solidFill>
                            <a:srgbClr val="173746"/>
                          </a:solidFill>
                          <a:latin typeface="Arial"/>
                          <a:ea typeface="Arial"/>
                          <a:cs typeface="Arial"/>
                        </a:rPr>
                        <a:t>62.4%</a:t>
                      </a:r>
                    </a:p>
                  </a:txBody>
                  <a:tcPr marL="91440" marR="91440" marT="45720" marB="45720">
                    <a:solidFill>
                      <a:srgbClr val="FFFFFF"/>
                    </a:solidFill>
                  </a:tcPr>
                </a:tc>
                <a:tc>
                  <a:txBody>
                    <a:bodyPr/>
                    <a:lstStyle/>
                    <a:p>
                      <a:r>
                        <a:rPr sz="1725" b="0">
                          <a:solidFill>
                            <a:srgbClr val="173746"/>
                          </a:solidFill>
                          <a:latin typeface="Arial"/>
                          <a:ea typeface="Arial"/>
                          <a:cs typeface="Arial"/>
                        </a:rPr>
                        <a:t>37.3%</a:t>
                      </a:r>
                    </a:p>
                  </a:txBody>
                  <a:tcPr marL="91440" marR="91440" marT="45720" marB="45720">
                    <a:solidFill>
                      <a:srgbClr val="FFFFFF"/>
                    </a:solidFill>
                  </a:tcPr>
                </a:tc>
              </a:tr>
              <a:tr h="457200">
                <a:tc>
                  <a:txBody>
                    <a:bodyPr/>
                    <a:lstStyle/>
                    <a:p>
                      <a:r>
                        <a:rPr sz="1725" b="0">
                          <a:solidFill>
                            <a:srgbClr val="173746"/>
                          </a:solidFill>
                          <a:latin typeface="Arial"/>
                          <a:ea typeface="Arial"/>
                          <a:cs typeface="Arial"/>
                        </a:rPr>
                        <a:t>Cleanliness / 278</a:t>
                      </a:r>
                    </a:p>
                  </a:txBody>
                  <a:tcPr marL="91440" marR="91440" marT="45720" marB="45720">
                    <a:solidFill>
                      <a:srgbClr val="F0F5F7"/>
                    </a:solidFill>
                  </a:tcPr>
                </a:tc>
                <a:tc>
                  <a:txBody>
                    <a:bodyPr/>
                    <a:lstStyle/>
                    <a:p>
                      <a:r>
                        <a:rPr sz="1725" b="0">
                          <a:solidFill>
                            <a:srgbClr val="173746"/>
                          </a:solidFill>
                          <a:latin typeface="Arial"/>
                          <a:ea typeface="Arial"/>
                          <a:cs typeface="Arial"/>
                        </a:rPr>
                        <a:t>43.9%</a:t>
                      </a:r>
                    </a:p>
                  </a:txBody>
                  <a:tcPr marL="91440" marR="91440" marT="45720" marB="45720">
                    <a:solidFill>
                      <a:srgbClr val="F0F5F7"/>
                    </a:solidFill>
                  </a:tcPr>
                </a:tc>
                <a:tc>
                  <a:txBody>
                    <a:bodyPr/>
                    <a:lstStyle/>
                    <a:p>
                      <a:r>
                        <a:rPr sz="1725" b="0">
                          <a:solidFill>
                            <a:srgbClr val="173746"/>
                          </a:solidFill>
                          <a:latin typeface="Arial"/>
                          <a:ea typeface="Arial"/>
                          <a:cs typeface="Arial"/>
                        </a:rPr>
                        <a:t>81.7%</a:t>
                      </a:r>
                    </a:p>
                  </a:txBody>
                  <a:tcPr marL="91440" marR="91440" marT="45720" marB="45720">
                    <a:solidFill>
                      <a:srgbClr val="F0F5F7"/>
                    </a:solidFill>
                  </a:tcPr>
                </a:tc>
                <a:tc>
                  <a:txBody>
                    <a:bodyPr/>
                    <a:lstStyle/>
                    <a:p>
                      <a:r>
                        <a:rPr sz="1725" b="0">
                          <a:solidFill>
                            <a:srgbClr val="173746"/>
                          </a:solidFill>
                          <a:latin typeface="Arial"/>
                          <a:ea typeface="Arial"/>
                          <a:cs typeface="Arial"/>
                        </a:rPr>
                        <a:t>0.784</a:t>
                      </a:r>
                    </a:p>
                  </a:txBody>
                  <a:tcPr marL="91440" marR="91440" marT="45720" marB="45720">
                    <a:solidFill>
                      <a:srgbClr val="F0F5F7"/>
                    </a:solidFill>
                  </a:tcPr>
                </a:tc>
                <a:tc>
                  <a:txBody>
                    <a:bodyPr/>
                    <a:lstStyle/>
                    <a:p>
                      <a:r>
                        <a:rPr sz="1725" b="0">
                          <a:solidFill>
                            <a:srgbClr val="173746"/>
                          </a:solidFill>
                          <a:latin typeface="Arial"/>
                          <a:ea typeface="Arial"/>
                          <a:cs typeface="Arial"/>
                        </a:rPr>
                        <a:t>65.1%</a:t>
                      </a:r>
                    </a:p>
                  </a:txBody>
                  <a:tcPr marL="91440" marR="91440" marT="45720" marB="45720">
                    <a:solidFill>
                      <a:srgbClr val="F0F5F7"/>
                    </a:solidFill>
                  </a:tcPr>
                </a:tc>
                <a:tc>
                  <a:txBody>
                    <a:bodyPr/>
                    <a:lstStyle/>
                    <a:p>
                      <a:r>
                        <a:rPr sz="1725" b="0">
                          <a:solidFill>
                            <a:srgbClr val="173746"/>
                          </a:solidFill>
                          <a:latin typeface="Arial"/>
                          <a:ea typeface="Arial"/>
                          <a:cs typeface="Arial"/>
                        </a:rPr>
                        <a:t>61.5%</a:t>
                      </a:r>
                    </a:p>
                  </a:txBody>
                  <a:tcPr marL="91440" marR="91440" marT="45720" marB="45720">
                    <a:solidFill>
                      <a:srgbClr val="F0F5F7"/>
                    </a:solidFill>
                  </a:tcPr>
                </a:tc>
              </a:tr>
              <a:tr h="457200">
                <a:tc>
                  <a:txBody>
                    <a:bodyPr/>
                    <a:lstStyle/>
                    <a:p>
                      <a:r>
                        <a:rPr sz="1725" b="0">
                          <a:solidFill>
                            <a:srgbClr val="173746"/>
                          </a:solidFill>
                          <a:latin typeface="Arial"/>
                          <a:ea typeface="Arial"/>
                          <a:cs typeface="Arial"/>
                        </a:rPr>
                        <a:t>Business / 130</a:t>
                      </a:r>
                    </a:p>
                  </a:txBody>
                  <a:tcPr marL="91440" marR="91440" marT="45720" marB="45720">
                    <a:solidFill>
                      <a:srgbClr val="FFFFFF"/>
                    </a:solidFill>
                  </a:tcPr>
                </a:tc>
                <a:tc>
                  <a:txBody>
                    <a:bodyPr/>
                    <a:lstStyle/>
                    <a:p>
                      <a:r>
                        <a:rPr sz="1725" b="0">
                          <a:solidFill>
                            <a:srgbClr val="173746"/>
                          </a:solidFill>
                          <a:latin typeface="Arial"/>
                          <a:ea typeface="Arial"/>
                          <a:cs typeface="Arial"/>
                        </a:rPr>
                        <a:t>38.5%</a:t>
                      </a:r>
                    </a:p>
                  </a:txBody>
                  <a:tcPr marL="91440" marR="91440" marT="45720" marB="45720">
                    <a:solidFill>
                      <a:srgbClr val="FFFFFF"/>
                    </a:solidFill>
                  </a:tcPr>
                </a:tc>
                <a:tc>
                  <a:txBody>
                    <a:bodyPr/>
                    <a:lstStyle/>
                    <a:p>
                      <a:r>
                        <a:rPr sz="1725" b="0">
                          <a:solidFill>
                            <a:srgbClr val="173746"/>
                          </a:solidFill>
                          <a:latin typeface="Arial"/>
                          <a:ea typeface="Arial"/>
                          <a:cs typeface="Arial"/>
                        </a:rPr>
                        <a:t>76.9%</a:t>
                      </a:r>
                    </a:p>
                  </a:txBody>
                  <a:tcPr marL="91440" marR="91440" marT="45720" marB="45720">
                    <a:solidFill>
                      <a:srgbClr val="FFFFFF"/>
                    </a:solidFill>
                  </a:tcPr>
                </a:tc>
                <a:tc>
                  <a:txBody>
                    <a:bodyPr/>
                    <a:lstStyle/>
                    <a:p>
                      <a:r>
                        <a:rPr sz="1725" b="0">
                          <a:solidFill>
                            <a:srgbClr val="173746"/>
                          </a:solidFill>
                          <a:latin typeface="Arial"/>
                          <a:ea typeface="Arial"/>
                          <a:cs typeface="Arial"/>
                        </a:rPr>
                        <a:t>0.877</a:t>
                      </a:r>
                    </a:p>
                  </a:txBody>
                  <a:tcPr marL="91440" marR="91440" marT="45720" marB="45720">
                    <a:solidFill>
                      <a:srgbClr val="FFFFFF"/>
                    </a:solidFill>
                  </a:tcPr>
                </a:tc>
                <a:tc>
                  <a:txBody>
                    <a:bodyPr/>
                    <a:lstStyle/>
                    <a:p>
                      <a:r>
                        <a:rPr sz="1725" b="0">
                          <a:solidFill>
                            <a:srgbClr val="173746"/>
                          </a:solidFill>
                          <a:latin typeface="Arial"/>
                          <a:ea typeface="Arial"/>
                          <a:cs typeface="Arial"/>
                        </a:rPr>
                        <a:t>55.4%</a:t>
                      </a:r>
                    </a:p>
                  </a:txBody>
                  <a:tcPr marL="91440" marR="91440" marT="45720" marB="45720">
                    <a:solidFill>
                      <a:srgbClr val="FFFFFF"/>
                    </a:solidFill>
                  </a:tcPr>
                </a:tc>
                <a:tc>
                  <a:txBody>
                    <a:bodyPr/>
                    <a:lstStyle/>
                    <a:p>
                      <a:r>
                        <a:rPr sz="1725" b="0">
                          <a:solidFill>
                            <a:srgbClr val="173746"/>
                          </a:solidFill>
                          <a:latin typeface="Arial"/>
                          <a:ea typeface="Arial"/>
                          <a:cs typeface="Arial"/>
                        </a:rPr>
                        <a:t>39.2%</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E24969B3-5BAD-4963-897E-0A3EFCFF555B}"/>
              </a:ext>
            </a:extLst>
          </p:cNvPr>
          <p:cNvSpPr>
            <a:spLocks xmlns:a="http://schemas.openxmlformats.org/drawingml/2006/main" noGrp="1"/>
          </p:cNvSpPr>
          <p:nvPr/>
        </p:nvSpPr>
        <p:spPr>
          <a:xfrm xmlns:a="http://schemas.openxmlformats.org/drawingml/2006/main">
            <a:off x="723900" y="552450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176B87"/>
                </a:solidFill>
                <a:latin typeface="Arial"/>
                <a:ea typeface="Arial"/>
                <a:cs typeface="Arial"/>
              </a:defRPr>
            </a:defPPr>
          </a:lstStyle>
          <a:p xmlns:a="http://schemas.openxmlformats.org/drawingml/2006/main">
            <a:pPr>
              <a:defRPr sz="2025" b="1">
                <a:solidFill>
                  <a:srgbClr val="176B87"/>
                </a:solidFill>
                <a:latin typeface="Arial"/>
                <a:ea typeface="Arial"/>
                <a:cs typeface="Arial"/>
              </a:defRPr>
            </a:pPr>
            <a:r>
              <a:rPr sz="2025" b="1">
                <a:solidFill>
                  <a:srgbClr val="176B87"/>
                </a:solidFill>
                <a:latin typeface="Arial"/>
                <a:ea typeface="Arial"/>
                <a:cs typeface="Arial"/>
              </a:rPr>
              <a:t>Cleanliness gains polarity F1 while its star accuracy and MAE worsen.</a:t>
            </a:r>
          </a:p>
        </p:txBody>
      </p:sp>
    </p:spTree>
    <p:extLst>
      <p:ext uri="{BB962C8B-B14F-4D97-AF65-F5344CB8AC3E}">
        <p14:creationId xmlns:p14="http://schemas.microsoft.com/office/powerpoint/2010/main" val="173638195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632A312-6000-4E87-8FFA-FEF0CD835F1F}"/>
              </a:ext>
            </a:extLst>
          </p:cNvPr>
          <p:cNvSpPr>
            <a:spLocks xmlns:a="http://schemas.openxmlformats.org/drawingml/2006/main" noGrp="1"/>
          </p:cNvSpPr>
          <p:nvPr/>
        </p:nvSpPr>
        <p:spPr>
          <a:xfrm xmlns:a="http://schemas.openxmlformats.org/drawingml/2006/main">
            <a:off x="609600" y="40005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225" b="1">
                <a:solidFill>
                  <a:srgbClr val="173746"/>
                </a:solidFill>
                <a:latin typeface="Arial"/>
                <a:ea typeface="Arial"/>
                <a:cs typeface="Arial"/>
              </a:defRPr>
            </a:defPPr>
          </a:lstStyle>
          <a:p xmlns:a="http://schemas.openxmlformats.org/drawingml/2006/main">
            <a:pPr>
              <a:defRPr sz="3225" b="1">
                <a:solidFill>
                  <a:srgbClr val="173746"/>
                </a:solidFill>
                <a:latin typeface="Arial"/>
                <a:ea typeface="Arial"/>
                <a:cs typeface="Arial"/>
              </a:defRPr>
            </a:pPr>
            <a:r>
              <a:rPr sz="3225" b="1">
                <a:solidFill>
                  <a:srgbClr val="173746"/>
                </a:solidFill>
                <a:latin typeface="Arial"/>
                <a:ea typeface="Arial"/>
                <a:cs typeface="Arial"/>
              </a:rPr>
              <a:t>Location and Business Service</a:t>
            </a:r>
          </a:p>
        </p:txBody>
      </p:sp>
      <p:sp>
        <p:nvSpPr>
          <p:cNvPr id="2" name="">
            <a:extLst xmlns:a="http://schemas.openxmlformats.org/drawingml/2006/main">
              <a:ext uri="{FF2B5EF4-FFF2-40B4-BE49-F238E27FC236}">
                <a16:creationId xmlns:a16="http://schemas.microsoft.com/office/drawing/2014/main" id="{6EB72FA9-AF8E-42FA-B8E7-04084D3E5F85}"/>
              </a:ext>
            </a:extLst>
          </p:cNvPr>
          <p:cNvSpPr>
            <a:spLocks xmlns:a="http://schemas.openxmlformats.org/drawingml/2006/main" noGrp="1"/>
          </p:cNvSpPr>
          <p:nvPr/>
        </p:nvSpPr>
        <p:spPr>
          <a:xfrm xmlns:a="http://schemas.openxmlformats.org/drawingml/2006/main">
            <a:off x="609600" y="641985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53646C"/>
                </a:solidFill>
                <a:latin typeface="Arial"/>
                <a:ea typeface="Arial"/>
                <a:cs typeface="Arial"/>
              </a:defRPr>
            </a:defPPr>
          </a:lstStyle>
          <a:p xmlns:a="http://schemas.openxmlformats.org/drawingml/2006/main">
            <a:pPr>
              <a:defRPr sz="1200" b="0">
                <a:solidFill>
                  <a:srgbClr val="53646C"/>
                </a:solidFill>
                <a:latin typeface="Arial"/>
                <a:ea typeface="Arial"/>
                <a:cs typeface="Arial"/>
              </a:defRPr>
            </a:pPr>
            <a:r>
              <a:rPr sz="1200" b="0">
                <a:solidFill>
                  <a:srgbClr val="53646C"/>
                </a:solidFill>
                <a:latin typeface="Arial"/>
                <a:ea typeface="Arial"/>
                <a:cs typeface="Arial"/>
              </a:rPr>
              <a:t>Team 22   UE24CS352A                                     8</a:t>
            </a:r>
          </a:p>
        </p:txBody>
      </p:sp>
      <p:sp>
        <p:nvSpPr>
          <p:cNvPr id="3" name="">
            <a:extLst xmlns:a="http://schemas.openxmlformats.org/drawingml/2006/main">
              <a:ext uri="{FF2B5EF4-FFF2-40B4-BE49-F238E27FC236}">
                <a16:creationId xmlns:a16="http://schemas.microsoft.com/office/drawing/2014/main" id="{22E0CC96-7147-4AAC-9DE8-A74FE8BB0D01}"/>
              </a:ext>
            </a:extLst>
          </p:cNvPr>
          <p:cNvSpPr>
            <a:spLocks xmlns:a="http://schemas.openxmlformats.org/drawingml/2006/main" noGrp="1"/>
          </p:cNvSpPr>
          <p:nvPr/>
        </p:nvSpPr>
        <p:spPr>
          <a:xfrm xmlns:a="http://schemas.openxmlformats.org/drawingml/2006/main">
            <a:off x="723900" y="1495425"/>
            <a:ext cx="5048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75" b="1">
                <a:solidFill>
                  <a:srgbClr val="176B87"/>
                </a:solidFill>
                <a:latin typeface="Arial"/>
                <a:ea typeface="Arial"/>
                <a:cs typeface="Arial"/>
              </a:defRPr>
            </a:defPPr>
          </a:lstStyle>
          <a:p xmlns:a="http://schemas.openxmlformats.org/drawingml/2006/main">
            <a:pPr>
              <a:defRPr sz="2475" b="1">
                <a:solidFill>
                  <a:srgbClr val="176B87"/>
                </a:solidFill>
                <a:latin typeface="Arial"/>
                <a:ea typeface="Arial"/>
                <a:cs typeface="Arial"/>
              </a:defRPr>
            </a:pPr>
            <a:r>
              <a:rPr sz="2475" b="1">
                <a:solidFill>
                  <a:srgbClr val="176B87"/>
                </a:solidFill>
                <a:latin typeface="Arial"/>
                <a:ea typeface="Arial"/>
                <a:cs typeface="Arial"/>
              </a:rPr>
              <a:t>Location</a:t>
            </a:r>
          </a:p>
        </p:txBody>
      </p:sp>
      <p:sp>
        <p:nvSpPr>
          <p:cNvPr id="4" name="">
            <a:extLst xmlns:a="http://schemas.openxmlformats.org/drawingml/2006/main">
              <a:ext uri="{FF2B5EF4-FFF2-40B4-BE49-F238E27FC236}">
                <a16:creationId xmlns:a16="http://schemas.microsoft.com/office/drawing/2014/main" id="{DD3CCCB4-98AD-4565-BA26-317F27216888}"/>
              </a:ext>
            </a:extLst>
          </p:cNvPr>
          <p:cNvSpPr>
            <a:spLocks xmlns:a="http://schemas.openxmlformats.org/drawingml/2006/main" noGrp="1"/>
          </p:cNvSpPr>
          <p:nvPr/>
        </p:nvSpPr>
        <p:spPr>
          <a:xfrm xmlns:a="http://schemas.openxmlformats.org/drawingml/2006/main">
            <a:off x="723900" y="2286000"/>
            <a:ext cx="50958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73746"/>
                </a:solidFill>
                <a:latin typeface="Arial"/>
                <a:ea typeface="Arial"/>
                <a:cs typeface="Arial"/>
              </a:defRPr>
            </a:defPPr>
          </a:lstStyle>
          <a:p xmlns:a="http://schemas.openxmlformats.org/drawingml/2006/main">
            <a:pPr>
              <a:defRPr sz="2175" b="0">
                <a:solidFill>
                  <a:srgbClr val="173746"/>
                </a:solidFill>
                <a:latin typeface="Arial"/>
                <a:ea typeface="Arial"/>
                <a:cs typeface="Arial"/>
              </a:defRPr>
            </a:pPr>
            <a:r>
              <a:rPr sz="2175" b="0">
                <a:solidFill>
                  <a:srgbClr val="173746"/>
                </a:solidFill>
                <a:latin typeface="Arial"/>
                <a:ea typeface="Arial"/>
                <a:cs typeface="Arial"/>
              </a:rPr>
              <a:t>176 of 223 test labels are positive.</a:t>
            </a:r>
          </a:p>
          <a:p xmlns:a="http://schemas.openxmlformats.org/drawingml/2006/main">
            <a:r>
              <a:t/>
            </a:r>
          </a:p>
          <a:p xmlns:a="http://schemas.openxmlformats.org/drawingml/2006/main">
            <a:pPr>
              <a:defRPr sz="2175" b="0">
                <a:solidFill>
                  <a:srgbClr val="173746"/>
                </a:solidFill>
                <a:latin typeface="Arial"/>
                <a:ea typeface="Arial"/>
                <a:cs typeface="Arial"/>
              </a:defRPr>
            </a:pPr>
            <a:r>
              <a:rPr sz="2175" b="0">
                <a:solidFill>
                  <a:srgbClr val="173746"/>
                </a:solidFill>
                <a:latin typeface="Arial"/>
                <a:ea typeface="Arial"/>
                <a:cs typeface="Arial"/>
              </a:rPr>
              <a:t>Negative recall: 10.0%</a:t>
            </a:r>
          </a:p>
          <a:p xmlns:a="http://schemas.openxmlformats.org/drawingml/2006/main">
            <a:pPr>
              <a:defRPr sz="2175" b="0">
                <a:solidFill>
                  <a:srgbClr val="173746"/>
                </a:solidFill>
                <a:latin typeface="Arial"/>
                <a:ea typeface="Arial"/>
                <a:cs typeface="Arial"/>
              </a:defRPr>
            </a:pPr>
            <a:r>
              <a:rPr sz="2175" b="0">
                <a:solidFill>
                  <a:srgbClr val="173746"/>
                </a:solidFill>
                <a:latin typeface="Arial"/>
                <a:ea typeface="Arial"/>
                <a:cs typeface="Arial"/>
              </a:rPr>
              <a:t>Neutral recall: 14.8%</a:t>
            </a:r>
          </a:p>
          <a:p xmlns:a="http://schemas.openxmlformats.org/drawingml/2006/main">
            <a:r>
              <a:t/>
            </a:r>
          </a:p>
          <a:p xmlns:a="http://schemas.openxmlformats.org/drawingml/2006/main">
            <a:pPr>
              <a:defRPr sz="2175" b="0">
                <a:solidFill>
                  <a:srgbClr val="173746"/>
                </a:solidFill>
                <a:latin typeface="Arial"/>
                <a:ea typeface="Arial"/>
                <a:cs typeface="Arial"/>
              </a:defRPr>
            </a:pPr>
            <a:r>
              <a:rPr sz="2175" b="0">
                <a:solidFill>
                  <a:srgbClr val="173746"/>
                </a:solidFill>
                <a:latin typeface="Arial"/>
                <a:ea typeface="Arial"/>
                <a:cs typeface="Arial"/>
              </a:rPr>
              <a:t>72.2% polarity accuracy trails</a:t>
            </a:r>
          </a:p>
          <a:p xmlns:a="http://schemas.openxmlformats.org/drawingml/2006/main">
            <a:pPr>
              <a:defRPr sz="2175" b="0">
                <a:solidFill>
                  <a:srgbClr val="173746"/>
                </a:solidFill>
                <a:latin typeface="Arial"/>
                <a:ea typeface="Arial"/>
                <a:cs typeface="Arial"/>
              </a:defRPr>
            </a:pPr>
            <a:r>
              <a:rPr sz="2175" b="0">
                <a:solidFill>
                  <a:srgbClr val="173746"/>
                </a:solidFill>
                <a:latin typeface="Arial"/>
                <a:ea typeface="Arial"/>
                <a:cs typeface="Arial"/>
              </a:rPr>
              <a:t>the 78.9% majority baseline.</a:t>
            </a:r>
          </a:p>
        </p:txBody>
      </p:sp>
      <p:sp>
        <p:nvSpPr>
          <p:cNvPr id="5" name="">
            <a:extLst xmlns:a="http://schemas.openxmlformats.org/drawingml/2006/main">
              <a:ext uri="{FF2B5EF4-FFF2-40B4-BE49-F238E27FC236}">
                <a16:creationId xmlns:a16="http://schemas.microsoft.com/office/drawing/2014/main" id="{934873FE-2F50-422C-A675-740D73713A6D}"/>
              </a:ext>
            </a:extLst>
          </p:cNvPr>
          <p:cNvSpPr>
            <a:spLocks xmlns:a="http://schemas.openxmlformats.org/drawingml/2006/main" noGrp="1"/>
          </p:cNvSpPr>
          <p:nvPr/>
        </p:nvSpPr>
        <p:spPr>
          <a:xfrm xmlns:a="http://schemas.openxmlformats.org/drawingml/2006/main">
            <a:off x="6496050" y="1495425"/>
            <a:ext cx="5048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75" b="1">
                <a:solidFill>
                  <a:srgbClr val="176B87"/>
                </a:solidFill>
                <a:latin typeface="Arial"/>
                <a:ea typeface="Arial"/>
                <a:cs typeface="Arial"/>
              </a:defRPr>
            </a:defPPr>
          </a:lstStyle>
          <a:p xmlns:a="http://schemas.openxmlformats.org/drawingml/2006/main">
            <a:pPr>
              <a:defRPr sz="2475" b="1">
                <a:solidFill>
                  <a:srgbClr val="176B87"/>
                </a:solidFill>
                <a:latin typeface="Arial"/>
                <a:ea typeface="Arial"/>
                <a:cs typeface="Arial"/>
              </a:defRPr>
            </a:pPr>
            <a:r>
              <a:rPr sz="2475" b="1">
                <a:solidFill>
                  <a:srgbClr val="176B87"/>
                </a:solidFill>
                <a:latin typeface="Arial"/>
                <a:ea typeface="Arial"/>
                <a:cs typeface="Arial"/>
              </a:rPr>
              <a:t>Business Service</a:t>
            </a:r>
          </a:p>
        </p:txBody>
      </p:sp>
      <p:sp>
        <p:nvSpPr>
          <p:cNvPr id="6" name="">
            <a:extLst xmlns:a="http://schemas.openxmlformats.org/drawingml/2006/main">
              <a:ext uri="{FF2B5EF4-FFF2-40B4-BE49-F238E27FC236}">
                <a16:creationId xmlns:a16="http://schemas.microsoft.com/office/drawing/2014/main" id="{399E4325-74B7-4772-8BB4-D6DD59E5EA01}"/>
              </a:ext>
            </a:extLst>
          </p:cNvPr>
          <p:cNvSpPr>
            <a:spLocks xmlns:a="http://schemas.openxmlformats.org/drawingml/2006/main" noGrp="1"/>
          </p:cNvSpPr>
          <p:nvPr/>
        </p:nvSpPr>
        <p:spPr>
          <a:xfrm xmlns:a="http://schemas.openxmlformats.org/drawingml/2006/main">
            <a:off x="6496050" y="2286000"/>
            <a:ext cx="50958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73746"/>
                </a:solidFill>
                <a:latin typeface="Arial"/>
                <a:ea typeface="Arial"/>
                <a:cs typeface="Arial"/>
              </a:defRPr>
            </a:defPPr>
          </a:lstStyle>
          <a:p xmlns:a="http://schemas.openxmlformats.org/drawingml/2006/main">
            <a:pPr>
              <a:defRPr sz="2175" b="0">
                <a:solidFill>
                  <a:srgbClr val="173746"/>
                </a:solidFill>
                <a:latin typeface="Arial"/>
                <a:ea typeface="Arial"/>
                <a:cs typeface="Arial"/>
              </a:defRPr>
            </a:pPr>
            <a:r>
              <a:rPr sz="2175" b="0">
                <a:solidFill>
                  <a:srgbClr val="173746"/>
                </a:solidFill>
                <a:latin typeface="Arial"/>
                <a:ea typeface="Arial"/>
                <a:cs typeface="Arial"/>
              </a:rPr>
              <a:t>Only 772 observed labels.</a:t>
            </a:r>
          </a:p>
          <a:p xmlns:a="http://schemas.openxmlformats.org/drawingml/2006/main">
            <a:r>
              <a:t/>
            </a:r>
          </a:p>
          <a:p xmlns:a="http://schemas.openxmlformats.org/drawingml/2006/main">
            <a:pPr>
              <a:defRPr sz="2175" b="0">
                <a:solidFill>
                  <a:srgbClr val="173746"/>
                </a:solidFill>
                <a:latin typeface="Arial"/>
                <a:ea typeface="Arial"/>
                <a:cs typeface="Arial"/>
              </a:defRPr>
            </a:pPr>
            <a:r>
              <a:rPr sz="2175" b="0">
                <a:solidFill>
                  <a:srgbClr val="173746"/>
                </a:solidFill>
                <a:latin typeface="Arial"/>
                <a:ea typeface="Arial"/>
                <a:cs typeface="Arial"/>
              </a:rPr>
              <a:t>Test macro-F1: 0.558</a:t>
            </a:r>
          </a:p>
          <a:p xmlns:a="http://schemas.openxmlformats.org/drawingml/2006/main">
            <a:pPr>
              <a:defRPr sz="2175" b="0">
                <a:solidFill>
                  <a:srgbClr val="173746"/>
                </a:solidFill>
                <a:latin typeface="Arial"/>
                <a:ea typeface="Arial"/>
                <a:cs typeface="Arial"/>
              </a:defRPr>
            </a:pPr>
            <a:r>
              <a:rPr sz="2175" b="0">
                <a:solidFill>
                  <a:srgbClr val="173746"/>
                </a:solidFill>
                <a:latin typeface="Arial"/>
                <a:ea typeface="Arial"/>
                <a:cs typeface="Arial"/>
              </a:rPr>
              <a:t>Positive recall: 41.2%</a:t>
            </a:r>
          </a:p>
          <a:p xmlns:a="http://schemas.openxmlformats.org/drawingml/2006/main">
            <a:r>
              <a:t/>
            </a:r>
          </a:p>
          <a:p xmlns:a="http://schemas.openxmlformats.org/drawingml/2006/main">
            <a:pPr>
              <a:defRPr sz="2175" b="0">
                <a:solidFill>
                  <a:srgbClr val="173746"/>
                </a:solidFill>
                <a:latin typeface="Arial"/>
                <a:ea typeface="Arial"/>
                <a:cs typeface="Arial"/>
              </a:defRPr>
            </a:pPr>
            <a:r>
              <a:rPr sz="2175" b="0">
                <a:solidFill>
                  <a:srgbClr val="173746"/>
                </a:solidFill>
                <a:latin typeface="Arial"/>
                <a:ea typeface="Arial"/>
                <a:cs typeface="Arial"/>
              </a:rPr>
              <a:t>55.4% polarity accuracy exceeds</a:t>
            </a:r>
          </a:p>
          <a:p xmlns:a="http://schemas.openxmlformats.org/drawingml/2006/main">
            <a:pPr>
              <a:defRPr sz="2175" b="0">
                <a:solidFill>
                  <a:srgbClr val="173746"/>
                </a:solidFill>
                <a:latin typeface="Arial"/>
                <a:ea typeface="Arial"/>
                <a:cs typeface="Arial"/>
              </a:defRPr>
            </a:pPr>
            <a:r>
              <a:rPr sz="2175" b="0">
                <a:solidFill>
                  <a:srgbClr val="173746"/>
                </a:solidFill>
                <a:latin typeface="Arial"/>
                <a:ea typeface="Arial"/>
                <a:cs typeface="Arial"/>
              </a:rPr>
              <a:t>the 39.2% majority baseline.</a:t>
            </a:r>
          </a:p>
        </p:txBody>
      </p:sp>
      <p:sp>
        <p:nvSpPr>
          <p:cNvPr id="7" name="">
            <a:extLst xmlns:a="http://schemas.openxmlformats.org/drawingml/2006/main">
              <a:ext uri="{FF2B5EF4-FFF2-40B4-BE49-F238E27FC236}">
                <a16:creationId xmlns:a16="http://schemas.microsoft.com/office/drawing/2014/main" id="{8BCE884F-00CE-4B63-8159-DC26935AC9E2}"/>
              </a:ext>
            </a:extLst>
          </p:cNvPr>
          <p:cNvSpPr>
            <a:spLocks xmlns:a="http://schemas.openxmlformats.org/drawingml/2006/main" noGrp="1"/>
          </p:cNvSpPr>
          <p:nvPr/>
        </p:nvSpPr>
        <p:spPr>
          <a:xfrm xmlns:a="http://schemas.openxmlformats.org/drawingml/2006/main">
            <a:off x="723900" y="5686425"/>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173746"/>
                </a:solidFill>
                <a:latin typeface="Arial"/>
                <a:ea typeface="Arial"/>
                <a:cs typeface="Arial"/>
              </a:defRPr>
            </a:defPPr>
          </a:lstStyle>
          <a:p xmlns:a="http://schemas.openxmlformats.org/drawingml/2006/main">
            <a:pPr>
              <a:defRPr sz="1950" b="1">
                <a:solidFill>
                  <a:srgbClr val="173746"/>
                </a:solidFill>
                <a:latin typeface="Arial"/>
                <a:ea typeface="Arial"/>
                <a:cs typeface="Arial"/>
              </a:defRPr>
            </a:pPr>
            <a:r>
              <a:rPr sz="1950" b="1">
                <a:solidFill>
                  <a:srgbClr val="173746"/>
                </a:solidFill>
                <a:latin typeface="Arial"/>
                <a:ea typeface="Arial"/>
                <a:cs typeface="Arial"/>
              </a:rPr>
              <a:t>Routing cannot repair missing supervision or every learned lexical error.</a:t>
            </a:r>
          </a:p>
        </p:txBody>
      </p:sp>
    </p:spTree>
    <p:extLst>
      <p:ext uri="{BB962C8B-B14F-4D97-AF65-F5344CB8AC3E}">
        <p14:creationId xmlns:p14="http://schemas.microsoft.com/office/powerpoint/2010/main" val="173725066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8CCC183-EE98-4079-BB39-D1294D8E551E}"/>
              </a:ext>
            </a:extLst>
          </p:cNvPr>
          <p:cNvSpPr>
            <a:spLocks xmlns:a="http://schemas.openxmlformats.org/drawingml/2006/main" noGrp="1"/>
          </p:cNvSpPr>
          <p:nvPr/>
        </p:nvSpPr>
        <p:spPr>
          <a:xfrm xmlns:a="http://schemas.openxmlformats.org/drawingml/2006/main">
            <a:off x="609600" y="40005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225" b="1">
                <a:solidFill>
                  <a:srgbClr val="173746"/>
                </a:solidFill>
                <a:latin typeface="Arial"/>
                <a:ea typeface="Arial"/>
                <a:cs typeface="Arial"/>
              </a:defRPr>
            </a:defPPr>
          </a:lstStyle>
          <a:p xmlns:a="http://schemas.openxmlformats.org/drawingml/2006/main">
            <a:pPr>
              <a:defRPr sz="3225" b="1">
                <a:solidFill>
                  <a:srgbClr val="173746"/>
                </a:solidFill>
                <a:latin typeface="Arial"/>
                <a:ea typeface="Arial"/>
                <a:cs typeface="Arial"/>
              </a:defRPr>
            </a:pPr>
            <a:r>
              <a:rPr sz="3225" b="1">
                <a:solidFill>
                  <a:srgbClr val="173746"/>
                </a:solidFill>
                <a:latin typeface="Arial"/>
                <a:ea typeface="Arial"/>
                <a:cs typeface="Arial"/>
              </a:rPr>
              <a:t>Confidence and prediction coverage</a:t>
            </a:r>
          </a:p>
        </p:txBody>
      </p:sp>
      <p:sp>
        <p:nvSpPr>
          <p:cNvPr id="2" name="">
            <a:extLst xmlns:a="http://schemas.openxmlformats.org/drawingml/2006/main">
              <a:ext uri="{FF2B5EF4-FFF2-40B4-BE49-F238E27FC236}">
                <a16:creationId xmlns:a16="http://schemas.microsoft.com/office/drawing/2014/main" id="{23122259-4507-4F94-A1C4-6FAFB7092343}"/>
              </a:ext>
            </a:extLst>
          </p:cNvPr>
          <p:cNvSpPr>
            <a:spLocks xmlns:a="http://schemas.openxmlformats.org/drawingml/2006/main" noGrp="1"/>
          </p:cNvSpPr>
          <p:nvPr/>
        </p:nvSpPr>
        <p:spPr>
          <a:xfrm xmlns:a="http://schemas.openxmlformats.org/drawingml/2006/main">
            <a:off x="609600" y="641985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53646C"/>
                </a:solidFill>
                <a:latin typeface="Arial"/>
                <a:ea typeface="Arial"/>
                <a:cs typeface="Arial"/>
              </a:defRPr>
            </a:defPPr>
          </a:lstStyle>
          <a:p xmlns:a="http://schemas.openxmlformats.org/drawingml/2006/main">
            <a:pPr>
              <a:defRPr sz="1200" b="0">
                <a:solidFill>
                  <a:srgbClr val="53646C"/>
                </a:solidFill>
                <a:latin typeface="Arial"/>
                <a:ea typeface="Arial"/>
                <a:cs typeface="Arial"/>
              </a:defRPr>
            </a:pPr>
            <a:r>
              <a:rPr sz="1200" b="0">
                <a:solidFill>
                  <a:srgbClr val="53646C"/>
                </a:solidFill>
                <a:latin typeface="Arial"/>
                <a:ea typeface="Arial"/>
                <a:cs typeface="Arial"/>
              </a:rPr>
              <a:t>Team 22   UE24CS352A                                     9</a:t>
            </a:r>
          </a:p>
        </p:txBody>
      </p:sp>
      <p:graphicFrame>
        <p:nvGraphicFramePr>
          <p:cNvPr id="3" name="">
            <a:extLst xmlns:a="http://schemas.openxmlformats.org/drawingml/2006/main">
              <a:ext uri="{FF2B5EF4-FFF2-40B4-BE49-F238E27FC236}">
                <a16:creationId xmlns:a16="http://schemas.microsoft.com/office/drawing/2014/main" id="{6EF56333-754F-47A3-838A-1E65004FC1DB}"/>
              </a:ext>
            </a:extLst>
          </p:cNvPr>
          <p:cNvGraphicFramePr/>
          <p:nvPr/>
        </p:nvGraphicFramePr>
        <p:xfrm>
          <a:off xmlns:a="http://schemas.openxmlformats.org/drawingml/2006/main" x="609600" y="1504950"/>
          <a:ext xmlns:a="http://schemas.openxmlformats.org/drawingml/2006/main" cx="10972800" cy="3657600"/>
        </p:xfrm>
        <a:graphic xmlns:a="http://schemas.openxmlformats.org/drawingml/2006/main">
          <a:graphicData uri="http://schemas.openxmlformats.org/drawingml/2006/table">
            <a:tbl>
              <a:tblPr/>
              <a:tblGrid>
                <a:gridCol w="3000375"/>
                <a:gridCol w="2733675"/>
                <a:gridCol w="2619375"/>
                <a:gridCol w="2619375"/>
              </a:tblGrid>
              <a:tr h="457200">
                <a:tc>
                  <a:txBody>
                    <a:bodyPr/>
                    <a:lstStyle/>
                    <a:p>
                      <a:r>
                        <a:rPr sz="1725" b="1">
                          <a:solidFill>
                            <a:srgbClr val="FFFFFF"/>
                          </a:solidFill>
                          <a:latin typeface="Arial"/>
                          <a:ea typeface="Arial"/>
                          <a:cs typeface="Arial"/>
                        </a:rPr>
                        <a:t>Target</a:t>
                      </a:r>
                    </a:p>
                  </a:txBody>
                  <a:tcPr marL="91440" marR="91440" marT="45720" marB="45720">
                    <a:solidFill>
                      <a:srgbClr val="173746"/>
                    </a:solidFill>
                  </a:tcPr>
                </a:tc>
                <a:tc>
                  <a:txBody>
                    <a:bodyPr/>
                    <a:lstStyle/>
                    <a:p>
                      <a:r>
                        <a:rPr sz="1725" b="1">
                          <a:solidFill>
                            <a:srgbClr val="FFFFFF"/>
                          </a:solidFill>
                          <a:latin typeface="Arial"/>
                          <a:ea typeface="Arial"/>
                          <a:cs typeface="Arial"/>
                        </a:rPr>
                        <a:t>All-row accuracy</a:t>
                      </a:r>
                    </a:p>
                  </a:txBody>
                  <a:tcPr marL="91440" marR="91440" marT="45720" marB="45720">
                    <a:solidFill>
                      <a:srgbClr val="173746"/>
                    </a:solidFill>
                  </a:tcPr>
                </a:tc>
                <a:tc>
                  <a:txBody>
                    <a:bodyPr/>
                    <a:lstStyle/>
                    <a:p>
                      <a:r>
                        <a:rPr sz="1725" b="1">
                          <a:solidFill>
                            <a:srgbClr val="FFFFFF"/>
                          </a:solidFill>
                          <a:latin typeface="Arial"/>
                          <a:ea typeface="Arial"/>
                          <a:cs typeface="Arial"/>
                        </a:rPr>
                        <a:t>UI coverage</a:t>
                      </a:r>
                    </a:p>
                  </a:txBody>
                  <a:tcPr marL="91440" marR="91440" marT="45720" marB="45720">
                    <a:solidFill>
                      <a:srgbClr val="173746"/>
                    </a:solidFill>
                  </a:tcPr>
                </a:tc>
                <a:tc>
                  <a:txBody>
                    <a:bodyPr/>
                    <a:lstStyle/>
                    <a:p>
                      <a:r>
                        <a:rPr sz="1725" b="1">
                          <a:solidFill>
                            <a:srgbClr val="FFFFFF"/>
                          </a:solidFill>
                          <a:latin typeface="Arial"/>
                          <a:ea typeface="Arial"/>
                          <a:cs typeface="Arial"/>
                        </a:rPr>
                        <a:t>UI accuracy</a:t>
                      </a:r>
                    </a:p>
                  </a:txBody>
                  <a:tcPr marL="91440" marR="91440" marT="45720" marB="45720">
                    <a:solidFill>
                      <a:srgbClr val="173746"/>
                    </a:solidFill>
                  </a:tcPr>
                </a:tc>
              </a:tr>
              <a:tr h="457200">
                <a:tc>
                  <a:txBody>
                    <a:bodyPr/>
                    <a:lstStyle/>
                    <a:p>
                      <a:r>
                        <a:rPr sz="1725" b="0">
                          <a:solidFill>
                            <a:srgbClr val="173746"/>
                          </a:solidFill>
                          <a:latin typeface="Arial"/>
                          <a:ea typeface="Arial"/>
                          <a:cs typeface="Arial"/>
                        </a:rPr>
                        <a:t>Overall</a:t>
                      </a:r>
                    </a:p>
                  </a:txBody>
                  <a:tcPr marL="91440" marR="91440" marT="45720" marB="45720">
                    <a:solidFill>
                      <a:srgbClr val="FFFFFF"/>
                    </a:solidFill>
                  </a:tcPr>
                </a:tc>
                <a:tc>
                  <a:txBody>
                    <a:bodyPr/>
                    <a:lstStyle/>
                    <a:p>
                      <a:r>
                        <a:rPr sz="1725" b="0">
                          <a:solidFill>
                            <a:srgbClr val="173746"/>
                          </a:solidFill>
                          <a:latin typeface="Arial"/>
                          <a:ea typeface="Arial"/>
                          <a:cs typeface="Arial"/>
                        </a:rPr>
                        <a:t>74.6%</a:t>
                      </a:r>
                    </a:p>
                  </a:txBody>
                  <a:tcPr marL="91440" marR="91440" marT="45720" marB="45720">
                    <a:solidFill>
                      <a:srgbClr val="FFFFFF"/>
                    </a:solidFill>
                  </a:tcPr>
                </a:tc>
                <a:tc>
                  <a:txBody>
                    <a:bodyPr/>
                    <a:lstStyle/>
                    <a:p>
                      <a:r>
                        <a:rPr sz="1725" b="0">
                          <a:solidFill>
                            <a:srgbClr val="173746"/>
                          </a:solidFill>
                          <a:latin typeface="Arial"/>
                          <a:ea typeface="Arial"/>
                          <a:cs typeface="Arial"/>
                        </a:rPr>
                        <a:t>61.6%</a:t>
                      </a:r>
                    </a:p>
                  </a:txBody>
                  <a:tcPr marL="91440" marR="91440" marT="45720" marB="45720">
                    <a:solidFill>
                      <a:srgbClr val="FFFFFF"/>
                    </a:solidFill>
                  </a:tcPr>
                </a:tc>
                <a:tc>
                  <a:txBody>
                    <a:bodyPr/>
                    <a:lstStyle/>
                    <a:p>
                      <a:r>
                        <a:rPr sz="1725" b="0">
                          <a:solidFill>
                            <a:srgbClr val="173746"/>
                          </a:solidFill>
                          <a:latin typeface="Arial"/>
                          <a:ea typeface="Arial"/>
                          <a:cs typeface="Arial"/>
                        </a:rPr>
                        <a:t>88.2%</a:t>
                      </a:r>
                    </a:p>
                  </a:txBody>
                  <a:tcPr marL="91440" marR="91440" marT="45720" marB="45720">
                    <a:solidFill>
                      <a:srgbClr val="FFFFFF"/>
                    </a:solidFill>
                  </a:tcPr>
                </a:tc>
              </a:tr>
              <a:tr h="457200">
                <a:tc>
                  <a:txBody>
                    <a:bodyPr/>
                    <a:lstStyle/>
                    <a:p>
                      <a:r>
                        <a:rPr sz="1725" b="0">
                          <a:solidFill>
                            <a:srgbClr val="173746"/>
                          </a:solidFill>
                          <a:latin typeface="Arial"/>
                          <a:ea typeface="Arial"/>
                          <a:cs typeface="Arial"/>
                        </a:rPr>
                        <a:t>Service</a:t>
                      </a:r>
                    </a:p>
                  </a:txBody>
                  <a:tcPr marL="91440" marR="91440" marT="45720" marB="45720">
                    <a:solidFill>
                      <a:srgbClr val="F0F5F7"/>
                    </a:solidFill>
                  </a:tcPr>
                </a:tc>
                <a:tc>
                  <a:txBody>
                    <a:bodyPr/>
                    <a:lstStyle/>
                    <a:p>
                      <a:r>
                        <a:rPr sz="1725" b="0">
                          <a:solidFill>
                            <a:srgbClr val="173746"/>
                          </a:solidFill>
                          <a:latin typeface="Arial"/>
                          <a:ea typeface="Arial"/>
                          <a:cs typeface="Arial"/>
                        </a:rPr>
                        <a:t>68.3%</a:t>
                      </a:r>
                    </a:p>
                  </a:txBody>
                  <a:tcPr marL="91440" marR="91440" marT="45720" marB="45720">
                    <a:solidFill>
                      <a:srgbClr val="F0F5F7"/>
                    </a:solidFill>
                  </a:tcPr>
                </a:tc>
                <a:tc>
                  <a:txBody>
                    <a:bodyPr/>
                    <a:lstStyle/>
                    <a:p>
                      <a:r>
                        <a:rPr sz="1725" b="0">
                          <a:solidFill>
                            <a:srgbClr val="173746"/>
                          </a:solidFill>
                          <a:latin typeface="Arial"/>
                          <a:ea typeface="Arial"/>
                          <a:cs typeface="Arial"/>
                        </a:rPr>
                        <a:t>41.0%</a:t>
                      </a:r>
                    </a:p>
                  </a:txBody>
                  <a:tcPr marL="91440" marR="91440" marT="45720" marB="45720">
                    <a:solidFill>
                      <a:srgbClr val="F0F5F7"/>
                    </a:solidFill>
                  </a:tcPr>
                </a:tc>
                <a:tc>
                  <a:txBody>
                    <a:bodyPr/>
                    <a:lstStyle/>
                    <a:p>
                      <a:r>
                        <a:rPr sz="1725" b="0">
                          <a:solidFill>
                            <a:srgbClr val="173746"/>
                          </a:solidFill>
                          <a:latin typeface="Arial"/>
                          <a:ea typeface="Arial"/>
                          <a:cs typeface="Arial"/>
                        </a:rPr>
                        <a:t>90.1%</a:t>
                      </a:r>
                    </a:p>
                  </a:txBody>
                  <a:tcPr marL="91440" marR="91440" marT="45720" marB="45720">
                    <a:solidFill>
                      <a:srgbClr val="F0F5F7"/>
                    </a:solidFill>
                  </a:tcPr>
                </a:tc>
              </a:tr>
              <a:tr h="457200">
                <a:tc>
                  <a:txBody>
                    <a:bodyPr/>
                    <a:lstStyle/>
                    <a:p>
                      <a:r>
                        <a:rPr sz="1725" b="0">
                          <a:solidFill>
                            <a:srgbClr val="173746"/>
                          </a:solidFill>
                          <a:latin typeface="Arial"/>
                          <a:ea typeface="Arial"/>
                          <a:cs typeface="Arial"/>
                        </a:rPr>
                        <a:t>Rooms</a:t>
                      </a:r>
                    </a:p>
                  </a:txBody>
                  <a:tcPr marL="91440" marR="91440" marT="45720" marB="45720">
                    <a:solidFill>
                      <a:srgbClr val="FFFFFF"/>
                    </a:solidFill>
                  </a:tcPr>
                </a:tc>
                <a:tc>
                  <a:txBody>
                    <a:bodyPr/>
                    <a:lstStyle/>
                    <a:p>
                      <a:r>
                        <a:rPr sz="1725" b="0">
                          <a:solidFill>
                            <a:srgbClr val="173746"/>
                          </a:solidFill>
                          <a:latin typeface="Arial"/>
                          <a:ea typeface="Arial"/>
                          <a:cs typeface="Arial"/>
                        </a:rPr>
                        <a:t>60.9%</a:t>
                      </a:r>
                    </a:p>
                  </a:txBody>
                  <a:tcPr marL="91440" marR="91440" marT="45720" marB="45720">
                    <a:solidFill>
                      <a:srgbClr val="FFFFFF"/>
                    </a:solidFill>
                  </a:tcPr>
                </a:tc>
                <a:tc>
                  <a:txBody>
                    <a:bodyPr/>
                    <a:lstStyle/>
                    <a:p>
                      <a:r>
                        <a:rPr sz="1725" b="0">
                          <a:solidFill>
                            <a:srgbClr val="173746"/>
                          </a:solidFill>
                          <a:latin typeface="Arial"/>
                          <a:ea typeface="Arial"/>
                          <a:cs typeface="Arial"/>
                        </a:rPr>
                        <a:t>44.6%</a:t>
                      </a:r>
                    </a:p>
                  </a:txBody>
                  <a:tcPr marL="91440" marR="91440" marT="45720" marB="45720">
                    <a:solidFill>
                      <a:srgbClr val="FFFFFF"/>
                    </a:solidFill>
                  </a:tcPr>
                </a:tc>
                <a:tc>
                  <a:txBody>
                    <a:bodyPr/>
                    <a:lstStyle/>
                    <a:p>
                      <a:r>
                        <a:rPr sz="1725" b="0">
                          <a:solidFill>
                            <a:srgbClr val="173746"/>
                          </a:solidFill>
                          <a:latin typeface="Arial"/>
                          <a:ea typeface="Arial"/>
                          <a:cs typeface="Arial"/>
                        </a:rPr>
                        <a:t>78.9%</a:t>
                      </a:r>
                    </a:p>
                  </a:txBody>
                  <a:tcPr marL="91440" marR="91440" marT="45720" marB="45720">
                    <a:solidFill>
                      <a:srgbClr val="FFFFFF"/>
                    </a:solidFill>
                  </a:tcPr>
                </a:tc>
              </a:tr>
              <a:tr h="457200">
                <a:tc>
                  <a:txBody>
                    <a:bodyPr/>
                    <a:lstStyle/>
                    <a:p>
                      <a:r>
                        <a:rPr sz="1725" b="0">
                          <a:solidFill>
                            <a:srgbClr val="173746"/>
                          </a:solidFill>
                          <a:latin typeface="Arial"/>
                          <a:ea typeface="Arial"/>
                          <a:cs typeface="Arial"/>
                        </a:rPr>
                        <a:t>Location</a:t>
                      </a:r>
                    </a:p>
                  </a:txBody>
                  <a:tcPr marL="91440" marR="91440" marT="45720" marB="45720">
                    <a:solidFill>
                      <a:srgbClr val="F0F5F7"/>
                    </a:solidFill>
                  </a:tcPr>
                </a:tc>
                <a:tc>
                  <a:txBody>
                    <a:bodyPr/>
                    <a:lstStyle/>
                    <a:p>
                      <a:r>
                        <a:rPr sz="1725" b="0">
                          <a:solidFill>
                            <a:srgbClr val="173746"/>
                          </a:solidFill>
                          <a:latin typeface="Arial"/>
                          <a:ea typeface="Arial"/>
                          <a:cs typeface="Arial"/>
                        </a:rPr>
                        <a:t>72.2%</a:t>
                      </a:r>
                    </a:p>
                  </a:txBody>
                  <a:tcPr marL="91440" marR="91440" marT="45720" marB="45720">
                    <a:solidFill>
                      <a:srgbClr val="F0F5F7"/>
                    </a:solidFill>
                  </a:tcPr>
                </a:tc>
                <a:tc>
                  <a:txBody>
                    <a:bodyPr/>
                    <a:lstStyle/>
                    <a:p>
                      <a:r>
                        <a:rPr sz="1725" b="0">
                          <a:solidFill>
                            <a:srgbClr val="173746"/>
                          </a:solidFill>
                          <a:latin typeface="Arial"/>
                          <a:ea typeface="Arial"/>
                          <a:cs typeface="Arial"/>
                        </a:rPr>
                        <a:t>45.3%</a:t>
                      </a:r>
                    </a:p>
                  </a:txBody>
                  <a:tcPr marL="91440" marR="91440" marT="45720" marB="45720">
                    <a:solidFill>
                      <a:srgbClr val="F0F5F7"/>
                    </a:solidFill>
                  </a:tcPr>
                </a:tc>
                <a:tc>
                  <a:txBody>
                    <a:bodyPr/>
                    <a:lstStyle/>
                    <a:p>
                      <a:r>
                        <a:rPr sz="1725" b="0">
                          <a:solidFill>
                            <a:srgbClr val="173746"/>
                          </a:solidFill>
                          <a:latin typeface="Arial"/>
                          <a:ea typeface="Arial"/>
                          <a:cs typeface="Arial"/>
                        </a:rPr>
                        <a:t>93.1%</a:t>
                      </a:r>
                    </a:p>
                  </a:txBody>
                  <a:tcPr marL="91440" marR="91440" marT="45720" marB="45720">
                    <a:solidFill>
                      <a:srgbClr val="F0F5F7"/>
                    </a:solidFill>
                  </a:tcPr>
                </a:tc>
              </a:tr>
              <a:tr h="457200">
                <a:tc>
                  <a:txBody>
                    <a:bodyPr/>
                    <a:lstStyle/>
                    <a:p>
                      <a:r>
                        <a:rPr sz="1725" b="0">
                          <a:solidFill>
                            <a:srgbClr val="173746"/>
                          </a:solidFill>
                          <a:latin typeface="Arial"/>
                          <a:ea typeface="Arial"/>
                          <a:cs typeface="Arial"/>
                        </a:rPr>
                        <a:t>Value</a:t>
                      </a:r>
                    </a:p>
                  </a:txBody>
                  <a:tcPr marL="91440" marR="91440" marT="45720" marB="45720">
                    <a:solidFill>
                      <a:srgbClr val="FFFFFF"/>
                    </a:solidFill>
                  </a:tcPr>
                </a:tc>
                <a:tc>
                  <a:txBody>
                    <a:bodyPr/>
                    <a:lstStyle/>
                    <a:p>
                      <a:r>
                        <a:rPr sz="1725" b="0">
                          <a:solidFill>
                            <a:srgbClr val="173746"/>
                          </a:solidFill>
                          <a:latin typeface="Arial"/>
                          <a:ea typeface="Arial"/>
                          <a:cs typeface="Arial"/>
                        </a:rPr>
                        <a:t>62.4%</a:t>
                      </a:r>
                    </a:p>
                  </a:txBody>
                  <a:tcPr marL="91440" marR="91440" marT="45720" marB="45720">
                    <a:solidFill>
                      <a:srgbClr val="FFFFFF"/>
                    </a:solidFill>
                  </a:tcPr>
                </a:tc>
                <a:tc>
                  <a:txBody>
                    <a:bodyPr/>
                    <a:lstStyle/>
                    <a:p>
                      <a:r>
                        <a:rPr sz="1725" b="0">
                          <a:solidFill>
                            <a:srgbClr val="173746"/>
                          </a:solidFill>
                          <a:latin typeface="Arial"/>
                          <a:ea typeface="Arial"/>
                          <a:cs typeface="Arial"/>
                        </a:rPr>
                        <a:t>26.2%</a:t>
                      </a:r>
                    </a:p>
                  </a:txBody>
                  <a:tcPr marL="91440" marR="91440" marT="45720" marB="45720">
                    <a:solidFill>
                      <a:srgbClr val="FFFFFF"/>
                    </a:solidFill>
                  </a:tcPr>
                </a:tc>
                <a:tc>
                  <a:txBody>
                    <a:bodyPr/>
                    <a:lstStyle/>
                    <a:p>
                      <a:r>
                        <a:rPr sz="1725" b="0">
                          <a:solidFill>
                            <a:srgbClr val="173746"/>
                          </a:solidFill>
                          <a:latin typeface="Arial"/>
                          <a:ea typeface="Arial"/>
                          <a:cs typeface="Arial"/>
                        </a:rPr>
                        <a:t>86.3%</a:t>
                      </a:r>
                    </a:p>
                  </a:txBody>
                  <a:tcPr marL="91440" marR="91440" marT="45720" marB="45720">
                    <a:solidFill>
                      <a:srgbClr val="FFFFFF"/>
                    </a:solidFill>
                  </a:tcPr>
                </a:tc>
              </a:tr>
              <a:tr h="457200">
                <a:tc>
                  <a:txBody>
                    <a:bodyPr/>
                    <a:lstStyle/>
                    <a:p>
                      <a:r>
                        <a:rPr sz="1725" b="0">
                          <a:solidFill>
                            <a:srgbClr val="173746"/>
                          </a:solidFill>
                          <a:latin typeface="Arial"/>
                          <a:ea typeface="Arial"/>
                          <a:cs typeface="Arial"/>
                        </a:rPr>
                        <a:t>Cleanliness</a:t>
                      </a:r>
                    </a:p>
                  </a:txBody>
                  <a:tcPr marL="91440" marR="91440" marT="45720" marB="45720">
                    <a:solidFill>
                      <a:srgbClr val="F0F5F7"/>
                    </a:solidFill>
                  </a:tcPr>
                </a:tc>
                <a:tc>
                  <a:txBody>
                    <a:bodyPr/>
                    <a:lstStyle/>
                    <a:p>
                      <a:r>
                        <a:rPr sz="1725" b="0">
                          <a:solidFill>
                            <a:srgbClr val="173746"/>
                          </a:solidFill>
                          <a:latin typeface="Arial"/>
                          <a:ea typeface="Arial"/>
                          <a:cs typeface="Arial"/>
                        </a:rPr>
                        <a:t>65.1%</a:t>
                      </a:r>
                    </a:p>
                  </a:txBody>
                  <a:tcPr marL="91440" marR="91440" marT="45720" marB="45720">
                    <a:solidFill>
                      <a:srgbClr val="F0F5F7"/>
                    </a:solidFill>
                  </a:tcPr>
                </a:tc>
                <a:tc>
                  <a:txBody>
                    <a:bodyPr/>
                    <a:lstStyle/>
                    <a:p>
                      <a:r>
                        <a:rPr sz="1725" b="0">
                          <a:solidFill>
                            <a:srgbClr val="173746"/>
                          </a:solidFill>
                          <a:latin typeface="Arial"/>
                          <a:ea typeface="Arial"/>
                          <a:cs typeface="Arial"/>
                        </a:rPr>
                        <a:t>34.9%</a:t>
                      </a:r>
                    </a:p>
                  </a:txBody>
                  <a:tcPr marL="91440" marR="91440" marT="45720" marB="45720">
                    <a:solidFill>
                      <a:srgbClr val="F0F5F7"/>
                    </a:solidFill>
                  </a:tcPr>
                </a:tc>
                <a:tc>
                  <a:txBody>
                    <a:bodyPr/>
                    <a:lstStyle/>
                    <a:p>
                      <a:r>
                        <a:rPr sz="1725" b="0">
                          <a:solidFill>
                            <a:srgbClr val="173746"/>
                          </a:solidFill>
                          <a:latin typeface="Arial"/>
                          <a:ea typeface="Arial"/>
                          <a:cs typeface="Arial"/>
                        </a:rPr>
                        <a:t>78.4%</a:t>
                      </a:r>
                    </a:p>
                  </a:txBody>
                  <a:tcPr marL="91440" marR="91440" marT="45720" marB="45720">
                    <a:solidFill>
                      <a:srgbClr val="F0F5F7"/>
                    </a:solidFill>
                  </a:tcPr>
                </a:tc>
              </a:tr>
              <a:tr h="457200">
                <a:tc>
                  <a:txBody>
                    <a:bodyPr/>
                    <a:lstStyle/>
                    <a:p>
                      <a:r>
                        <a:rPr sz="1725" b="0">
                          <a:solidFill>
                            <a:srgbClr val="173746"/>
                          </a:solidFill>
                          <a:latin typeface="Arial"/>
                          <a:ea typeface="Arial"/>
                          <a:cs typeface="Arial"/>
                        </a:rPr>
                        <a:t>Business</a:t>
                      </a:r>
                    </a:p>
                  </a:txBody>
                  <a:tcPr marL="91440" marR="91440" marT="45720" marB="45720">
                    <a:solidFill>
                      <a:srgbClr val="FFFFFF"/>
                    </a:solidFill>
                  </a:tcPr>
                </a:tc>
                <a:tc>
                  <a:txBody>
                    <a:bodyPr/>
                    <a:lstStyle/>
                    <a:p>
                      <a:r>
                        <a:rPr sz="1725" b="0">
                          <a:solidFill>
                            <a:srgbClr val="173746"/>
                          </a:solidFill>
                          <a:latin typeface="Arial"/>
                          <a:ea typeface="Arial"/>
                          <a:cs typeface="Arial"/>
                        </a:rPr>
                        <a:t>55.4%</a:t>
                      </a:r>
                    </a:p>
                  </a:txBody>
                  <a:tcPr marL="91440" marR="91440" marT="45720" marB="45720">
                    <a:solidFill>
                      <a:srgbClr val="FFFFFF"/>
                    </a:solidFill>
                  </a:tcPr>
                </a:tc>
                <a:tc>
                  <a:txBody>
                    <a:bodyPr/>
                    <a:lstStyle/>
                    <a:p>
                      <a:r>
                        <a:rPr sz="1725" b="0">
                          <a:solidFill>
                            <a:srgbClr val="173746"/>
                          </a:solidFill>
                          <a:latin typeface="Arial"/>
                          <a:ea typeface="Arial"/>
                          <a:cs typeface="Arial"/>
                        </a:rPr>
                        <a:t>13.8%</a:t>
                      </a:r>
                    </a:p>
                  </a:txBody>
                  <a:tcPr marL="91440" marR="91440" marT="45720" marB="45720">
                    <a:solidFill>
                      <a:srgbClr val="FFFFFF"/>
                    </a:solidFill>
                  </a:tcPr>
                </a:tc>
                <a:tc>
                  <a:txBody>
                    <a:bodyPr/>
                    <a:lstStyle/>
                    <a:p>
                      <a:r>
                        <a:rPr sz="1725" b="0">
                          <a:solidFill>
                            <a:srgbClr val="173746"/>
                          </a:solidFill>
                          <a:latin typeface="Arial"/>
                          <a:ea typeface="Arial"/>
                          <a:cs typeface="Arial"/>
                        </a:rPr>
                        <a:t>88.9%</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49A74E9C-B745-4140-B62F-501DC4514FF7}"/>
              </a:ext>
            </a:extLst>
          </p:cNvPr>
          <p:cNvSpPr>
            <a:spLocks xmlns:a="http://schemas.openxmlformats.org/drawingml/2006/main" noGrp="1"/>
          </p:cNvSpPr>
          <p:nvPr/>
        </p:nvSpPr>
        <p:spPr>
          <a:xfrm xmlns:a="http://schemas.openxmlformats.org/drawingml/2006/main">
            <a:off x="723900" y="552450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176B87"/>
                </a:solidFill>
                <a:latin typeface="Arial"/>
                <a:ea typeface="Arial"/>
                <a:cs typeface="Arial"/>
              </a:defRPr>
            </a:defPPr>
          </a:lstStyle>
          <a:p xmlns:a="http://schemas.openxmlformats.org/drawingml/2006/main">
            <a:pPr>
              <a:defRPr sz="2025" b="1">
                <a:solidFill>
                  <a:srgbClr val="176B87"/>
                </a:solidFill>
                <a:latin typeface="Arial"/>
                <a:ea typeface="Arial"/>
                <a:cs typeface="Arial"/>
              </a:defRPr>
            </a:pPr>
            <a:r>
              <a:rPr sz="2025" b="1">
                <a:solidFill>
                  <a:srgbClr val="176B87"/>
                </a:solidFill>
                <a:latin typeface="Arial"/>
                <a:ea typeface="Arial"/>
                <a:cs typeface="Arial"/>
              </a:rPr>
              <a:t>Selective accuracy must be read with coverage. Business coverage is 13.8%.</a:t>
            </a:r>
          </a:p>
        </p:txBody>
      </p:sp>
    </p:spTree>
    <p:extLst>
      <p:ext uri="{BB962C8B-B14F-4D97-AF65-F5344CB8AC3E}">
        <p14:creationId xmlns:p14="http://schemas.microsoft.com/office/powerpoint/2010/main" val="132800937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436EB95-C201-497D-8F70-4CD7213E58DC}"/>
              </a:ext>
            </a:extLst>
          </p:cNvPr>
          <p:cNvSpPr>
            <a:spLocks xmlns:a="http://schemas.openxmlformats.org/drawingml/2006/main" noGrp="1"/>
          </p:cNvSpPr>
          <p:nvPr/>
        </p:nvSpPr>
        <p:spPr>
          <a:xfrm xmlns:a="http://schemas.openxmlformats.org/drawingml/2006/main">
            <a:off x="609600" y="40005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225" b="1">
                <a:solidFill>
                  <a:srgbClr val="173746"/>
                </a:solidFill>
                <a:latin typeface="Arial"/>
                <a:ea typeface="Arial"/>
                <a:cs typeface="Arial"/>
              </a:defRPr>
            </a:defPPr>
          </a:lstStyle>
          <a:p xmlns:a="http://schemas.openxmlformats.org/drawingml/2006/main">
            <a:pPr>
              <a:defRPr sz="3225" b="1">
                <a:solidFill>
                  <a:srgbClr val="173746"/>
                </a:solidFill>
                <a:latin typeface="Arial"/>
                <a:ea typeface="Arial"/>
                <a:cs typeface="Arial"/>
              </a:defRPr>
            </a:pPr>
            <a:r>
              <a:rPr sz="3225" b="1">
                <a:solidFill>
                  <a:srgbClr val="173746"/>
                </a:solidFill>
                <a:latin typeface="Arial"/>
                <a:ea typeface="Arial"/>
                <a:cs typeface="Arial"/>
              </a:rPr>
              <a:t>Central mixed-review diagnostic</a:t>
            </a:r>
          </a:p>
        </p:txBody>
      </p:sp>
      <p:sp>
        <p:nvSpPr>
          <p:cNvPr id="2" name="">
            <a:extLst xmlns:a="http://schemas.openxmlformats.org/drawingml/2006/main">
              <a:ext uri="{FF2B5EF4-FFF2-40B4-BE49-F238E27FC236}">
                <a16:creationId xmlns:a16="http://schemas.microsoft.com/office/drawing/2014/main" id="{05E53DE9-5570-4F64-AE32-1E616B467170}"/>
              </a:ext>
            </a:extLst>
          </p:cNvPr>
          <p:cNvSpPr>
            <a:spLocks xmlns:a="http://schemas.openxmlformats.org/drawingml/2006/main" noGrp="1"/>
          </p:cNvSpPr>
          <p:nvPr/>
        </p:nvSpPr>
        <p:spPr>
          <a:xfrm xmlns:a="http://schemas.openxmlformats.org/drawingml/2006/main">
            <a:off x="609600" y="641985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53646C"/>
                </a:solidFill>
                <a:latin typeface="Arial"/>
                <a:ea typeface="Arial"/>
                <a:cs typeface="Arial"/>
              </a:defRPr>
            </a:defPPr>
          </a:lstStyle>
          <a:p xmlns:a="http://schemas.openxmlformats.org/drawingml/2006/main">
            <a:pPr>
              <a:defRPr sz="1200" b="0">
                <a:solidFill>
                  <a:srgbClr val="53646C"/>
                </a:solidFill>
                <a:latin typeface="Arial"/>
                <a:ea typeface="Arial"/>
                <a:cs typeface="Arial"/>
              </a:defRPr>
            </a:pPr>
            <a:r>
              <a:rPr sz="1200" b="0">
                <a:solidFill>
                  <a:srgbClr val="53646C"/>
                </a:solidFill>
                <a:latin typeface="Arial"/>
                <a:ea typeface="Arial"/>
                <a:cs typeface="Arial"/>
              </a:rPr>
              <a:t>Team 22   UE24CS352A                                     10</a:t>
            </a:r>
          </a:p>
        </p:txBody>
      </p:sp>
      <p:sp>
        <p:nvSpPr>
          <p:cNvPr id="3" name="">
            <a:extLst xmlns:a="http://schemas.openxmlformats.org/drawingml/2006/main">
              <a:ext uri="{FF2B5EF4-FFF2-40B4-BE49-F238E27FC236}">
                <a16:creationId xmlns:a16="http://schemas.microsoft.com/office/drawing/2014/main" id="{2C58E938-75A1-4479-A6C0-D1CEE2C26462}"/>
              </a:ext>
            </a:extLst>
          </p:cNvPr>
          <p:cNvSpPr>
            <a:spLocks xmlns:a="http://schemas.openxmlformats.org/drawingml/2006/main" noGrp="1"/>
          </p:cNvSpPr>
          <p:nvPr/>
        </p:nvSpPr>
        <p:spPr>
          <a:xfrm xmlns:a="http://schemas.openxmlformats.org/drawingml/2006/main">
            <a:off x="723900" y="1495425"/>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73746"/>
                </a:solidFill>
                <a:latin typeface="Arial"/>
                <a:ea typeface="Arial"/>
                <a:cs typeface="Arial"/>
              </a:defRPr>
            </a:defPPr>
          </a:lstStyle>
          <a:p xmlns:a="http://schemas.openxmlformats.org/drawingml/2006/main">
            <a:pPr>
              <a:defRPr sz="2175" b="0">
                <a:solidFill>
                  <a:srgbClr val="173746"/>
                </a:solidFill>
                <a:latin typeface="Arial"/>
                <a:ea typeface="Arial"/>
                <a:cs typeface="Arial"/>
              </a:defRPr>
            </a:pPr>
            <a:r>
              <a:rPr sz="2175" b="0">
                <a:solidFill>
                  <a:srgbClr val="173746"/>
                </a:solidFill>
                <a:latin typeface="Arial"/>
                <a:ea typeface="Arial"/>
                <a:cs typeface="Arial"/>
              </a:rPr>
              <a:t>“The location was excellent, the staff were helpful and the hotel was great value for money, but the room was extremely dirty.”</a:t>
            </a:r>
          </a:p>
        </p:txBody>
      </p:sp>
      <p:graphicFrame>
        <p:nvGraphicFramePr>
          <p:cNvPr id="4" name="">
            <a:extLst xmlns:a="http://schemas.openxmlformats.org/drawingml/2006/main">
              <a:ext uri="{FF2B5EF4-FFF2-40B4-BE49-F238E27FC236}">
                <a16:creationId xmlns:a16="http://schemas.microsoft.com/office/drawing/2014/main" id="{F081145D-4BD4-4DD4-9993-33253EB7276C}"/>
              </a:ext>
            </a:extLst>
          </p:cNvPr>
          <p:cNvGraphicFramePr/>
          <p:nvPr/>
        </p:nvGraphicFramePr>
        <p:xfrm>
          <a:off xmlns:a="http://schemas.openxmlformats.org/drawingml/2006/main" x="609600" y="2809875"/>
          <a:ext xmlns:a="http://schemas.openxmlformats.org/drawingml/2006/main" cx="10972800" cy="2171700"/>
        </p:xfrm>
        <a:graphic xmlns:a="http://schemas.openxmlformats.org/drawingml/2006/main">
          <a:graphicData uri="http://schemas.openxmlformats.org/drawingml/2006/table">
            <a:tbl>
              <a:tblPr/>
              <a:tblGrid>
                <a:gridCol w="2571750"/>
                <a:gridCol w="5381625"/>
                <a:gridCol w="3019425"/>
              </a:tblGrid>
              <a:tr h="542925">
                <a:tc>
                  <a:txBody>
                    <a:bodyPr/>
                    <a:lstStyle/>
                    <a:p>
                      <a:r>
                        <a:rPr sz="1800" b="1">
                          <a:solidFill>
                            <a:srgbClr val="FFFFFF"/>
                          </a:solidFill>
                          <a:latin typeface="Arial"/>
                          <a:ea typeface="Arial"/>
                          <a:cs typeface="Arial"/>
                        </a:rPr>
                        <a:t>Target</a:t>
                      </a:r>
                    </a:p>
                  </a:txBody>
                  <a:tcPr marL="91440" marR="91440" marT="45720" marB="45720">
                    <a:solidFill>
                      <a:srgbClr val="173746"/>
                    </a:solidFill>
                  </a:tcPr>
                </a:tc>
                <a:tc>
                  <a:txBody>
                    <a:bodyPr/>
                    <a:lstStyle/>
                    <a:p>
                      <a:r>
                        <a:rPr sz="1800" b="1">
                          <a:solidFill>
                            <a:srgbClr val="FFFFFF"/>
                          </a:solidFill>
                          <a:latin typeface="Arial"/>
                          <a:ea typeface="Arial"/>
                          <a:cs typeface="Arial"/>
                        </a:rPr>
                        <a:t>Actual input strategy</a:t>
                      </a:r>
                    </a:p>
                  </a:txBody>
                  <a:tcPr marL="91440" marR="91440" marT="45720" marB="45720">
                    <a:solidFill>
                      <a:srgbClr val="173746"/>
                    </a:solidFill>
                  </a:tcPr>
                </a:tc>
                <a:tc>
                  <a:txBody>
                    <a:bodyPr/>
                    <a:lstStyle/>
                    <a:p>
                      <a:r>
                        <a:rPr sz="1800" b="1">
                          <a:solidFill>
                            <a:srgbClr val="FFFFFF"/>
                          </a:solidFill>
                          <a:latin typeface="Arial"/>
                          <a:ea typeface="Arial"/>
                          <a:cs typeface="Arial"/>
                        </a:rPr>
                        <a:t>Current prediction</a:t>
                      </a:r>
                    </a:p>
                  </a:txBody>
                  <a:tcPr marL="91440" marR="91440" marT="45720" marB="45720">
                    <a:solidFill>
                      <a:srgbClr val="173746"/>
                    </a:solidFill>
                  </a:tcPr>
                </a:tc>
              </a:tr>
              <a:tr h="542925">
                <a:tc>
                  <a:txBody>
                    <a:bodyPr/>
                    <a:lstStyle/>
                    <a:p>
                      <a:r>
                        <a:rPr sz="1800" b="0">
                          <a:solidFill>
                            <a:srgbClr val="173746"/>
                          </a:solidFill>
                          <a:latin typeface="Arial"/>
                          <a:ea typeface="Arial"/>
                          <a:cs typeface="Arial"/>
                        </a:rPr>
                        <a:t>Cleanliness</a:t>
                      </a:r>
                    </a:p>
                  </a:txBody>
                  <a:tcPr marL="91440" marR="91440" marT="45720" marB="45720">
                    <a:solidFill>
                      <a:srgbClr val="FFFFFF"/>
                    </a:solidFill>
                  </a:tcPr>
                </a:tc>
                <a:tc>
                  <a:txBody>
                    <a:bodyPr/>
                    <a:lstStyle/>
                    <a:p>
                      <a:r>
                        <a:rPr sz="1800" b="0">
                          <a:solidFill>
                            <a:srgbClr val="173746"/>
                          </a:solidFill>
                          <a:latin typeface="Arial"/>
                          <a:ea typeface="Arial"/>
                          <a:cs typeface="Arial"/>
                        </a:rPr>
                        <a:t>Routed: room was extremely dirty</a:t>
                      </a:r>
                    </a:p>
                  </a:txBody>
                  <a:tcPr marL="91440" marR="91440" marT="45720" marB="45720">
                    <a:solidFill>
                      <a:srgbClr val="FFFFFF"/>
                    </a:solidFill>
                  </a:tcPr>
                </a:tc>
                <a:tc>
                  <a:txBody>
                    <a:bodyPr/>
                    <a:lstStyle/>
                    <a:p>
                      <a:r>
                        <a:rPr sz="1800" b="0">
                          <a:solidFill>
                            <a:srgbClr val="173746"/>
                          </a:solidFill>
                          <a:latin typeface="Arial"/>
                          <a:ea typeface="Arial"/>
                          <a:cs typeface="Arial"/>
                        </a:rPr>
                        <a:t>1 / negative</a:t>
                      </a:r>
                    </a:p>
                  </a:txBody>
                  <a:tcPr marL="91440" marR="91440" marT="45720" marB="45720">
                    <a:solidFill>
                      <a:srgbClr val="FFFFFF"/>
                    </a:solidFill>
                  </a:tcPr>
                </a:tc>
              </a:tr>
              <a:tr h="542925">
                <a:tc>
                  <a:txBody>
                    <a:bodyPr/>
                    <a:lstStyle/>
                    <a:p>
                      <a:r>
                        <a:rPr sz="1800" b="0">
                          <a:solidFill>
                            <a:srgbClr val="173746"/>
                          </a:solidFill>
                          <a:latin typeface="Arial"/>
                          <a:ea typeface="Arial"/>
                          <a:cs typeface="Arial"/>
                        </a:rPr>
                        <a:t>Rooms</a:t>
                      </a:r>
                    </a:p>
                  </a:txBody>
                  <a:tcPr marL="91440" marR="91440" marT="45720" marB="45720">
                    <a:solidFill>
                      <a:srgbClr val="F0F5F7"/>
                    </a:solidFill>
                  </a:tcPr>
                </a:tc>
                <a:tc>
                  <a:txBody>
                    <a:bodyPr/>
                    <a:lstStyle/>
                    <a:p>
                      <a:r>
                        <a:rPr sz="1800" b="0">
                          <a:solidFill>
                            <a:srgbClr val="173746"/>
                          </a:solidFill>
                          <a:latin typeface="Arial"/>
                          <a:ea typeface="Arial"/>
                          <a:cs typeface="Arial"/>
                        </a:rPr>
                        <a:t>Whole review, selected on validation</a:t>
                      </a:r>
                    </a:p>
                  </a:txBody>
                  <a:tcPr marL="91440" marR="91440" marT="45720" marB="45720">
                    <a:solidFill>
                      <a:srgbClr val="F0F5F7"/>
                    </a:solidFill>
                  </a:tcPr>
                </a:tc>
                <a:tc>
                  <a:txBody>
                    <a:bodyPr/>
                    <a:lstStyle/>
                    <a:p>
                      <a:r>
                        <a:rPr sz="1800" b="0">
                          <a:solidFill>
                            <a:srgbClr val="173746"/>
                          </a:solidFill>
                          <a:latin typeface="Arial"/>
                          <a:ea typeface="Arial"/>
                          <a:cs typeface="Arial"/>
                        </a:rPr>
                        <a:t>4 / positive (wrong)</a:t>
                      </a:r>
                    </a:p>
                  </a:txBody>
                  <a:tcPr marL="91440" marR="91440" marT="45720" marB="45720">
                    <a:solidFill>
                      <a:srgbClr val="F0F5F7"/>
                    </a:solidFill>
                  </a:tcPr>
                </a:tc>
              </a:tr>
              <a:tr h="542925">
                <a:tc>
                  <a:txBody>
                    <a:bodyPr/>
                    <a:lstStyle/>
                    <a:p>
                      <a:r>
                        <a:rPr sz="1800" b="0">
                          <a:solidFill>
                            <a:srgbClr val="173746"/>
                          </a:solidFill>
                          <a:latin typeface="Arial"/>
                          <a:ea typeface="Arial"/>
                          <a:cs typeface="Arial"/>
                        </a:rPr>
                        <a:t>Service / Location / Value</a:t>
                      </a:r>
                    </a:p>
                  </a:txBody>
                  <a:tcPr marL="91440" marR="91440" marT="45720" marB="45720">
                    <a:solidFill>
                      <a:srgbClr val="FFFFFF"/>
                    </a:solidFill>
                  </a:tcPr>
                </a:tc>
                <a:tc>
                  <a:txBody>
                    <a:bodyPr/>
                    <a:lstStyle/>
                    <a:p>
                      <a:r>
                        <a:rPr sz="1800" b="0">
                          <a:solidFill>
                            <a:srgbClr val="173746"/>
                          </a:solidFill>
                          <a:latin typeface="Arial"/>
                          <a:ea typeface="Arial"/>
                          <a:cs typeface="Arial"/>
                        </a:rPr>
                        <a:t>Selected strategy per target</a:t>
                      </a:r>
                    </a:p>
                  </a:txBody>
                  <a:tcPr marL="91440" marR="91440" marT="45720" marB="45720">
                    <a:solidFill>
                      <a:srgbClr val="FFFFFF"/>
                    </a:solidFill>
                  </a:tcPr>
                </a:tc>
                <a:tc>
                  <a:txBody>
                    <a:bodyPr/>
                    <a:lstStyle/>
                    <a:p>
                      <a:r>
                        <a:rPr sz="1800" b="0">
                          <a:solidFill>
                            <a:srgbClr val="173746"/>
                          </a:solidFill>
                          <a:latin typeface="Arial"/>
                          <a:ea typeface="Arial"/>
                          <a:cs typeface="Arial"/>
                        </a:rPr>
                        <a:t>Positive</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8CE43C52-7681-4235-9497-AC0506474EEC}"/>
              </a:ext>
            </a:extLst>
          </p:cNvPr>
          <p:cNvSpPr>
            <a:spLocks xmlns:a="http://schemas.openxmlformats.org/drawingml/2006/main" noGrp="1"/>
          </p:cNvSpPr>
          <p:nvPr/>
        </p:nvSpPr>
        <p:spPr>
          <a:xfrm xmlns:a="http://schemas.openxmlformats.org/drawingml/2006/main">
            <a:off x="723900" y="5495925"/>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176B87"/>
                </a:solidFill>
                <a:latin typeface="Arial"/>
                <a:ea typeface="Arial"/>
                <a:cs typeface="Arial"/>
              </a:defRPr>
            </a:defPPr>
          </a:lstStyle>
          <a:p xmlns:a="http://schemas.openxmlformats.org/drawingml/2006/main">
            <a:pPr>
              <a:defRPr sz="2025" b="1">
                <a:solidFill>
                  <a:srgbClr val="176B87"/>
                </a:solidFill>
                <a:latin typeface="Arial"/>
                <a:ea typeface="Arial"/>
                <a:cs typeface="Arial"/>
              </a:defRPr>
            </a:pPr>
            <a:r>
              <a:rPr sz="2025" b="1">
                <a:solidFill>
                  <a:srgbClr val="176B87"/>
                </a:solidFill>
                <a:latin typeface="Arial"/>
                <a:ea typeface="Arial"/>
                <a:cs typeface="Arial"/>
              </a:rPr>
              <a:t>Cleanliness isolates the negative evidence. Rooms still shows contamination.</a:t>
            </a:r>
          </a:p>
        </p:txBody>
      </p:sp>
    </p:spTree>
    <p:extLst>
      <p:ext uri="{BB962C8B-B14F-4D97-AF65-F5344CB8AC3E}">
        <p14:creationId xmlns:p14="http://schemas.microsoft.com/office/powerpoint/2010/main" val="82634373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9D5B4F2-D6B8-464B-A77E-1AE324AC67EC}"/>
              </a:ext>
            </a:extLst>
          </p:cNvPr>
          <p:cNvSpPr>
            <a:spLocks xmlns:a="http://schemas.openxmlformats.org/drawingml/2006/main" noGrp="1"/>
          </p:cNvSpPr>
          <p:nvPr/>
        </p:nvSpPr>
        <p:spPr>
          <a:xfrm xmlns:a="http://schemas.openxmlformats.org/drawingml/2006/main">
            <a:off x="609600" y="40005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225" b="1">
                <a:solidFill>
                  <a:srgbClr val="173746"/>
                </a:solidFill>
                <a:latin typeface="Arial"/>
                <a:ea typeface="Arial"/>
                <a:cs typeface="Arial"/>
              </a:defRPr>
            </a:defPPr>
          </a:lstStyle>
          <a:p xmlns:a="http://schemas.openxmlformats.org/drawingml/2006/main">
            <a:pPr>
              <a:defRPr sz="3225" b="1">
                <a:solidFill>
                  <a:srgbClr val="173746"/>
                </a:solidFill>
                <a:latin typeface="Arial"/>
                <a:ea typeface="Arial"/>
                <a:cs typeface="Arial"/>
              </a:defRPr>
            </a:pPr>
            <a:r>
              <a:rPr sz="3225" b="1">
                <a:solidFill>
                  <a:srgbClr val="173746"/>
                </a:solidFill>
                <a:latin typeface="Arial"/>
                <a:ea typeface="Arial"/>
                <a:cs typeface="Arial"/>
              </a:rPr>
              <a:t>Difficult examples and unresolved errors</a:t>
            </a:r>
          </a:p>
        </p:txBody>
      </p:sp>
      <p:sp>
        <p:nvSpPr>
          <p:cNvPr id="2" name="">
            <a:extLst xmlns:a="http://schemas.openxmlformats.org/drawingml/2006/main">
              <a:ext uri="{FF2B5EF4-FFF2-40B4-BE49-F238E27FC236}">
                <a16:creationId xmlns:a16="http://schemas.microsoft.com/office/drawing/2014/main" id="{7A470DC6-13D1-4127-8E9D-9E4EC395D074}"/>
              </a:ext>
            </a:extLst>
          </p:cNvPr>
          <p:cNvSpPr>
            <a:spLocks xmlns:a="http://schemas.openxmlformats.org/drawingml/2006/main" noGrp="1"/>
          </p:cNvSpPr>
          <p:nvPr/>
        </p:nvSpPr>
        <p:spPr>
          <a:xfrm xmlns:a="http://schemas.openxmlformats.org/drawingml/2006/main">
            <a:off x="609600" y="641985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53646C"/>
                </a:solidFill>
                <a:latin typeface="Arial"/>
                <a:ea typeface="Arial"/>
                <a:cs typeface="Arial"/>
              </a:defRPr>
            </a:defPPr>
          </a:lstStyle>
          <a:p xmlns:a="http://schemas.openxmlformats.org/drawingml/2006/main">
            <a:pPr>
              <a:defRPr sz="1200" b="0">
                <a:solidFill>
                  <a:srgbClr val="53646C"/>
                </a:solidFill>
                <a:latin typeface="Arial"/>
                <a:ea typeface="Arial"/>
                <a:cs typeface="Arial"/>
              </a:defRPr>
            </a:pPr>
            <a:r>
              <a:rPr sz="1200" b="0">
                <a:solidFill>
                  <a:srgbClr val="53646C"/>
                </a:solidFill>
                <a:latin typeface="Arial"/>
                <a:ea typeface="Arial"/>
                <a:cs typeface="Arial"/>
              </a:rPr>
              <a:t>Team 22   UE24CS352A                                     11</a:t>
            </a:r>
          </a:p>
        </p:txBody>
      </p:sp>
      <p:graphicFrame>
        <p:nvGraphicFramePr>
          <p:cNvPr id="3" name="">
            <a:extLst xmlns:a="http://schemas.openxmlformats.org/drawingml/2006/main">
              <a:ext uri="{FF2B5EF4-FFF2-40B4-BE49-F238E27FC236}">
                <a16:creationId xmlns:a16="http://schemas.microsoft.com/office/drawing/2014/main" id="{8F076A6C-6568-4610-BCEA-2D7F4C7BC0B0}"/>
              </a:ext>
            </a:extLst>
          </p:cNvPr>
          <p:cNvGraphicFramePr/>
          <p:nvPr/>
        </p:nvGraphicFramePr>
        <p:xfrm>
          <a:off xmlns:a="http://schemas.openxmlformats.org/drawingml/2006/main" x="609600" y="1504950"/>
          <a:ext xmlns:a="http://schemas.openxmlformats.org/drawingml/2006/main" cx="10972800" cy="3143250"/>
        </p:xfrm>
        <a:graphic xmlns:a="http://schemas.openxmlformats.org/drawingml/2006/main">
          <a:graphicData uri="http://schemas.openxmlformats.org/drawingml/2006/table">
            <a:tbl>
              <a:tblPr/>
              <a:tblGrid>
                <a:gridCol w="5334000"/>
                <a:gridCol w="5638800"/>
              </a:tblGrid>
              <a:tr h="628650">
                <a:tc>
                  <a:txBody>
                    <a:bodyPr/>
                    <a:lstStyle/>
                    <a:p>
                      <a:r>
                        <a:rPr sz="1725" b="1">
                          <a:solidFill>
                            <a:srgbClr val="FFFFFF"/>
                          </a:solidFill>
                          <a:latin typeface="Arial"/>
                          <a:ea typeface="Arial"/>
                          <a:cs typeface="Arial"/>
                        </a:rPr>
                        <a:t>Input</a:t>
                      </a:r>
                    </a:p>
                  </a:txBody>
                  <a:tcPr marL="91440" marR="91440" marT="45720" marB="45720">
                    <a:solidFill>
                      <a:srgbClr val="173746"/>
                    </a:solidFill>
                  </a:tcPr>
                </a:tc>
                <a:tc>
                  <a:txBody>
                    <a:bodyPr/>
                    <a:lstStyle/>
                    <a:p>
                      <a:r>
                        <a:rPr sz="1725" b="1">
                          <a:solidFill>
                            <a:srgbClr val="FFFFFF"/>
                          </a:solidFill>
                          <a:latin typeface="Arial"/>
                          <a:ea typeface="Arial"/>
                          <a:cs typeface="Arial"/>
                        </a:rPr>
                        <a:t>Actual behavior</a:t>
                      </a:r>
                    </a:p>
                  </a:txBody>
                  <a:tcPr marL="91440" marR="91440" marT="45720" marB="45720">
                    <a:solidFill>
                      <a:srgbClr val="173746"/>
                    </a:solidFill>
                  </a:tcPr>
                </a:tc>
              </a:tr>
              <a:tr h="628650">
                <a:tc>
                  <a:txBody>
                    <a:bodyPr/>
                    <a:lstStyle/>
                    <a:p>
                      <a:r>
                        <a:rPr sz="1725" b="0">
                          <a:solidFill>
                            <a:srgbClr val="173746"/>
                          </a:solidFill>
                          <a:latin typeface="Arial"/>
                          <a:ea typeface="Arial"/>
                          <a:cs typeface="Arial"/>
                        </a:rPr>
                        <a:t>The room was not clean.</a:t>
                      </a:r>
                    </a:p>
                  </a:txBody>
                  <a:tcPr marL="91440" marR="91440" marT="45720" marB="45720">
                    <a:solidFill>
                      <a:srgbClr val="FFFFFF"/>
                    </a:solidFill>
                  </a:tcPr>
                </a:tc>
                <a:tc>
                  <a:txBody>
                    <a:bodyPr/>
                    <a:lstStyle/>
                    <a:p>
                      <a:r>
                        <a:rPr sz="1725" b="0">
                          <a:solidFill>
                            <a:srgbClr val="173746"/>
                          </a:solidFill>
                          <a:latin typeface="Arial"/>
                          <a:ea typeface="Arial"/>
                          <a:cs typeface="Arial"/>
                        </a:rPr>
                        <a:t>Cleanliness abstains with a neutral candidate</a:t>
                      </a:r>
                    </a:p>
                  </a:txBody>
                  <a:tcPr marL="91440" marR="91440" marT="45720" marB="45720">
                    <a:solidFill>
                      <a:srgbClr val="FFFFFF"/>
                    </a:solidFill>
                  </a:tcPr>
                </a:tc>
              </a:tr>
              <a:tr h="628650">
                <a:tc>
                  <a:txBody>
                    <a:bodyPr/>
                    <a:lstStyle/>
                    <a:p>
                      <a:r>
                        <a:rPr sz="1725" b="0">
                          <a:solidFill>
                            <a:srgbClr val="173746"/>
                          </a:solidFill>
                          <a:latin typeface="Arial"/>
                          <a:ea typeface="Arial"/>
                          <a:cs typeface="Arial"/>
                        </a:rPr>
                        <a:t>The room was not bad.</a:t>
                      </a:r>
                    </a:p>
                  </a:txBody>
                  <a:tcPr marL="91440" marR="91440" marT="45720" marB="45720">
                    <a:solidFill>
                      <a:srgbClr val="F0F5F7"/>
                    </a:solidFill>
                  </a:tcPr>
                </a:tc>
                <a:tc>
                  <a:txBody>
                    <a:bodyPr/>
                    <a:lstStyle/>
                    <a:p>
                      <a:r>
                        <a:rPr sz="1725" b="0">
                          <a:solidFill>
                            <a:srgbClr val="173746"/>
                          </a:solidFill>
                          <a:latin typeface="Arial"/>
                          <a:ea typeface="Arial"/>
                          <a:cs typeface="Arial"/>
                        </a:rPr>
                        <a:t>Rooms predicts negative (wrong)</a:t>
                      </a:r>
                    </a:p>
                  </a:txBody>
                  <a:tcPr marL="91440" marR="91440" marT="45720" marB="45720">
                    <a:solidFill>
                      <a:srgbClr val="F0F5F7"/>
                    </a:solidFill>
                  </a:tcPr>
                </a:tc>
              </a:tr>
              <a:tr h="628650">
                <a:tc>
                  <a:txBody>
                    <a:bodyPr/>
                    <a:lstStyle/>
                    <a:p>
                      <a:r>
                        <a:rPr sz="1725" b="0">
                          <a:solidFill>
                            <a:srgbClr val="173746"/>
                          </a:solidFill>
                          <a:latin typeface="Arial"/>
                          <a:ea typeface="Arial"/>
                          <a:cs typeface="Arial"/>
                        </a:rPr>
                        <a:t>The location was terrible, but ... fantastic.</a:t>
                      </a:r>
                    </a:p>
                  </a:txBody>
                  <a:tcPr marL="91440" marR="91440" marT="45720" marB="45720">
                    <a:solidFill>
                      <a:srgbClr val="FFFFFF"/>
                    </a:solidFill>
                  </a:tcPr>
                </a:tc>
                <a:tc>
                  <a:txBody>
                    <a:bodyPr/>
                    <a:lstStyle/>
                    <a:p>
                      <a:r>
                        <a:rPr sz="1725" b="0">
                          <a:solidFill>
                            <a:srgbClr val="173746"/>
                          </a:solidFill>
                          <a:latin typeface="Arial"/>
                          <a:ea typeface="Arial"/>
                          <a:cs typeface="Arial"/>
                        </a:rPr>
                        <a:t>Routed Location predicts positive (wrong)</a:t>
                      </a:r>
                    </a:p>
                  </a:txBody>
                  <a:tcPr marL="91440" marR="91440" marT="45720" marB="45720">
                    <a:solidFill>
                      <a:srgbClr val="FFFFFF"/>
                    </a:solidFill>
                  </a:tcPr>
                </a:tc>
              </a:tr>
              <a:tr h="628650">
                <a:tc>
                  <a:txBody>
                    <a:bodyPr/>
                    <a:lstStyle/>
                    <a:p>
                      <a:r>
                        <a:rPr sz="1725" b="0">
                          <a:solidFill>
                            <a:srgbClr val="173746"/>
                          </a:solidFill>
                          <a:latin typeface="Arial"/>
                          <a:ea typeface="Arial"/>
                          <a:cs typeface="Arial"/>
                        </a:rPr>
                        <a:t>The hotel was expensive but ... near the station.</a:t>
                      </a:r>
                    </a:p>
                  </a:txBody>
                  <a:tcPr marL="91440" marR="91440" marT="45720" marB="45720">
                    <a:solidFill>
                      <a:srgbClr val="F0F5F7"/>
                    </a:solidFill>
                  </a:tcPr>
                </a:tc>
                <a:tc>
                  <a:txBody>
                    <a:bodyPr/>
                    <a:lstStyle/>
                    <a:p>
                      <a:r>
                        <a:rPr sz="1725" b="0">
                          <a:solidFill>
                            <a:srgbClr val="173746"/>
                          </a:solidFill>
                          <a:latin typeface="Arial"/>
                          <a:ea typeface="Arial"/>
                          <a:cs typeface="Arial"/>
                        </a:rPr>
                        <a:t>Value predicts positive (wrong)</a:t>
                      </a:r>
                    </a:p>
                  </a:txBody>
                  <a:tcPr marL="91440" marR="91440" marT="45720" marB="45720">
                    <a:solidFill>
                      <a:srgbClr val="F0F5F7"/>
                    </a:solidFill>
                  </a:tcPr>
                </a:tc>
              </a:tr>
            </a:tbl>
          </a:graphicData>
        </a:graphic>
      </p:graphicFrame>
      <p:sp>
        <p:nvSpPr>
          <p:cNvPr id="4" name="">
            <a:extLst xmlns:a="http://schemas.openxmlformats.org/drawingml/2006/main">
              <a:ext uri="{FF2B5EF4-FFF2-40B4-BE49-F238E27FC236}">
                <a16:creationId xmlns:a16="http://schemas.microsoft.com/office/drawing/2014/main" id="{8921A834-5529-4FD5-976E-F5F5EFE0D451}"/>
              </a:ext>
            </a:extLst>
          </p:cNvPr>
          <p:cNvSpPr>
            <a:spLocks xmlns:a="http://schemas.openxmlformats.org/drawingml/2006/main" noGrp="1"/>
          </p:cNvSpPr>
          <p:nvPr/>
        </p:nvSpPr>
        <p:spPr>
          <a:xfrm xmlns:a="http://schemas.openxmlformats.org/drawingml/2006/main">
            <a:off x="723900" y="5076825"/>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176B87"/>
                </a:solidFill>
                <a:latin typeface="Arial"/>
                <a:ea typeface="Arial"/>
                <a:cs typeface="Arial"/>
              </a:defRPr>
            </a:defPPr>
          </a:lstStyle>
          <a:p xmlns:a="http://schemas.openxmlformats.org/drawingml/2006/main">
            <a:pPr>
              <a:defRPr sz="2100" b="1">
                <a:solidFill>
                  <a:srgbClr val="176B87"/>
                </a:solidFill>
                <a:latin typeface="Arial"/>
                <a:ea typeface="Arial"/>
                <a:cs typeface="Arial"/>
              </a:defRPr>
            </a:pPr>
            <a:r>
              <a:rPr sz="2100" b="1">
                <a:solidFill>
                  <a:srgbClr val="176B87"/>
                </a:solidFill>
                <a:latin typeface="Arial"/>
                <a:ea typeface="Arial"/>
                <a:cs typeface="Arial"/>
              </a:rPr>
              <a:t>Mixed-label subset F1: Cleanliness 0.511 to 0.560,</a:t>
            </a:r>
          </a:p>
          <a:p xmlns:a="http://schemas.openxmlformats.org/drawingml/2006/main">
            <a:pPr>
              <a:defRPr sz="2100" b="1">
                <a:solidFill>
                  <a:srgbClr val="176B87"/>
                </a:solidFill>
                <a:latin typeface="Arial"/>
                <a:ea typeface="Arial"/>
                <a:cs typeface="Arial"/>
              </a:defRPr>
            </a:pPr>
            <a:r>
              <a:rPr sz="2100" b="1">
                <a:solidFill>
                  <a:srgbClr val="176B87"/>
                </a:solidFill>
                <a:latin typeface="Arial"/>
                <a:ea typeface="Arial"/>
                <a:cs typeface="Arial"/>
              </a:rPr>
              <a:t>Location 0.412 to 0.322, Rooms unchanged at 0.460.</a:t>
            </a:r>
          </a:p>
        </p:txBody>
      </p:sp>
    </p:spTree>
    <p:extLst>
      <p:ext uri="{BB962C8B-B14F-4D97-AF65-F5344CB8AC3E}">
        <p14:creationId xmlns:p14="http://schemas.microsoft.com/office/powerpoint/2010/main" val="1175923056"/>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7737D57-1F2C-477A-BCA8-4AE2E061C559}"/>
              </a:ext>
            </a:extLst>
          </p:cNvPr>
          <p:cNvSpPr>
            <a:spLocks xmlns:a="http://schemas.openxmlformats.org/drawingml/2006/main" noGrp="1"/>
          </p:cNvSpPr>
          <p:nvPr/>
        </p:nvSpPr>
        <p:spPr>
          <a:xfrm xmlns:a="http://schemas.openxmlformats.org/drawingml/2006/main">
            <a:off x="609600" y="40005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225" b="1">
                <a:solidFill>
                  <a:srgbClr val="173746"/>
                </a:solidFill>
                <a:latin typeface="Arial"/>
                <a:ea typeface="Arial"/>
                <a:cs typeface="Arial"/>
              </a:defRPr>
            </a:defPPr>
          </a:lstStyle>
          <a:p xmlns:a="http://schemas.openxmlformats.org/drawingml/2006/main">
            <a:pPr>
              <a:defRPr sz="3225" b="1">
                <a:solidFill>
                  <a:srgbClr val="173746"/>
                </a:solidFill>
                <a:latin typeface="Arial"/>
                <a:ea typeface="Arial"/>
                <a:cs typeface="Arial"/>
              </a:defRPr>
            </a:pPr>
            <a:r>
              <a:rPr sz="3225" b="1">
                <a:solidFill>
                  <a:srgbClr val="173746"/>
                </a:solidFill>
                <a:latin typeface="Arial"/>
                <a:ea typeface="Arial"/>
                <a:cs typeface="Arial"/>
              </a:rPr>
              <a:t>Software tests and live demonstration</a:t>
            </a:r>
          </a:p>
        </p:txBody>
      </p:sp>
      <p:sp>
        <p:nvSpPr>
          <p:cNvPr id="2" name="">
            <a:extLst xmlns:a="http://schemas.openxmlformats.org/drawingml/2006/main">
              <a:ext uri="{FF2B5EF4-FFF2-40B4-BE49-F238E27FC236}">
                <a16:creationId xmlns:a16="http://schemas.microsoft.com/office/drawing/2014/main" id="{1BD8114D-0A0D-4FFE-98E4-65E330E1ACB0}"/>
              </a:ext>
            </a:extLst>
          </p:cNvPr>
          <p:cNvSpPr>
            <a:spLocks xmlns:a="http://schemas.openxmlformats.org/drawingml/2006/main" noGrp="1"/>
          </p:cNvSpPr>
          <p:nvPr/>
        </p:nvSpPr>
        <p:spPr>
          <a:xfrm xmlns:a="http://schemas.openxmlformats.org/drawingml/2006/main">
            <a:off x="609600" y="641985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53646C"/>
                </a:solidFill>
                <a:latin typeface="Arial"/>
                <a:ea typeface="Arial"/>
                <a:cs typeface="Arial"/>
              </a:defRPr>
            </a:defPPr>
          </a:lstStyle>
          <a:p xmlns:a="http://schemas.openxmlformats.org/drawingml/2006/main">
            <a:pPr>
              <a:defRPr sz="1200" b="0">
                <a:solidFill>
                  <a:srgbClr val="53646C"/>
                </a:solidFill>
                <a:latin typeface="Arial"/>
                <a:ea typeface="Arial"/>
                <a:cs typeface="Arial"/>
              </a:defRPr>
            </a:pPr>
            <a:r>
              <a:rPr sz="1200" b="0">
                <a:solidFill>
                  <a:srgbClr val="53646C"/>
                </a:solidFill>
                <a:latin typeface="Arial"/>
                <a:ea typeface="Arial"/>
                <a:cs typeface="Arial"/>
              </a:rPr>
              <a:t>Team 22   UE24CS352A                                     12</a:t>
            </a:r>
          </a:p>
        </p:txBody>
      </p:sp>
      <p:sp>
        <p:nvSpPr>
          <p:cNvPr id="3" name="">
            <a:extLst xmlns:a="http://schemas.openxmlformats.org/drawingml/2006/main">
              <a:ext uri="{FF2B5EF4-FFF2-40B4-BE49-F238E27FC236}">
                <a16:creationId xmlns:a16="http://schemas.microsoft.com/office/drawing/2014/main" id="{870CF4E8-604F-4BF6-85B8-45AD04660383}"/>
              </a:ext>
            </a:extLst>
          </p:cNvPr>
          <p:cNvSpPr>
            <a:spLocks xmlns:a="http://schemas.openxmlformats.org/drawingml/2006/main" noGrp="1"/>
          </p:cNvSpPr>
          <p:nvPr/>
        </p:nvSpPr>
        <p:spPr>
          <a:xfrm xmlns:a="http://schemas.openxmlformats.org/drawingml/2006/main">
            <a:off x="723900" y="1466850"/>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4275" b="1">
                <a:solidFill>
                  <a:srgbClr val="176B87"/>
                </a:solidFill>
                <a:latin typeface="Arial"/>
                <a:ea typeface="Arial"/>
                <a:cs typeface="Arial"/>
              </a:defRPr>
            </a:defPPr>
          </a:lstStyle>
          <a:p xmlns:a="http://schemas.openxmlformats.org/drawingml/2006/main">
            <a:pPr>
              <a:defRPr sz="4275" b="1">
                <a:solidFill>
                  <a:srgbClr val="176B87"/>
                </a:solidFill>
                <a:latin typeface="Arial"/>
                <a:ea typeface="Arial"/>
                <a:cs typeface="Arial"/>
              </a:defRPr>
            </a:pPr>
            <a:r>
              <a:rPr sz="4275" b="1">
                <a:solidFill>
                  <a:srgbClr val="176B87"/>
                </a:solidFill>
                <a:latin typeface="Arial"/>
                <a:ea typeface="Arial"/>
                <a:cs typeface="Arial"/>
              </a:rPr>
              <a:t>78 tests pass</a:t>
            </a:r>
          </a:p>
        </p:txBody>
      </p:sp>
      <p:sp>
        <p:nvSpPr>
          <p:cNvPr id="4" name="">
            <a:extLst xmlns:a="http://schemas.openxmlformats.org/drawingml/2006/main">
              <a:ext uri="{FF2B5EF4-FFF2-40B4-BE49-F238E27FC236}">
                <a16:creationId xmlns:a16="http://schemas.microsoft.com/office/drawing/2014/main" id="{F49B9667-BCB2-4A0E-B330-8FD84EC47C7F}"/>
              </a:ext>
            </a:extLst>
          </p:cNvPr>
          <p:cNvSpPr>
            <a:spLocks xmlns:a="http://schemas.openxmlformats.org/drawingml/2006/main" noGrp="1"/>
          </p:cNvSpPr>
          <p:nvPr/>
        </p:nvSpPr>
        <p:spPr>
          <a:xfrm xmlns:a="http://schemas.openxmlformats.org/drawingml/2006/main">
            <a:off x="723900" y="2476500"/>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73746"/>
                </a:solidFill>
                <a:latin typeface="Arial"/>
                <a:ea typeface="Arial"/>
                <a:cs typeface="Arial"/>
              </a:defRPr>
            </a:defPPr>
          </a:lstStyle>
          <a:p xmlns:a="http://schemas.openxmlformats.org/drawingml/2006/main">
            <a:pPr>
              <a:defRPr sz="2100" b="0">
                <a:solidFill>
                  <a:srgbClr val="173746"/>
                </a:solidFill>
                <a:latin typeface="Arial"/>
                <a:ea typeface="Arial"/>
                <a:cs typeface="Arial"/>
              </a:defRPr>
            </a:pPr>
            <a:r>
              <a:rPr sz="2100" b="0">
                <a:solidFill>
                  <a:srgbClr val="173746"/>
                </a:solidFill>
                <a:latin typeface="Arial"/>
                <a:ea typeface="Arial"/>
                <a:cs typeface="Arial"/>
              </a:rPr>
              <a:t>Routing, leakage checks, saved models, CLI and Streamlit interactions</a:t>
            </a:r>
          </a:p>
        </p:txBody>
      </p:sp>
      <p:sp>
        <p:nvSpPr>
          <p:cNvPr id="5" name="">
            <a:extLst xmlns:a="http://schemas.openxmlformats.org/drawingml/2006/main">
              <a:ext uri="{FF2B5EF4-FFF2-40B4-BE49-F238E27FC236}">
                <a16:creationId xmlns:a16="http://schemas.microsoft.com/office/drawing/2014/main" id="{69655E22-EBF9-4C6A-B77C-4DA505A6DEDC}"/>
              </a:ext>
            </a:extLst>
          </p:cNvPr>
          <p:cNvSpPr>
            <a:spLocks xmlns:a="http://schemas.openxmlformats.org/drawingml/2006/main" noGrp="1"/>
          </p:cNvSpPr>
          <p:nvPr/>
        </p:nvSpPr>
        <p:spPr>
          <a:xfrm xmlns:a="http://schemas.openxmlformats.org/drawingml/2006/main">
            <a:off x="723900" y="3533775"/>
            <a:ext cx="10668000" cy="2152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173746"/>
                </a:solidFill>
                <a:latin typeface="Arial"/>
                <a:ea typeface="Arial"/>
                <a:cs typeface="Arial"/>
              </a:defRPr>
            </a:defPPr>
          </a:lstStyle>
          <a:p xmlns:a="http://schemas.openxmlformats.org/drawingml/2006/main">
            <a:pPr>
              <a:defRPr sz="1950" b="0">
                <a:solidFill>
                  <a:srgbClr val="173746"/>
                </a:solidFill>
                <a:latin typeface="Arial"/>
                <a:ea typeface="Arial"/>
                <a:cs typeface="Arial"/>
              </a:defRPr>
            </a:pPr>
            <a:r>
              <a:rPr sz="1950" b="0">
                <a:solidFill>
                  <a:srgbClr val="173746"/>
                </a:solidFill>
                <a:latin typeface="Arial"/>
                <a:ea typeface="Arial"/>
                <a:cs typeface="Arial"/>
              </a:rPr>
              <a:t>Training: python run_project.py</a:t>
            </a:r>
          </a:p>
          <a:p xmlns:a="http://schemas.openxmlformats.org/drawingml/2006/main">
            <a:pPr>
              <a:defRPr sz="1950" b="0">
                <a:solidFill>
                  <a:srgbClr val="173746"/>
                </a:solidFill>
                <a:latin typeface="Arial"/>
                <a:ea typeface="Arial"/>
                <a:cs typeface="Arial"/>
              </a:defRPr>
            </a:pPr>
            <a:r>
              <a:rPr sz="1950" b="0">
                <a:solidFill>
                  <a:srgbClr val="173746"/>
                </a:solidFill>
                <a:latin typeface="Arial"/>
                <a:ea typeface="Arial"/>
                <a:cs typeface="Arial"/>
              </a:rPr>
              <a:t>CLI: python run_project.py --review "The staff were friendly."</a:t>
            </a:r>
          </a:p>
          <a:p xmlns:a="http://schemas.openxmlformats.org/drawingml/2006/main">
            <a:pPr>
              <a:defRPr sz="1950" b="0">
                <a:solidFill>
                  <a:srgbClr val="173746"/>
                </a:solidFill>
                <a:latin typeface="Arial"/>
                <a:ea typeface="Arial"/>
                <a:cs typeface="Arial"/>
              </a:defRPr>
            </a:pPr>
            <a:r>
              <a:rPr sz="1950" b="0">
                <a:solidFill>
                  <a:srgbClr val="173746"/>
                </a:solidFill>
                <a:latin typeface="Arial"/>
                <a:ea typeface="Arial"/>
                <a:cs typeface="Arial"/>
              </a:rPr>
              <a:t>Demo: python -m streamlit run streamlit_app.py</a:t>
            </a:r>
          </a:p>
          <a:p xmlns:a="http://schemas.openxmlformats.org/drawingml/2006/main">
            <a:pPr>
              <a:defRPr sz="1950" b="0">
                <a:solidFill>
                  <a:srgbClr val="173746"/>
                </a:solidFill>
                <a:latin typeface="Arial"/>
                <a:ea typeface="Arial"/>
                <a:cs typeface="Arial"/>
              </a:defRPr>
            </a:pPr>
            <a:r>
              <a:rPr sz="1950" b="0">
                <a:solidFill>
                  <a:srgbClr val="173746"/>
                </a:solidFill>
                <a:latin typeface="Arial"/>
                <a:ea typeface="Arial"/>
                <a:cs typeface="Arial"/>
              </a:rPr>
              <a:t>Verification: python verify_project.py</a:t>
            </a:r>
          </a:p>
        </p:txBody>
      </p:sp>
    </p:spTree>
    <p:extLst>
      <p:ext uri="{BB962C8B-B14F-4D97-AF65-F5344CB8AC3E}">
        <p14:creationId xmlns:p14="http://schemas.microsoft.com/office/powerpoint/2010/main" val="475274709"/>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4CB18BC-98CF-470C-85D1-75C87929753D}"/>
              </a:ext>
            </a:extLst>
          </p:cNvPr>
          <p:cNvSpPr>
            <a:spLocks xmlns:a="http://schemas.openxmlformats.org/drawingml/2006/main" noGrp="1"/>
          </p:cNvSpPr>
          <p:nvPr/>
        </p:nvSpPr>
        <p:spPr>
          <a:xfrm xmlns:a="http://schemas.openxmlformats.org/drawingml/2006/main">
            <a:off x="609600" y="40005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225" b="1">
                <a:solidFill>
                  <a:srgbClr val="173746"/>
                </a:solidFill>
                <a:latin typeface="Arial"/>
                <a:ea typeface="Arial"/>
                <a:cs typeface="Arial"/>
              </a:defRPr>
            </a:defPPr>
          </a:lstStyle>
          <a:p xmlns:a="http://schemas.openxmlformats.org/drawingml/2006/main">
            <a:pPr>
              <a:defRPr sz="3225" b="1">
                <a:solidFill>
                  <a:srgbClr val="173746"/>
                </a:solidFill>
                <a:latin typeface="Arial"/>
                <a:ea typeface="Arial"/>
                <a:cs typeface="Arial"/>
              </a:defRPr>
            </a:pPr>
            <a:r>
              <a:rPr sz="3225" b="1">
                <a:solidFill>
                  <a:srgbClr val="173746"/>
                </a:solidFill>
                <a:latin typeface="Arial"/>
                <a:ea typeface="Arial"/>
                <a:cs typeface="Arial"/>
              </a:rPr>
              <a:t>Conclusion and future work</a:t>
            </a:r>
          </a:p>
        </p:txBody>
      </p:sp>
      <p:sp>
        <p:nvSpPr>
          <p:cNvPr id="2" name="">
            <a:extLst xmlns:a="http://schemas.openxmlformats.org/drawingml/2006/main">
              <a:ext uri="{FF2B5EF4-FFF2-40B4-BE49-F238E27FC236}">
                <a16:creationId xmlns:a16="http://schemas.microsoft.com/office/drawing/2014/main" id="{3B0E521D-B989-4776-8E18-46A5E81B131C}"/>
              </a:ext>
            </a:extLst>
          </p:cNvPr>
          <p:cNvSpPr>
            <a:spLocks xmlns:a="http://schemas.openxmlformats.org/drawingml/2006/main" noGrp="1"/>
          </p:cNvSpPr>
          <p:nvPr/>
        </p:nvSpPr>
        <p:spPr>
          <a:xfrm xmlns:a="http://schemas.openxmlformats.org/drawingml/2006/main">
            <a:off x="609600" y="641985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53646C"/>
                </a:solidFill>
                <a:latin typeface="Arial"/>
                <a:ea typeface="Arial"/>
                <a:cs typeface="Arial"/>
              </a:defRPr>
            </a:defPPr>
          </a:lstStyle>
          <a:p xmlns:a="http://schemas.openxmlformats.org/drawingml/2006/main">
            <a:pPr>
              <a:defRPr sz="1200" b="0">
                <a:solidFill>
                  <a:srgbClr val="53646C"/>
                </a:solidFill>
                <a:latin typeface="Arial"/>
                <a:ea typeface="Arial"/>
                <a:cs typeface="Arial"/>
              </a:defRPr>
            </a:pPr>
            <a:r>
              <a:rPr sz="1200" b="0">
                <a:solidFill>
                  <a:srgbClr val="53646C"/>
                </a:solidFill>
                <a:latin typeface="Arial"/>
                <a:ea typeface="Arial"/>
                <a:cs typeface="Arial"/>
              </a:rPr>
              <a:t>Team 22   UE24CS352A                                     13</a:t>
            </a:r>
          </a:p>
        </p:txBody>
      </p:sp>
      <p:sp>
        <p:nvSpPr>
          <p:cNvPr id="3" name="">
            <a:extLst xmlns:a="http://schemas.openxmlformats.org/drawingml/2006/main">
              <a:ext uri="{FF2B5EF4-FFF2-40B4-BE49-F238E27FC236}">
                <a16:creationId xmlns:a16="http://schemas.microsoft.com/office/drawing/2014/main" id="{3D369F47-1CD7-479A-B310-4E12DB7D1302}"/>
              </a:ext>
            </a:extLst>
          </p:cNvPr>
          <p:cNvSpPr>
            <a:spLocks xmlns:a="http://schemas.openxmlformats.org/drawingml/2006/main" noGrp="1"/>
          </p:cNvSpPr>
          <p:nvPr/>
        </p:nvSpPr>
        <p:spPr>
          <a:xfrm xmlns:a="http://schemas.openxmlformats.org/drawingml/2006/main">
            <a:off x="723900" y="1504950"/>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73746"/>
                </a:solidFill>
                <a:latin typeface="Arial"/>
                <a:ea typeface="Arial"/>
                <a:cs typeface="Arial"/>
              </a:defRPr>
            </a:defPPr>
          </a:lstStyle>
          <a:p xmlns:a="http://schemas.openxmlformats.org/drawingml/2006/main">
            <a:pPr>
              <a:defRPr sz="2250" b="0">
                <a:solidFill>
                  <a:srgbClr val="173746"/>
                </a:solidFill>
                <a:latin typeface="Arial"/>
                <a:ea typeface="Arial"/>
                <a:cs typeface="Arial"/>
              </a:defRPr>
            </a:pPr>
            <a:r>
              <a:rPr sz="2250" b="0">
                <a:solidFill>
                  <a:srgbClr val="173746"/>
                </a:solidFill>
                <a:latin typeface="Arial"/>
                <a:ea typeface="Arial"/>
                <a:cs typeface="Arial"/>
              </a:rPr>
              <a:t>The project runs with transparent evidence and uncertainty.</a:t>
            </a:r>
          </a:p>
        </p:txBody>
      </p:sp>
      <p:sp>
        <p:nvSpPr>
          <p:cNvPr id="4" name="">
            <a:extLst xmlns:a="http://schemas.openxmlformats.org/drawingml/2006/main">
              <a:ext uri="{FF2B5EF4-FFF2-40B4-BE49-F238E27FC236}">
                <a16:creationId xmlns:a16="http://schemas.microsoft.com/office/drawing/2014/main" id="{6C3D351C-3FF8-46E5-B3DB-A830EC86753F}"/>
              </a:ext>
            </a:extLst>
          </p:cNvPr>
          <p:cNvSpPr>
            <a:spLocks xmlns:a="http://schemas.openxmlformats.org/drawingml/2006/main" noGrp="1"/>
          </p:cNvSpPr>
          <p:nvPr/>
        </p:nvSpPr>
        <p:spPr>
          <a:xfrm xmlns:a="http://schemas.openxmlformats.org/drawingml/2006/main">
            <a:off x="723900" y="2533650"/>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73746"/>
                </a:solidFill>
                <a:latin typeface="Arial"/>
                <a:ea typeface="Arial"/>
                <a:cs typeface="Arial"/>
              </a:defRPr>
            </a:defPPr>
          </a:lstStyle>
          <a:p xmlns:a="http://schemas.openxmlformats.org/drawingml/2006/main">
            <a:pPr>
              <a:defRPr sz="2250" b="0">
                <a:solidFill>
                  <a:srgbClr val="173746"/>
                </a:solidFill>
                <a:latin typeface="Arial"/>
                <a:ea typeface="Arial"/>
                <a:cs typeface="Arial"/>
              </a:defRPr>
            </a:pPr>
            <a:r>
              <a:rPr sz="2250" b="0">
                <a:solidFill>
                  <a:srgbClr val="173746"/>
                </a:solidFill>
                <a:latin typeface="Arial"/>
                <a:ea typeface="Arial"/>
                <a:cs typeface="Arial"/>
              </a:rPr>
              <a:t>Routing improves some Cleanliness diagnostics and polarity F1.</a:t>
            </a:r>
          </a:p>
        </p:txBody>
      </p:sp>
      <p:sp>
        <p:nvSpPr>
          <p:cNvPr id="5" name="">
            <a:extLst xmlns:a="http://schemas.openxmlformats.org/drawingml/2006/main">
              <a:ext uri="{FF2B5EF4-FFF2-40B4-BE49-F238E27FC236}">
                <a16:creationId xmlns:a16="http://schemas.microsoft.com/office/drawing/2014/main" id="{BCEA7E7C-B445-442F-A8D4-D6BBC53A6149}"/>
              </a:ext>
            </a:extLst>
          </p:cNvPr>
          <p:cNvSpPr>
            <a:spLocks xmlns:a="http://schemas.openxmlformats.org/drawingml/2006/main" noGrp="1"/>
          </p:cNvSpPr>
          <p:nvPr/>
        </p:nvSpPr>
        <p:spPr>
          <a:xfrm xmlns:a="http://schemas.openxmlformats.org/drawingml/2006/main">
            <a:off x="723900" y="3562350"/>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73746"/>
                </a:solidFill>
                <a:latin typeface="Arial"/>
                <a:ea typeface="Arial"/>
                <a:cs typeface="Arial"/>
              </a:defRPr>
            </a:defPPr>
          </a:lstStyle>
          <a:p xmlns:a="http://schemas.openxmlformats.org/drawingml/2006/main">
            <a:pPr>
              <a:defRPr sz="2250" b="0">
                <a:solidFill>
                  <a:srgbClr val="173746"/>
                </a:solidFill>
                <a:latin typeface="Arial"/>
                <a:ea typeface="Arial"/>
                <a:cs typeface="Arial"/>
              </a:defRPr>
            </a:pPr>
            <a:r>
              <a:rPr sz="2250" b="0">
                <a:solidFill>
                  <a:srgbClr val="173746"/>
                </a:solidFill>
                <a:latin typeface="Arial"/>
                <a:ea typeface="Arial"/>
                <a:cs typeface="Arial"/>
              </a:rPr>
              <a:t>Location regresses and Rooms still shows mixed-review errors.</a:t>
            </a:r>
          </a:p>
        </p:txBody>
      </p:sp>
      <p:sp>
        <p:nvSpPr>
          <p:cNvPr id="6" name="">
            <a:extLst xmlns:a="http://schemas.openxmlformats.org/drawingml/2006/main">
              <a:ext uri="{FF2B5EF4-FFF2-40B4-BE49-F238E27FC236}">
                <a16:creationId xmlns:a16="http://schemas.microsoft.com/office/drawing/2014/main" id="{3AA51C92-1AE4-4928-A78E-1E0519264F55}"/>
              </a:ext>
            </a:extLst>
          </p:cNvPr>
          <p:cNvSpPr>
            <a:spLocks xmlns:a="http://schemas.openxmlformats.org/drawingml/2006/main" noGrp="1"/>
          </p:cNvSpPr>
          <p:nvPr/>
        </p:nvSpPr>
        <p:spPr>
          <a:xfrm xmlns:a="http://schemas.openxmlformats.org/drawingml/2006/main">
            <a:off x="723900" y="4591050"/>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73746"/>
                </a:solidFill>
                <a:latin typeface="Arial"/>
                <a:ea typeface="Arial"/>
                <a:cs typeface="Arial"/>
              </a:defRPr>
            </a:defPPr>
          </a:lstStyle>
          <a:p xmlns:a="http://schemas.openxmlformats.org/drawingml/2006/main">
            <a:pPr>
              <a:defRPr sz="2250" b="0">
                <a:solidFill>
                  <a:srgbClr val="173746"/>
                </a:solidFill>
                <a:latin typeface="Arial"/>
                <a:ea typeface="Arial"/>
                <a:cs typeface="Arial"/>
              </a:defRPr>
            </a:pPr>
            <a:r>
              <a:rPr sz="2250" b="0">
                <a:solidFill>
                  <a:srgbClr val="173746"/>
                </a:solidFill>
                <a:latin typeface="Arial"/>
                <a:ea typeface="Arial"/>
                <a:cs typeface="Arial"/>
              </a:rPr>
              <a:t>Next: annotated aspect spans, more real labels and a fresh holdout.</a:t>
            </a:r>
          </a:p>
        </p:txBody>
      </p:sp>
      <p:sp>
        <p:nvSpPr>
          <p:cNvPr id="7" name="">
            <a:extLst xmlns:a="http://schemas.openxmlformats.org/drawingml/2006/main">
              <a:ext uri="{FF2B5EF4-FFF2-40B4-BE49-F238E27FC236}">
                <a16:creationId xmlns:a16="http://schemas.microsoft.com/office/drawing/2014/main" id="{CEFE35F0-1047-46FA-BF4A-A56300CD423D}"/>
              </a:ext>
            </a:extLst>
          </p:cNvPr>
          <p:cNvSpPr>
            <a:spLocks xmlns:a="http://schemas.openxmlformats.org/drawingml/2006/main" noGrp="1"/>
          </p:cNvSpPr>
          <p:nvPr/>
        </p:nvSpPr>
        <p:spPr>
          <a:xfrm xmlns:a="http://schemas.openxmlformats.org/drawingml/2006/main">
            <a:off x="723900" y="579120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53646C"/>
                </a:solidFill>
                <a:latin typeface="Arial"/>
                <a:ea typeface="Arial"/>
                <a:cs typeface="Arial"/>
              </a:defRPr>
            </a:defPPr>
          </a:lstStyle>
          <a:p xmlns:a="http://schemas.openxmlformats.org/drawingml/2006/main">
            <a:pPr>
              <a:defRPr sz="1725" b="0">
                <a:solidFill>
                  <a:srgbClr val="53646C"/>
                </a:solidFill>
                <a:latin typeface="Arial"/>
                <a:ea typeface="Arial"/>
                <a:cs typeface="Arial"/>
              </a:defRPr>
            </a:pPr>
            <a:r>
              <a:rPr sz="1725" b="0">
                <a:solidFill>
                  <a:srgbClr val="53646C"/>
                </a:solidFill>
                <a:latin typeface="Arial"/>
                <a:ea typeface="Arial"/>
                <a:cs typeface="Arial"/>
              </a:rPr>
              <a:t>Transformers remain future work. Full sources and limitations are in the report.</a:t>
            </a:r>
          </a:p>
        </p:txBody>
      </p:sp>
    </p:spTree>
    <p:extLst>
      <p:ext uri="{BB962C8B-B14F-4D97-AF65-F5344CB8AC3E}">
        <p14:creationId xmlns:p14="http://schemas.microsoft.com/office/powerpoint/2010/main" val="78577354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2026-10-08T13:01:14.6290000Z</dcterms:created>
  <dcterms:modified xsi:type="dcterms:W3CDTF">2026-10-08T13:01:14.6290000Z</dcterms:modified>
</coreProperties>
</file>