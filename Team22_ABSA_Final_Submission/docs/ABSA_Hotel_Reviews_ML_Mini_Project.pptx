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8e0134-1ff1-fdbc-c789-52bfe5b2393b}">
          <p14:sldIdLst>
            <p14:sldId id="256"/>
          </p14:sldIdLst>
        </p14:section>
        <p14:section name="Default-1" id="{df88f5e6-91b2-5724-0e25-22612e4105cd}">
          <p14:sldIdLst>
            <p14:sldId id="257"/>
            <p14:sldId id="258"/>
            <p14:sldId id="259"/>
          </p14:sldIdLst>
        </p14:section>
        <p14:section name="Method" id="{fad4b84a-94ee-0a9f-4b0b-959dd3c73f0d}">
          <p14:sldIdLst>
            <p14:sldId id="260"/>
            <p14:sldId id="261"/>
            <p14:sldId id="262"/>
            <p14:sldId id="263"/>
          </p14:sldIdLst>
        </p14:section>
        <p14:section name="Results" id="{12b4e4b9-05aa-4fb6-ba17-655af7076ca7}">
          <p14:sldIdLst>
            <p14:sldId id="264"/>
            <p14:sldId id="265"/>
            <p14:sldId id="266"/>
            <p14:sldId id="267"/>
            <p14:sldId id="268"/>
          </p14:sldIdLst>
        </p14:section>
        <p14:section name="Application and conclusion" id="{b3d20a4f-237f-ccd8-5f15-bb2352136930}">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Hotel-disjoint split of 2,100 reviews</a:t>
            </a:r>
          </a:p>
        </c:rich>
      </c:tx>
      <c:layout/>
      <c:overlay val="0"/>
    </c:title>
    <c:autoTitleDeleted val="0"/>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1F3A6E"/>
              </a:solidFill>
              <a:ln w="25400" cap="flat">
                <a:solidFill>
                  <a:srgbClr val="FFFFFF"/>
                </a:solidFill>
                <a:prstDash val="solid"/>
                <a:round/>
              </a:ln>
              <a:effectLst/>
            </c:spPr>
          </c:dPt>
          <c:dPt>
            <c:idx val="1"/>
            <c:bubble3D val="0"/>
            <c:spPr>
              <a:solidFill>
                <a:srgbClr val="0E9AA7"/>
              </a:solidFill>
              <a:ln w="25400" cap="flat">
                <a:solidFill>
                  <a:srgbClr val="FFFFFF"/>
                </a:solidFill>
                <a:prstDash val="solid"/>
                <a:round/>
              </a:ln>
              <a:effectLst/>
            </c:spPr>
          </c:dPt>
          <c:dPt>
            <c:idx val="2"/>
            <c:bubble3D val="0"/>
            <c:spPr>
              <a:solidFill>
                <a:srgbClr val="E8604C"/>
              </a:solidFill>
              <a:ln w="25400" cap="flat">
                <a:solidFill>
                  <a:srgbClr val="FFFFFF"/>
                </a:solidFill>
                <a:prstDash val="solid"/>
                <a:round/>
              </a:ln>
              <a:effectLst/>
            </c:spPr>
          </c:dPt>
          <c:dLbls>
            <c:dLbl>
              <c:idx val="0"/>
              <c:numFmt formatCode="0.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1"/>
              <c:numFmt formatCode="0.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2"/>
              <c:numFmt formatCode="0.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Training · 1,342</c:v>
                </c:pt>
                <c:pt idx="1">
                  <c:v>Validation · 388</c:v>
                </c:pt>
                <c:pt idx="2">
                  <c:v>Test · 370</c:v>
                </c:pt>
              </c:strCache>
            </c:strRef>
          </c:cat>
          <c:val>
            <c:numRef>
              <c:f>Sheet1!$B$2:$B$4</c:f>
              <c:numCache>
                <c:ptCount val="3"/>
                <c:pt idx="0">
                  <c:v>1342</c:v>
                </c:pt>
                <c:pt idx="1">
                  <c:v>388</c:v>
                </c:pt>
                <c:pt idx="2">
                  <c:v>370</c:v>
                </c:pt>
              </c:numCache>
            </c:numRef>
          </c:val>
        </c:ser>
        <c:firstSliceAng val="0"/>
        <c:holeSize val="58"/>
      </c:doughnutChart>
      <c:spPr>
        <a:noFill/>
        <a:ln>
          <a:noFill/>
        </a:ln>
        <a:effectLst/>
      </c:spPr>
    </c:plotArea>
    <c:legend>
      <c:legendPos val="b"/>
      <c:overlay val="0"/>
      <c:txPr>
        <a:bodyPr/>
        <a:lstStyle/>
        <a:p>
          <a:pPr>
            <a:defRPr sz="11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Test-set class distribution by target (number of reviews)</a:t>
            </a:r>
          </a:p>
        </c:rich>
      </c:tx>
      <c:layout/>
      <c:overlay val="0"/>
    </c:title>
    <c:autoTitleDeleted val="0"/>
    <c:plotArea>
      <c:layout/>
      <c:barChart>
        <c:barDir val="bar"/>
        <c:grouping val="stacked"/>
        <c:varyColors val="0"/>
        <c:ser>
          <c:idx val="0"/>
          <c:order val="0"/>
          <c:tx>
            <c:strRef>
              <c:f>Sheet1!$B$1</c:f>
              <c:strCache>
                <c:ptCount val="1"/>
                <c:pt idx="0">
                  <c:v>Negative (1–2★)</c:v>
                </c:pt>
              </c:strCache>
            </c:strRef>
          </c:tx>
          <c:spPr>
            <a:solidFill>
              <a:srgbClr val="E8604C"/>
            </a:solidFill>
            <a:effectLst/>
          </c:spPr>
          <c:invertIfNegative val="0"/>
          <c:dLbls>
            <c:numFmt formatCode="#,##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Sheet1!$B$2:$B$8</c:f>
              <c:numCache>
                <c:formatCode>General</c:formatCode>
                <c:ptCount val="7"/>
                <c:pt idx="0">
                  <c:v>170</c:v>
                </c:pt>
                <c:pt idx="1">
                  <c:v>98</c:v>
                </c:pt>
                <c:pt idx="2">
                  <c:v>86</c:v>
                </c:pt>
                <c:pt idx="3">
                  <c:v>20</c:v>
                </c:pt>
                <c:pt idx="4">
                  <c:v>114</c:v>
                </c:pt>
                <c:pt idx="5">
                  <c:v>56</c:v>
                </c:pt>
                <c:pt idx="6">
                  <c:v>42</c:v>
                </c:pt>
              </c:numCache>
            </c:numRef>
          </c:val>
        </c:ser>
        <c:ser>
          <c:idx val="1"/>
          <c:order val="1"/>
          <c:tx>
            <c:strRef>
              <c:f>Sheet1!$C$1</c:f>
              <c:strCache>
                <c:ptCount val="1"/>
                <c:pt idx="0">
                  <c:v>Neutral (3★)</c:v>
                </c:pt>
              </c:strCache>
            </c:strRef>
          </c:tx>
          <c:spPr>
            <a:solidFill>
              <a:srgbClr val="64748B"/>
            </a:solidFill>
            <a:effectLst/>
          </c:spPr>
          <c:invertIfNegative val="0"/>
          <c:dLbls>
            <c:numFmt formatCode="#,##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Sheet1!$C$2:$C$8</c:f>
              <c:numCache>
                <c:formatCode>General</c:formatCode>
                <c:ptCount val="7"/>
                <c:pt idx="0">
                  <c:v>80</c:v>
                </c:pt>
                <c:pt idx="1">
                  <c:v>51</c:v>
                </c:pt>
                <c:pt idx="2">
                  <c:v>58</c:v>
                </c:pt>
                <c:pt idx="3">
                  <c:v>27</c:v>
                </c:pt>
                <c:pt idx="4">
                  <c:v>61</c:v>
                </c:pt>
                <c:pt idx="5">
                  <c:v>51</c:v>
                </c:pt>
                <c:pt idx="6">
                  <c:v>37</c:v>
                </c:pt>
              </c:numCache>
            </c:numRef>
          </c:val>
        </c:ser>
        <c:ser>
          <c:idx val="2"/>
          <c:order val="2"/>
          <c:tx>
            <c:strRef>
              <c:f>Sheet1!$D$1</c:f>
              <c:strCache>
                <c:ptCount val="1"/>
                <c:pt idx="0">
                  <c:v>Positive (4–5★)</c:v>
                </c:pt>
              </c:strCache>
            </c:strRef>
          </c:tx>
          <c:spPr>
            <a:solidFill>
              <a:srgbClr val="0E9AA7"/>
            </a:solidFill>
            <a:effectLst/>
          </c:spPr>
          <c:invertIfNegative val="0"/>
          <c:dLbls>
            <c:numFmt formatCode="#,##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Sheet1!$D$2:$D$8</c:f>
              <c:numCache>
                <c:formatCode>General</c:formatCode>
                <c:ptCount val="7"/>
                <c:pt idx="0">
                  <c:v>120</c:v>
                </c:pt>
                <c:pt idx="1">
                  <c:v>122</c:v>
                </c:pt>
                <c:pt idx="2">
                  <c:v>132</c:v>
                </c:pt>
                <c:pt idx="3">
                  <c:v>176</c:v>
                </c:pt>
                <c:pt idx="4">
                  <c:v>104</c:v>
                </c:pt>
                <c:pt idx="5">
                  <c:v>171</c:v>
                </c:pt>
                <c:pt idx="6">
                  <c:v>51</c:v>
                </c:pt>
              </c:numCache>
            </c:numRef>
          </c:val>
        </c:ser>
        <c:dLbls>
          <c:numFmt formatCode="#,##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400"/>
          <c:min val="0"/>
        </c:scaling>
        <c:delete val="0"/>
        <c:axPos val="b"/>
        <c:majorGridlines>
          <c:spPr>
            <a:ln w="9525"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F3A6E"/>
                </a:solidFill>
                <a:latin typeface="+mn-lt"/>
              </a:defRPr>
            </a:pPr>
            <a:r>
              <a:rPr sz="1200" b="1" i="0" u="none" strike="noStrike">
                <a:solidFill>
                  <a:srgbClr val="1F3A6E"/>
                </a:solidFill>
                <a:latin typeface="+mn-lt"/>
              </a:rPr>
              <a:t>Test polarity macro-F1</a:t>
            </a:r>
          </a:p>
        </c:rich>
      </c:tx>
      <c:layout/>
      <c:overlay val="0"/>
    </c:title>
    <c:autoTitleDeleted val="0"/>
    <c:plotArea>
      <c:layout/>
      <c:barChart>
        <c:barDir val="col"/>
        <c:grouping val="clustered"/>
        <c:varyColors val="0"/>
        <c:ser>
          <c:idx val="0"/>
          <c:order val="0"/>
          <c:tx>
            <c:strRef>
              <c:f>Sheet1!$B$1</c:f>
              <c:strCache>
                <c:ptCount val="1"/>
                <c:pt idx="0">
                  <c:v>Whole-review baseline</c:v>
                </c:pt>
              </c:strCache>
            </c:strRef>
          </c:tx>
          <c:spPr>
            <a:solidFill>
              <a:srgbClr val="9AA9BF"/>
            </a:solidFill>
            <a:effectLst/>
          </c:spPr>
          <c:invertIfNegative val="0"/>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Location</c:v>
                  </c:pt>
                  <c:pt idx="1">
                    <c:v>Cleanliness</c:v>
                  </c:pt>
                </c:lvl>
              </c:multiLvlStrCache>
            </c:multiLvlStrRef>
          </c:cat>
          <c:val>
            <c:numRef>
              <c:f>Sheet1!$B$2:$B$3</c:f>
              <c:numCache>
                <c:formatCode>General</c:formatCode>
                <c:ptCount val="2"/>
                <c:pt idx="0">
                  <c:v>0.4226439913558207</c:v>
                </c:pt>
                <c:pt idx="1">
                  <c:v>0.5385280128522013</c:v>
                </c:pt>
              </c:numCache>
            </c:numRef>
          </c:val>
        </c:ser>
        <c:ser>
          <c:idx val="1"/>
          <c:order val="1"/>
          <c:tx>
            <c:strRef>
              <c:f>Sheet1!$C$1</c:f>
              <c:strCache>
                <c:ptCount val="1"/>
                <c:pt idx="0">
                  <c:v>Final (aspect clause)</c:v>
                </c:pt>
              </c:strCache>
            </c:strRef>
          </c:tx>
          <c:spPr>
            <a:solidFill>
              <a:srgbClr val="0E9AA7"/>
            </a:solidFill>
            <a:effectLst/>
          </c:spPr>
          <c:invertIfNegative val="0"/>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Location</c:v>
                  </c:pt>
                  <c:pt idx="1">
                    <c:v>Cleanliness</c:v>
                  </c:pt>
                </c:lvl>
              </c:multiLvlStrCache>
            </c:multiLvlStrRef>
          </c:cat>
          <c:val>
            <c:numRef>
              <c:f>Sheet1!$C$2:$C$3</c:f>
              <c:numCache>
                <c:formatCode>General</c:formatCode>
                <c:ptCount val="2"/>
                <c:pt idx="0">
                  <c:v>0.38336120401337787</c:v>
                </c:pt>
                <c:pt idx="1">
                  <c:v>0.5657975534229983</c:v>
                </c:pt>
              </c:numCache>
            </c:numRef>
          </c:val>
        </c:ser>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3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0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Model vs majority-class baseline (%)</a:t>
            </a:r>
          </a:p>
        </c:rich>
      </c:tx>
      <c:layout/>
      <c:overlay val="0"/>
    </c:title>
    <c:autoTitleDeleted val="0"/>
    <c:plotArea>
      <c:layout/>
      <c:barChart>
        <c:barDir val="col"/>
        <c:grouping val="clustered"/>
        <c:varyColors val="0"/>
        <c:ser>
          <c:idx val="0"/>
          <c:order val="0"/>
          <c:tx>
            <c:strRef>
              <c:f>Sheet1!$B$1</c:f>
              <c:strCache>
                <c:ptCount val="1"/>
                <c:pt idx="0">
                  <c:v>Majority-class baseline</c:v>
                </c:pt>
              </c:strCache>
            </c:strRef>
          </c:tx>
          <c:spPr>
            <a:solidFill>
              <a:srgbClr val="9AA9BF"/>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Polarity accuracy</c:v>
                  </c:pt>
                  <c:pt idx="1">
                    <c:v>Exact-star accuracy</c:v>
                  </c:pt>
                </c:lvl>
              </c:multiLvlStrCache>
            </c:multiLvlStrRef>
          </c:cat>
          <c:val>
            <c:numRef>
              <c:f>Sheet1!$B$2:$B$3</c:f>
              <c:numCache>
                <c:formatCode>General</c:formatCode>
                <c:ptCount val="2"/>
                <c:pt idx="0">
                  <c:v>32.4</c:v>
                </c:pt>
                <c:pt idx="1">
                  <c:v>14.9</c:v>
                </c:pt>
              </c:numCache>
            </c:numRef>
          </c:val>
        </c:ser>
        <c:ser>
          <c:idx val="1"/>
          <c:order val="1"/>
          <c:tx>
            <c:strRef>
              <c:f>Sheet1!$C$1</c:f>
              <c:strCache>
                <c:ptCount val="1"/>
                <c:pt idx="0">
                  <c:v>Our model</c:v>
                </c:pt>
              </c:strCache>
            </c:strRef>
          </c:tx>
          <c:spPr>
            <a:solidFill>
              <a:srgbClr val="1F3A6E"/>
            </a:solidFill>
            <a:effectLst/>
          </c:spPr>
          <c:invertIfNegative val="0"/>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Polarity accuracy</c:v>
                  </c:pt>
                  <c:pt idx="1">
                    <c:v>Exact-star accuracy</c:v>
                  </c:pt>
                </c:lvl>
              </c:multiLvlStrCache>
            </c:multiLvlStrRef>
          </c:cat>
          <c:val>
            <c:numRef>
              <c:f>Sheet1!$C$2:$C$3</c:f>
              <c:numCache>
                <c:formatCode>General</c:formatCode>
                <c:ptCount val="2"/>
                <c:pt idx="0">
                  <c:v>74.6</c:v>
                </c:pt>
                <c:pt idx="1">
                  <c:v>51.1</c:v>
                </c:pt>
              </c:numCache>
            </c:numRef>
          </c:val>
        </c:ser>
        <c:dLbls>
          <c:numFmt formatCode="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Accuracy by target (%)</a:t>
            </a:r>
          </a:p>
        </c:rich>
      </c:tx>
      <c:layout/>
      <c:overlay val="0"/>
    </c:title>
    <c:autoTitleDeleted val="0"/>
    <c:plotArea>
      <c:layout/>
      <c:barChart>
        <c:barDir val="bar"/>
        <c:grouping val="clustered"/>
        <c:varyColors val="0"/>
        <c:ser>
          <c:idx val="0"/>
          <c:order val="0"/>
          <c:tx>
            <c:strRef>
              <c:f>Sheet1!$B$1</c:f>
              <c:strCache>
                <c:ptCount val="1"/>
                <c:pt idx="0">
                  <c:v>Polarity accuracy</c:v>
                </c:pt>
              </c:strCache>
            </c:strRef>
          </c:tx>
          <c:spPr>
            <a:solidFill>
              <a:srgbClr val="0E9AA7"/>
            </a:solidFill>
            <a:effectLst/>
          </c:spPr>
          <c:invertIfNegative val="0"/>
          <c:dLbls>
            <c:numFmt formatCode="0.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Sheet1!$B$2:$B$8</c:f>
              <c:numCache>
                <c:formatCode>General</c:formatCode>
                <c:ptCount val="7"/>
                <c:pt idx="0">
                  <c:v>74.6</c:v>
                </c:pt>
                <c:pt idx="1">
                  <c:v>68.3</c:v>
                </c:pt>
                <c:pt idx="2">
                  <c:v>60.9</c:v>
                </c:pt>
                <c:pt idx="3">
                  <c:v>72.2</c:v>
                </c:pt>
                <c:pt idx="4">
                  <c:v>62.4</c:v>
                </c:pt>
                <c:pt idx="5">
                  <c:v>65.1</c:v>
                </c:pt>
                <c:pt idx="6">
                  <c:v>55.4</c:v>
                </c:pt>
              </c:numCache>
            </c:numRef>
          </c:val>
        </c:ser>
        <c:ser>
          <c:idx val="1"/>
          <c:order val="1"/>
          <c:tx>
            <c:strRef>
              <c:f>Sheet1!$C$1</c:f>
              <c:strCache>
                <c:ptCount val="1"/>
                <c:pt idx="0">
                  <c:v>Exact-star accuracy</c:v>
                </c:pt>
              </c:strCache>
            </c:strRef>
          </c:tx>
          <c:spPr>
            <a:solidFill>
              <a:srgbClr val="E8604C"/>
            </a:solidFill>
            <a:effectLst/>
          </c:spPr>
          <c:invertIfNegative val="0"/>
          <c:dLbls>
            <c:numFmt formatCode="0.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Sheet1!$C$2:$C$8</c:f>
              <c:numCache>
                <c:formatCode>General</c:formatCode>
                <c:ptCount val="7"/>
                <c:pt idx="0">
                  <c:v>51.1</c:v>
                </c:pt>
                <c:pt idx="1">
                  <c:v>44.6</c:v>
                </c:pt>
                <c:pt idx="2">
                  <c:v>39.1</c:v>
                </c:pt>
                <c:pt idx="3">
                  <c:v>42.2</c:v>
                </c:pt>
                <c:pt idx="4">
                  <c:v>46.2</c:v>
                </c:pt>
                <c:pt idx="5">
                  <c:v>43.9</c:v>
                </c:pt>
                <c:pt idx="6">
                  <c:v>38.5</c:v>
                </c:pt>
              </c:numCache>
            </c:numRef>
          </c:val>
        </c:ser>
        <c:dLbls>
          <c:numFmt formatCode="0.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Polarity macro-F1 ranking</a:t>
            </a:r>
          </a:p>
        </c:rich>
      </c:tx>
      <c:layout/>
      <c:overlay val="0"/>
    </c:title>
    <c:autoTitleDeleted val="0"/>
    <c:plotArea>
      <c:layout/>
      <c:barChart>
        <c:barDir val="bar"/>
        <c:grouping val="clustered"/>
        <c:varyColors val="0"/>
        <c:ser>
          <c:idx val="0"/>
          <c:order val="0"/>
          <c:tx>
            <c:strRef>
              <c:f>Sheet1!$B$1</c:f>
              <c:strCache>
                <c:ptCount val="1"/>
                <c:pt idx="0">
                  <c:v>Polarity macro-F1</c:v>
                </c:pt>
              </c:strCache>
            </c:strRef>
          </c:tx>
          <c:spPr>
            <a:solidFill>
              <a:srgbClr val="1F3A6E"/>
            </a:solidFill>
            <a:effectLst/>
          </c:spPr>
          <c:invertIfNegative val="0"/>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F3A6E"/>
              </a:solidFill>
              <a:effectLst/>
            </c:spPr>
          </c:dPt>
          <c:dPt>
            <c:idx val="1"/>
            <c:invertIfNegative val="0"/>
            <c:bubble3D val="0"/>
            <c:spPr>
              <a:solidFill>
                <a:srgbClr val="1F3A6E"/>
              </a:solidFill>
              <a:effectLst/>
            </c:spPr>
          </c:dPt>
          <c:dPt>
            <c:idx val="2"/>
            <c:invertIfNegative val="0"/>
            <c:bubble3D val="0"/>
            <c:spPr>
              <a:solidFill>
                <a:srgbClr val="1F3A6E"/>
              </a:solidFill>
              <a:effectLst/>
            </c:spPr>
          </c:dPt>
          <c:dPt>
            <c:idx val="3"/>
            <c:invertIfNegative val="0"/>
            <c:bubble3D val="0"/>
            <c:spPr>
              <a:solidFill>
                <a:srgbClr val="1F3A6E"/>
              </a:solidFill>
              <a:effectLst/>
            </c:spPr>
          </c:dPt>
          <c:dPt>
            <c:idx val="4"/>
            <c:invertIfNegative val="0"/>
            <c:bubble3D val="0"/>
            <c:spPr>
              <a:solidFill>
                <a:srgbClr val="1F3A6E"/>
              </a:solidFill>
              <a:effectLst/>
            </c:spPr>
          </c:dPt>
          <c:dPt>
            <c:idx val="5"/>
            <c:invertIfNegative val="0"/>
            <c:bubble3D val="0"/>
            <c:spPr>
              <a:solidFill>
                <a:srgbClr val="1F3A6E"/>
              </a:solidFill>
              <a:effectLst/>
            </c:spPr>
          </c:dPt>
          <c:dPt>
            <c:idx val="6"/>
            <c:invertIfNegative val="0"/>
            <c:bubble3D val="0"/>
            <c:spPr>
              <a:solidFill>
                <a:srgbClr val="F2A93B"/>
              </a:solidFill>
              <a:effectLst/>
            </c:spPr>
          </c:dPt>
          <c:cat>
            <c:multiLvlStrRef>
              <c:f>Sheet1!$A$2:$A$8</c:f>
              <c:multiLvlStrCache>
                <c:ptCount val="7"/>
                <c:lvl>
                  <c:pt idx="0">
                    <c:v>Overall</c:v>
                  </c:pt>
                  <c:pt idx="1">
                    <c:v>Service</c:v>
                  </c:pt>
                  <c:pt idx="2">
                    <c:v>Value</c:v>
                  </c:pt>
                  <c:pt idx="3">
                    <c:v>Cleanliness</c:v>
                  </c:pt>
                  <c:pt idx="4">
                    <c:v>Rooms</c:v>
                  </c:pt>
                  <c:pt idx="5">
                    <c:v>Business Service</c:v>
                  </c:pt>
                  <c:pt idx="6">
                    <c:v>Location</c:v>
                  </c:pt>
                </c:lvl>
              </c:multiLvlStrCache>
            </c:multiLvlStrRef>
          </c:cat>
          <c:val>
            <c:numRef>
              <c:f>Sheet1!$B$2:$B$8</c:f>
              <c:numCache>
                <c:formatCode>General</c:formatCode>
                <c:ptCount val="7"/>
                <c:pt idx="0">
                  <c:v>0.709</c:v>
                </c:pt>
                <c:pt idx="1">
                  <c:v>0.628</c:v>
                </c:pt>
                <c:pt idx="2">
                  <c:v>0.615</c:v>
                </c:pt>
                <c:pt idx="3">
                  <c:v>0.566</c:v>
                </c:pt>
                <c:pt idx="4">
                  <c:v>0.56</c:v>
                </c:pt>
                <c:pt idx="5">
                  <c:v>0.558</c:v>
                </c:pt>
                <c:pt idx="6">
                  <c:v>0.383</c:v>
                </c:pt>
              </c:numCache>
            </c:numRef>
          </c:val>
        </c:ser>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b"/>
        <c:majorGridlines>
          <c:spPr>
            <a:ln w="9525" cap="flat">
              <a:solidFill>
                <a:srgbClr val="E3E8F0"/>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Dot plot: accuracy vs macro-F1</a:t>
            </a:r>
          </a:p>
        </c:rich>
      </c:tx>
      <c:layout/>
      <c:overlay val="0"/>
    </c:title>
    <c:autoTitleDeleted val="0"/>
    <c:plotArea>
      <c:layout/>
      <c:lineChart>
        <c:varyColors val="0"/>
        <c:ser>
          <c:idx val="0"/>
          <c:order val="0"/>
          <c:tx>
            <c:strRef>
              <c:f>Sheet1!$B$1</c:f>
              <c:strCache>
                <c:ptCount val="1"/>
                <c:pt idx="0">
                  <c:v>Polarity accuracy</c:v>
                </c:pt>
              </c:strCache>
            </c:strRef>
          </c:tx>
          <c:spPr>
            <a:solidFill>
              <a:srgbClr val="0E9AA7"/>
            </a:solidFill>
            <a:ln>
              <a:noFill/>
            </a:ln>
            <a:effectLst/>
          </c:spPr>
          <c:invertIfNegative val="0"/>
          <c:dLbls>
            <c:numFmt formatCode="#,##0" sourceLinked="0"/>
            <c:txPr>
              <a:bodyPr/>
              <a:lstStyle/>
              <a:p>
                <a:pPr>
                  <a:defRPr b="0" i="0" strike="noStrike" sz="1000" u="none">
                    <a:solidFill>
                      <a:srgbClr val="1B2A41"/>
                    </a:solidFill>
                    <a:latin typeface="+mn-lt"/>
                  </a:defRPr>
                </a:pPr>
              </a:p>
            </c:txPr>
            <c:showLegendKey val="0"/>
            <c:showVal val="0"/>
            <c:showCatName val="0"/>
            <c:showSerName val="0"/>
            <c:showPercent val="0"/>
            <c:showBubbleSize val="0"/>
            <c:showLeaderLines val="0"/>
          </c:dLbls>
          <c:marker>
            <c:symbol val="circle"/>
            <c:size val="10"/>
            <c:spPr>
              <a:solidFill>
                <a:srgbClr val="0E9AA7"/>
              </a:solidFill>
              <a:ln w="9525" cap="flat">
                <a:solidFill>
                  <a:srgbClr val="0E9AA7"/>
                </a:solidFill>
                <a:prstDash val="solid"/>
                <a:round/>
              </a:ln>
              <a:effectLst/>
            </c:spPr>
          </c:marker>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Sheet1!$B$2:$B$8</c:f>
              <c:numCache>
                <c:formatCode>General</c:formatCode>
                <c:ptCount val="7"/>
                <c:pt idx="0">
                  <c:v>0.746</c:v>
                </c:pt>
                <c:pt idx="1">
                  <c:v>0.683</c:v>
                </c:pt>
                <c:pt idx="2">
                  <c:v>0.609</c:v>
                </c:pt>
                <c:pt idx="3">
                  <c:v>0.722</c:v>
                </c:pt>
                <c:pt idx="4">
                  <c:v>0.624</c:v>
                </c:pt>
                <c:pt idx="5">
                  <c:v>0.651</c:v>
                </c:pt>
                <c:pt idx="6">
                  <c:v>0.554</c:v>
                </c:pt>
              </c:numCache>
            </c:numRef>
          </c:val>
          <c:smooth val="0"/>
        </c:ser>
        <c:ser>
          <c:idx val="1"/>
          <c:order val="1"/>
          <c:tx>
            <c:strRef>
              <c:f>Sheet1!$C$1</c:f>
              <c:strCache>
                <c:ptCount val="1"/>
                <c:pt idx="0">
                  <c:v>Polarity macro-F1</c:v>
                </c:pt>
              </c:strCache>
            </c:strRef>
          </c:tx>
          <c:spPr>
            <a:solidFill>
              <a:srgbClr val="1F3A6E"/>
            </a:solidFill>
            <a:ln>
              <a:noFill/>
            </a:ln>
            <a:effectLst/>
          </c:spPr>
          <c:invertIfNegative val="0"/>
          <c:dLbls>
            <c:numFmt formatCode="#,##0" sourceLinked="0"/>
            <c:txPr>
              <a:bodyPr/>
              <a:lstStyle/>
              <a:p>
                <a:pPr>
                  <a:defRPr b="0" i="0" strike="noStrike" sz="1000" u="none">
                    <a:solidFill>
                      <a:srgbClr val="1B2A41"/>
                    </a:solidFill>
                    <a:latin typeface="+mn-lt"/>
                  </a:defRPr>
                </a:pPr>
              </a:p>
            </c:txPr>
            <c:showLegendKey val="0"/>
            <c:showVal val="0"/>
            <c:showCatName val="0"/>
            <c:showSerName val="0"/>
            <c:showPercent val="0"/>
            <c:showBubbleSize val="0"/>
            <c:showLeaderLines val="0"/>
          </c:dLbls>
          <c:marker>
            <c:symbol val="circle"/>
            <c:size val="10"/>
            <c:spPr>
              <a:solidFill>
                <a:srgbClr val="1F3A6E"/>
              </a:solidFill>
              <a:ln w="9525" cap="flat">
                <a:solidFill>
                  <a:srgbClr val="1F3A6E"/>
                </a:solidFill>
                <a:prstDash val="solid"/>
                <a:round/>
              </a:ln>
              <a:effectLst/>
            </c:spPr>
          </c:marker>
          <c:cat>
            <c:multiLvlStrRef>
              <c:f>Sheet1!$A$2:$A$8</c:f>
              <c:multiLvlStrCache>
                <c:ptCount val="7"/>
                <c:lvl>
                  <c:pt idx="0">
                    <c:v>Overall</c:v>
                  </c:pt>
                  <c:pt idx="1">
                    <c:v>Service</c:v>
                  </c:pt>
                  <c:pt idx="2">
                    <c:v>Rooms</c:v>
                  </c:pt>
                  <c:pt idx="3">
                    <c:v>Location</c:v>
                  </c:pt>
                  <c:pt idx="4">
                    <c:v>Value</c:v>
                  </c:pt>
                  <c:pt idx="5">
                    <c:v>Cleanliness</c:v>
                  </c:pt>
                  <c:pt idx="6">
                    <c:v>Business Service</c:v>
                  </c:pt>
                </c:lvl>
              </c:multiLvlStrCache>
            </c:multiLvlStrRef>
          </c:cat>
          <c:val>
            <c:numRef>
              <c:f>Sheet1!$C$2:$C$8</c:f>
              <c:numCache>
                <c:formatCode>General</c:formatCode>
                <c:ptCount val="7"/>
                <c:pt idx="0">
                  <c:v>0.709</c:v>
                </c:pt>
                <c:pt idx="1">
                  <c:v>0.628</c:v>
                </c:pt>
                <c:pt idx="2">
                  <c:v>0.56</c:v>
                </c:pt>
                <c:pt idx="3">
                  <c:v>0.383</c:v>
                </c:pt>
                <c:pt idx="4">
                  <c:v>0.615</c:v>
                </c:pt>
                <c:pt idx="5">
                  <c:v>0.566</c:v>
                </c:pt>
                <c:pt idx="6">
                  <c:v>0.558</c:v>
                </c:pt>
              </c:numCache>
            </c:numRef>
          </c:val>
          <c:smooth val="0"/>
        </c:ser>
        <c:dLbls>
          <c:numFmt formatCode="#,##0" sourceLinked="0"/>
          <c:txPr>
            <a:bodyPr/>
            <a:lstStyle/>
            <a:p>
              <a:pPr>
                <a:defRPr b="0" i="0" strike="noStrike" sz="1000" u="none">
                  <a:solidFill>
                    <a:srgbClr val="1B2A4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majorGridlines>
          <c:spPr>
            <a:ln w="6350" cap="flat">
              <a:solidFill>
                <a:srgbClr val="EEF1F6"/>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rot="18900000"/>
          <a:lstStyle/>
          <a:p>
            <a:pPr>
              <a:defRPr sz="9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F3A6E"/>
                </a:solidFill>
                <a:latin typeface="+mn-lt"/>
              </a:defRPr>
            </a:pPr>
            <a:r>
              <a:rPr sz="1300" b="1" i="0" u="none" strike="noStrike">
                <a:solidFill>
                  <a:srgbClr val="1F3A6E"/>
                </a:solidFill>
                <a:latin typeface="+mn-lt"/>
              </a:rPr>
              <a:t>Polarity accuracy (%): all reviews vs accepted</a:t>
            </a:r>
          </a:p>
        </c:rich>
      </c:tx>
      <c:layout/>
      <c:overlay val="0"/>
    </c:title>
    <c:autoTitleDeleted val="0"/>
    <c:plotArea>
      <c:layout/>
      <c:barChart>
        <c:barDir val="col"/>
        <c:grouping val="clustered"/>
        <c:varyColors val="0"/>
        <c:ser>
          <c:idx val="0"/>
          <c:order val="0"/>
          <c:tx>
            <c:strRef>
              <c:f>Sheet1!$B$1</c:f>
              <c:strCache>
                <c:ptCount val="1"/>
                <c:pt idx="0">
                  <c:v>All test reviews</c:v>
                </c:pt>
              </c:strCache>
            </c:strRef>
          </c:tx>
          <c:spPr>
            <a:solidFill>
              <a:srgbClr val="9AA9BF"/>
            </a:solidFill>
            <a:effectLst/>
          </c:spPr>
          <c:invertIfNegative val="0"/>
          <c:dLbls>
            <c:numFmt formatCode="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c:v>
                  </c:pt>
                  <c:pt idx="6">
                    <c:v>Business</c:v>
                  </c:pt>
                </c:lvl>
              </c:multiLvlStrCache>
            </c:multiLvlStrRef>
          </c:cat>
          <c:val>
            <c:numRef>
              <c:f>Sheet1!$B$2:$B$8</c:f>
              <c:numCache>
                <c:formatCode>General</c:formatCode>
                <c:ptCount val="7"/>
                <c:pt idx="0">
                  <c:v>74.6</c:v>
                </c:pt>
                <c:pt idx="1">
                  <c:v>68.3</c:v>
                </c:pt>
                <c:pt idx="2">
                  <c:v>60.9</c:v>
                </c:pt>
                <c:pt idx="3">
                  <c:v>72.2</c:v>
                </c:pt>
                <c:pt idx="4">
                  <c:v>62.4</c:v>
                </c:pt>
                <c:pt idx="5">
                  <c:v>65.1</c:v>
                </c:pt>
                <c:pt idx="6">
                  <c:v>55.4</c:v>
                </c:pt>
              </c:numCache>
            </c:numRef>
          </c:val>
        </c:ser>
        <c:ser>
          <c:idx val="1"/>
          <c:order val="1"/>
          <c:tx>
            <c:strRef>
              <c:f>Sheet1!$C$1</c:f>
              <c:strCache>
                <c:ptCount val="1"/>
                <c:pt idx="0">
                  <c:v>Accepted (above threshold)</c:v>
                </c:pt>
              </c:strCache>
            </c:strRef>
          </c:tx>
          <c:spPr>
            <a:solidFill>
              <a:srgbClr val="0E9AA7"/>
            </a:solidFill>
            <a:effectLst/>
          </c:spPr>
          <c:invertIfNegative val="0"/>
          <c:dLbls>
            <c:numFmt formatCode="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Overall</c:v>
                  </c:pt>
                  <c:pt idx="1">
                    <c:v>Service</c:v>
                  </c:pt>
                  <c:pt idx="2">
                    <c:v>Rooms</c:v>
                  </c:pt>
                  <c:pt idx="3">
                    <c:v>Location</c:v>
                  </c:pt>
                  <c:pt idx="4">
                    <c:v>Value</c:v>
                  </c:pt>
                  <c:pt idx="5">
                    <c:v>Cleanl.</c:v>
                  </c:pt>
                  <c:pt idx="6">
                    <c:v>Business</c:v>
                  </c:pt>
                </c:lvl>
              </c:multiLvlStrCache>
            </c:multiLvlStrRef>
          </c:cat>
          <c:val>
            <c:numRef>
              <c:f>Sheet1!$C$2:$C$8</c:f>
              <c:numCache>
                <c:formatCode>General</c:formatCode>
                <c:ptCount val="7"/>
                <c:pt idx="0">
                  <c:v>88.2</c:v>
                </c:pt>
                <c:pt idx="1">
                  <c:v>89.3</c:v>
                </c:pt>
                <c:pt idx="2">
                  <c:v>79.7</c:v>
                </c:pt>
                <c:pt idx="3">
                  <c:v>94</c:v>
                </c:pt>
                <c:pt idx="4">
                  <c:v>84.1</c:v>
                </c:pt>
                <c:pt idx="5">
                  <c:v>79</c:v>
                </c:pt>
                <c:pt idx="6">
                  <c:v>80.9</c:v>
                </c:pt>
              </c:numCache>
            </c:numRef>
          </c:val>
        </c:ser>
        <c:dLbls>
          <c:numFmt formatCode="0" sourceLinked="0"/>
          <c:txPr>
            <a:bodyPr/>
            <a:lstStyle/>
            <a:p>
              <a:pPr>
                <a:defRPr b="0" i="0" strike="noStrike" sz="900" u="none">
                  <a:solidFill>
                    <a:srgbClr val="1B2A4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4"/>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aspect-based sentiment analysis on hotel reviews, built with classical machine learning. ML Mini Project, PES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score hides what guests liked and what went wrong. The sentence on this slide is an illustrative example, not a dataset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ABSA reads a review and answers: which feature is being discussed, how many stars does that feature deserve, and is the opinion negative, neutral or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objectives: predict overall and aspect ratings, classify sentiment, compare classical ML models and text-processing strategies, show textual evidence and handle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ArguAna TripAdvisor annotated v2, 2,100 reviews from 122 hotels, split by hotel into 1,342 / 388 / 370. The 320-review synthetic set is a demonstration only and is never mixed with the real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then second row: review → segmentation → aspect mention detection and evidence → routing → vectorisation → classifier → stars → polarity → confidence threshold → results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 families are candidates for every target. The selected model and text strategy differ by target, chosen on validation polarity macro-F1 with deterministic tie-breaking. Linear SVM was a candidate but was not selected for any real-data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Full-review models see every clause, so opinions about one aspect can leak into another. Aspect-specific processing feeds the model only the clause about that aspect. It is used for Location and Cleanliness, falls back to the full review when routing is ambiguous, and does not always improve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Polarity metrics use three classes; star metrics use five. They are different measurements. Examples use the real Overall test results: 370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are read from outputs/real/metrics.csv. The model predicts polarity more accurately than exact stars; most star predictions are within one star. Both exceed the majority-class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targets from the real held-out test set. Polarity accuracy, polarity macro-F1 and exact-star accuracy are different measurements. Location shows why accuracy alone can mislead when classes are uneven. No significance tests or external benchmarks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Overall confusion matrix on 370 test reviews (counts). Darker cells hold a larger share of the true class. Errors are mostly adjacent stars. The two examples are real rows from error_examples.csv.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prediction gets a confidence value. A threshold chosen on validation data decides whether the system commits to a rating or says uncertain. Confidence is not a guarantee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the Streamlit app using the real-review models on its default demo review. Rooms is uncertain, Value and Business Service are not mentioned, and Sleep Quality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results are descriptive on a reused held-out split, performance varies by aspect, and the system is not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ABSA turns unstructured reviews into aspect-specific insight; main findings; honest scope. Then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TITLE-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rtlCol="0"/>
          <a:lstStyle>
            <a:lvl1pPr algn="l" indent="0" marL="0">
              <a:buNone/>
              <a:defRPr lang="en-US" sz="3000" b="1" dirty="0">
                <a:solidFill>
                  <a:srgbClr val="1F3A6E"/>
                </a:solidFill>
                <a:latin typeface="Cambria" pitchFamily="34" charset="0"/>
                <a:ea typeface="Cambria" pitchFamily="34" charset="-122"/>
                <a:cs typeface="Cambria" pitchFamily="34" charset="-120"/>
              </a:defRPr>
            </a:lvl1pPr>
          </a:lstStyle>
          <a:p>
            <a:pPr algn="l" indent="0" marL="0">
              <a:buNone/>
            </a:pPr>
            <a:endParaRPr lang="en-US" sz="3000" dirty="0"/>
          </a:p>
        </p:txBody>
      </p:sp>
      <p:pic>
        <p:nvPicPr>
          <p:cNvPr id="3" name="PES University logo" descr="PES University logo">    </p:cNvPr>
          <p:cNvPicPr>
            <a:picLocks noChangeAspect="1"/>
          </p:cNvPicPr>
          <p:nvPr/>
        </p:nvPicPr>
        <p:blipFill>
          <a:blip r:embed="rId1"/>
          <a:stretch>
            <a:fillRect/>
          </a:stretch>
        </p:blipFill>
        <p:spPr>
          <a:xfrm>
            <a:off x="10454335" y="201168"/>
            <a:ext cx="1371600" cy="703065"/>
          </a:xfrm>
          <a:prstGeom prst="rect">
            <a:avLst/>
          </a:prstGeom>
        </p:spPr>
      </p:pic>
      <p:sp>
        <p:nvSpPr>
          <p:cNvPr id="4" name="Text 0"/>
          <p:cNvSpPr/>
          <p:nvPr/>
        </p:nvSpPr>
        <p:spPr>
          <a:xfrm>
            <a:off x="457200" y="6473952"/>
            <a:ext cx="7315200" cy="256032"/>
          </a:xfrm>
          <a:prstGeom prst="rect">
            <a:avLst/>
          </a:prstGeom>
          <a:noFill/>
          <a:ln/>
        </p:spPr>
        <p:txBody>
          <a:bodyPr wrap="square" lIns="0" tIns="0" rIns="0" bIns="0" rtlCol="0" anchor="ctr"/>
          <a:lstStyle/>
          <a:p>
            <a:pPr indent="0" marL="0">
              <a:buNone/>
            </a:pPr>
            <a:r>
              <a:rPr lang="en-US" sz="1000" dirty="0">
                <a:solidFill>
                  <a:srgbClr val="5B6B84"/>
                </a:solidFill>
              </a:rPr>
              <a:t>Aspect-Based Sentiment Analysis on Hotel Reviews  ·  ML Mini Project</a:t>
            </a:r>
            <a:endParaRPr lang="en-US" sz="10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ES University logo" descr="PES University logo">    </p:cNvPr>
          <p:cNvPicPr>
            <a:picLocks noChangeAspect="1"/>
          </p:cNvPicPr>
          <p:nvPr/>
        </p:nvPicPr>
        <p:blipFill>
          <a:blip r:embed="rId1"/>
          <a:stretch>
            <a:fillRect/>
          </a:stretch>
        </p:blipFill>
        <p:spPr>
          <a:xfrm>
            <a:off x="10454335" y="201168"/>
            <a:ext cx="1371600" cy="70306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417320"/>
            <a:ext cx="6126480" cy="1737360"/>
          </a:xfrm>
          <a:prstGeom prst="rect">
            <a:avLst/>
          </a:prstGeom>
          <a:noFill/>
          <a:ln/>
        </p:spPr>
        <p:txBody>
          <a:bodyPr wrap="square" lIns="0" tIns="0" rIns="0" bIns="0" rtlCol="0" anchor="t"/>
          <a:lstStyle/>
          <a:p>
            <a:pPr indent="0" marL="0">
              <a:buNone/>
            </a:pPr>
            <a:r>
              <a:rPr lang="en-US" sz="4000" b="1" dirty="0">
                <a:solidFill>
                  <a:srgbClr val="1F3A6E"/>
                </a:solidFill>
                <a:latin typeface="Cambria" pitchFamily="34" charset="0"/>
                <a:ea typeface="Cambria" pitchFamily="34" charset="-122"/>
                <a:cs typeface="Cambria" pitchFamily="34" charset="-120"/>
              </a:rPr>
              <a:t>Aspect-Based Sentiment Analysis on Hotel Reviews</a:t>
            </a:r>
            <a:endParaRPr lang="en-US" sz="4000" dirty="0"/>
          </a:p>
        </p:txBody>
      </p:sp>
      <p:sp>
        <p:nvSpPr>
          <p:cNvPr id="3" name="Pill"/>
          <p:cNvSpPr/>
          <p:nvPr/>
        </p:nvSpPr>
        <p:spPr>
          <a:xfrm>
            <a:off x="640080" y="3200400"/>
            <a:ext cx="2377440" cy="457200"/>
          </a:xfrm>
          <a:prstGeom prst="roundRect">
            <a:avLst>
              <a:gd name="adj" fmla="val 50000"/>
            </a:avLst>
          </a:prstGeom>
          <a:solidFill>
            <a:srgbClr val="E8604C"/>
          </a:solidFill>
          <a:ln w="12700">
            <a:solidFill>
              <a:srgbClr val="E8604C"/>
            </a:solidFill>
            <a:prstDash val="solid"/>
          </a:ln>
        </p:spPr>
      </p:sp>
      <p:sp>
        <p:nvSpPr>
          <p:cNvPr id="4" name="Text 2"/>
          <p:cNvSpPr txBox="1"/>
          <p:nvPr/>
        </p:nvSpPr>
        <p:spPr>
          <a:xfrm>
            <a:off x="640080" y="3200400"/>
            <a:ext cx="2377440" cy="457200"/>
          </a:xfrm>
          <a:prstGeom prst="rect">
            <a:avLst/>
          </a:prstGeom>
          <a:noFill/>
          <a:ln/>
        </p:spPr>
        <p:txBody>
          <a:bodyPr wrap="square" lIns="0" tIns="0" rIns="0" bIns="0" rtlCol="0" anchor="ctr"/>
          <a:lstStyle/>
          <a:p>
            <a:pPr algn="ctr" indent="0" marL="0">
              <a:buNone/>
            </a:pPr>
            <a:r>
              <a:rPr lang="en-US" sz="1800" b="1" dirty="0">
                <a:solidFill>
                  <a:srgbClr val="FFFFFF"/>
                </a:solidFill>
              </a:rPr>
              <a:t>ML Mini Project</a:t>
            </a:r>
            <a:endParaRPr lang="en-US" sz="1800" dirty="0"/>
          </a:p>
        </p:txBody>
      </p:sp>
      <p:sp>
        <p:nvSpPr>
          <p:cNvPr id="5" name="Card"/>
          <p:cNvSpPr/>
          <p:nvPr/>
        </p:nvSpPr>
        <p:spPr>
          <a:xfrm>
            <a:off x="640080" y="4023360"/>
            <a:ext cx="5943600" cy="1828800"/>
          </a:xfrm>
          <a:prstGeom prst="roundRect">
            <a:avLst>
              <a:gd name="adj" fmla="val 6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6" name="Text 4"/>
          <p:cNvSpPr txBox="1"/>
          <p:nvPr/>
        </p:nvSpPr>
        <p:spPr>
          <a:xfrm>
            <a:off x="868680" y="4187952"/>
            <a:ext cx="2743200" cy="228600"/>
          </a:xfrm>
          <a:prstGeom prst="rect">
            <a:avLst/>
          </a:prstGeom>
          <a:noFill/>
          <a:ln/>
        </p:spPr>
        <p:txBody>
          <a:bodyPr wrap="square" lIns="0" tIns="0" rIns="0" bIns="0" rtlCol="0" anchor="t"/>
          <a:lstStyle/>
          <a:p>
            <a:pPr indent="0" marL="0">
              <a:buNone/>
            </a:pPr>
            <a:r>
              <a:rPr lang="en-US" sz="1100" b="1" spc="200" kern="0" dirty="0">
                <a:solidFill>
                  <a:srgbClr val="0E9AA7"/>
                </a:solidFill>
              </a:rPr>
              <a:t>PRESENTED BY</a:t>
            </a:r>
            <a:endParaRPr lang="en-US" sz="1100" dirty="0"/>
          </a:p>
        </p:txBody>
      </p:sp>
      <p:sp>
        <p:nvSpPr>
          <p:cNvPr id="7" name="Text 5"/>
          <p:cNvSpPr txBox="1"/>
          <p:nvPr/>
        </p:nvSpPr>
        <p:spPr>
          <a:xfrm>
            <a:off x="868680" y="4498848"/>
            <a:ext cx="5486400" cy="731520"/>
          </a:xfrm>
          <a:prstGeom prst="rect">
            <a:avLst/>
          </a:prstGeom>
          <a:noFill/>
          <a:ln/>
        </p:spPr>
        <p:txBody>
          <a:bodyPr wrap="square" lIns="0" tIns="0" rIns="0" bIns="0" rtlCol="0" anchor="t"/>
          <a:lstStyle/>
          <a:p>
            <a:pPr indent="0" marL="0">
              <a:spcAft>
                <a:spcPts val="400"/>
              </a:spcAft>
              <a:buNone/>
            </a:pPr>
            <a:r>
              <a:rPr lang="en-US" sz="1800" dirty="0">
                <a:solidFill>
                  <a:srgbClr val="1B2A41"/>
                </a:solidFill>
              </a:rPr>
              <a:t>Chinmayee C M — SRN: PES2UG24CS133</a:t>
            </a:r>
            <a:endParaRPr lang="en-US" sz="1800" dirty="0"/>
          </a:p>
          <a:p>
            <a:pPr indent="0" marL="0">
              <a:spcAft>
                <a:spcPts val="400"/>
              </a:spcAft>
              <a:buNone/>
            </a:pPr>
            <a:r>
              <a:rPr lang="en-US" sz="1800" dirty="0">
                <a:solidFill>
                  <a:srgbClr val="1B2A41"/>
                </a:solidFill>
              </a:rPr>
              <a:t>Harshit Chandak — SRN: PES2UG24CS185</a:t>
            </a:r>
            <a:endParaRPr lang="en-US" sz="1800" dirty="0"/>
          </a:p>
        </p:txBody>
      </p:sp>
      <p:sp>
        <p:nvSpPr>
          <p:cNvPr id="8" name="Text 6"/>
          <p:cNvSpPr txBox="1"/>
          <p:nvPr/>
        </p:nvSpPr>
        <p:spPr>
          <a:xfrm>
            <a:off x="868680" y="5349240"/>
            <a:ext cx="5486400" cy="320040"/>
          </a:xfrm>
          <a:prstGeom prst="rect">
            <a:avLst/>
          </a:prstGeom>
          <a:noFill/>
          <a:ln/>
        </p:spPr>
        <p:txBody>
          <a:bodyPr wrap="square" lIns="0" tIns="0" rIns="0" bIns="0" rtlCol="0" anchor="t"/>
          <a:lstStyle/>
          <a:p>
            <a:pPr indent="0" marL="0">
              <a:buNone/>
            </a:pPr>
            <a:r>
              <a:rPr lang="en-US" sz="1800" b="1" dirty="0">
                <a:solidFill>
                  <a:srgbClr val="1F3A6E"/>
                </a:solidFill>
              </a:rPr>
              <a:t>PES University</a:t>
            </a:r>
            <a:endParaRPr lang="en-US" sz="1800" dirty="0"/>
          </a:p>
        </p:txBody>
      </p:sp>
      <p:pic>
        <p:nvPicPr>
          <p:cNvPr id="9" name="Image 0" descr="Illustration of a hotel with review bubbles showing aspect-level sentiment">    </p:cNvPr>
          <p:cNvPicPr>
            <a:picLocks noChangeAspect="1"/>
          </p:cNvPicPr>
          <p:nvPr/>
        </p:nvPicPr>
        <p:blipFill>
          <a:blip r:embed="rId1"/>
          <a:stretch>
            <a:fillRect/>
          </a:stretch>
        </p:blipFill>
        <p:spPr>
          <a:xfrm>
            <a:off x="7086600" y="1188720"/>
            <a:ext cx="4663440" cy="4663440"/>
          </a:xfrm>
          <a:prstGeom prst="rect">
            <a:avLst/>
          </a:prstGeom>
        </p:spPr>
      </p:pic>
      <p:sp>
        <p:nvSpPr>
          <p:cNvPr id="10" name="Text 7"/>
          <p:cNvSpPr txBox="1"/>
          <p:nvPr/>
        </p:nvSpPr>
        <p:spPr>
          <a:xfrm>
            <a:off x="7086600" y="5943600"/>
            <a:ext cx="4663440" cy="228600"/>
          </a:xfrm>
          <a:prstGeom prst="rect">
            <a:avLst/>
          </a:prstGeom>
          <a:noFill/>
          <a:ln/>
        </p:spPr>
        <p:txBody>
          <a:bodyPr wrap="square" lIns="0" tIns="0" rIns="0" bIns="0" rtlCol="0" anchor="t"/>
          <a:lstStyle/>
          <a:p>
            <a:pPr algn="r" indent="0" marL="0">
              <a:buNone/>
            </a:pPr>
            <a:r>
              <a:rPr lang="en-US" sz="1000" dirty="0">
                <a:solidFill>
                  <a:srgbClr val="5B6B84"/>
                </a:solidFill>
              </a:rPr>
              <a:t>Illustration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Why one overall rating is not enough</a:t>
            </a:r>
            <a:endParaRPr lang="en-US" sz="3000" dirty="0"/>
          </a:p>
        </p:txBody>
      </p:sp>
      <p:sp>
        <p:nvSpPr>
          <p:cNvPr id="4" name="Card"/>
          <p:cNvSpPr/>
          <p:nvPr/>
        </p:nvSpPr>
        <p:spPr>
          <a:xfrm>
            <a:off x="457200" y="1371600"/>
            <a:ext cx="6858000" cy="1828800"/>
          </a:xfrm>
          <a:prstGeom prst="roundRect">
            <a:avLst>
              <a:gd name="adj" fmla="val 6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Pill"/>
          <p:cNvSpPr/>
          <p:nvPr/>
        </p:nvSpPr>
        <p:spPr>
          <a:xfrm>
            <a:off x="658368" y="1508760"/>
            <a:ext cx="4206240" cy="292608"/>
          </a:xfrm>
          <a:prstGeom prst="roundRect">
            <a:avLst>
              <a:gd name="adj" fmla="val 50000"/>
            </a:avLst>
          </a:prstGeom>
          <a:solidFill>
            <a:srgbClr val="FDF1DC"/>
          </a:solidFill>
          <a:ln w="12700">
            <a:solidFill>
              <a:srgbClr val="FDF1DC"/>
            </a:solidFill>
            <a:prstDash val="solid"/>
          </a:ln>
        </p:spPr>
      </p:sp>
      <p:sp>
        <p:nvSpPr>
          <p:cNvPr id="6" name="Text 3"/>
          <p:cNvSpPr txBox="1"/>
          <p:nvPr/>
        </p:nvSpPr>
        <p:spPr>
          <a:xfrm>
            <a:off x="658368" y="1508760"/>
            <a:ext cx="4206240" cy="292608"/>
          </a:xfrm>
          <a:prstGeom prst="rect">
            <a:avLst/>
          </a:prstGeom>
          <a:noFill/>
          <a:ln/>
        </p:spPr>
        <p:txBody>
          <a:bodyPr wrap="square" lIns="0" tIns="0" rIns="0" bIns="0" rtlCol="0" anchor="ctr"/>
          <a:lstStyle/>
          <a:p>
            <a:pPr algn="ctr" indent="0" marL="0">
              <a:buNone/>
            </a:pPr>
            <a:r>
              <a:rPr lang="en-US" sz="1100" b="1" dirty="0">
                <a:solidFill>
                  <a:srgbClr val="8A5A00"/>
                </a:solidFill>
              </a:rPr>
              <a:t>Illustrative review example — not from the dataset</a:t>
            </a:r>
            <a:endParaRPr lang="en-US" sz="1100" dirty="0"/>
          </a:p>
        </p:txBody>
      </p:sp>
      <p:sp>
        <p:nvSpPr>
          <p:cNvPr id="7" name="Text 4"/>
          <p:cNvSpPr txBox="1"/>
          <p:nvPr/>
        </p:nvSpPr>
        <p:spPr>
          <a:xfrm>
            <a:off x="685800" y="1920240"/>
            <a:ext cx="6355080" cy="1143000"/>
          </a:xfrm>
          <a:prstGeom prst="rect">
            <a:avLst/>
          </a:prstGeom>
          <a:noFill/>
          <a:ln/>
        </p:spPr>
        <p:txBody>
          <a:bodyPr wrap="square" lIns="0" tIns="0" rIns="0" bIns="0" rtlCol="0" anchor="t"/>
          <a:lstStyle/>
          <a:p>
            <a:pPr indent="0" marL="0">
              <a:buNone/>
            </a:pPr>
            <a:r>
              <a:rPr lang="en-US" sz="2400" i="1" dirty="0">
                <a:solidFill>
                  <a:srgbClr val="1B2A41"/>
                </a:solidFill>
                <a:latin typeface="Cambria" pitchFamily="34" charset="0"/>
                <a:ea typeface="Cambria" pitchFamily="34" charset="-122"/>
                <a:cs typeface="Cambria" pitchFamily="34" charset="-120"/>
              </a:rPr>
              <a:t>“The </a:t>
            </a:r>
            <a:pPr indent="0" marL="0">
              <a:buNone/>
            </a:pPr>
            <a:r>
              <a:rPr lang="en-US" sz="2400" b="1" i="1" dirty="0">
                <a:solidFill>
                  <a:srgbClr val="0B7F8A"/>
                </a:solidFill>
                <a:latin typeface="Cambria" pitchFamily="34" charset="0"/>
                <a:ea typeface="Cambria" pitchFamily="34" charset="-122"/>
                <a:cs typeface="Cambria" pitchFamily="34" charset="-120"/>
              </a:rPr>
              <a:t>staff were very helpful</a:t>
            </a:r>
            <a:pPr indent="0" marL="0">
              <a:buNone/>
            </a:pPr>
            <a:r>
              <a:rPr lang="en-US" sz="2400" i="1" dirty="0">
                <a:solidFill>
                  <a:srgbClr val="1B2A41"/>
                </a:solidFill>
                <a:latin typeface="Cambria" pitchFamily="34" charset="0"/>
                <a:ea typeface="Cambria" pitchFamily="34" charset="-122"/>
                <a:cs typeface="Cambria" pitchFamily="34" charset="-120"/>
              </a:rPr>
              <a:t>, but the </a:t>
            </a:r>
            <a:pPr indent="0" marL="0">
              <a:buNone/>
            </a:pPr>
            <a:r>
              <a:rPr lang="en-US" sz="2400" b="1" i="1" dirty="0">
                <a:solidFill>
                  <a:srgbClr val="C4402D"/>
                </a:solidFill>
                <a:latin typeface="Cambria" pitchFamily="34" charset="0"/>
                <a:ea typeface="Cambria" pitchFamily="34" charset="-122"/>
                <a:cs typeface="Cambria" pitchFamily="34" charset="-120"/>
              </a:rPr>
              <a:t>room was dirty</a:t>
            </a:r>
            <a:pPr indent="0" marL="0">
              <a:buNone/>
            </a:pPr>
            <a:r>
              <a:rPr lang="en-US" sz="2400" i="1" dirty="0">
                <a:solidFill>
                  <a:srgbClr val="1B2A41"/>
                </a:solidFill>
                <a:latin typeface="Cambria" pitchFamily="34" charset="0"/>
                <a:ea typeface="Cambria" pitchFamily="34" charset="-122"/>
                <a:cs typeface="Cambria" pitchFamily="34" charset="-120"/>
              </a:rPr>
              <a:t> and the </a:t>
            </a:r>
            <a:pPr indent="0" marL="0">
              <a:buNone/>
            </a:pPr>
            <a:r>
              <a:rPr lang="en-US" sz="2400" b="1" i="1" dirty="0">
                <a:solidFill>
                  <a:srgbClr val="0B7F8A"/>
                </a:solidFill>
                <a:latin typeface="Cambria" pitchFamily="34" charset="0"/>
                <a:ea typeface="Cambria" pitchFamily="34" charset="-122"/>
                <a:cs typeface="Cambria" pitchFamily="34" charset="-120"/>
              </a:rPr>
              <a:t>location was convenient</a:t>
            </a:r>
            <a:pPr indent="0" marL="0">
              <a:buNone/>
            </a:pPr>
            <a:r>
              <a:rPr lang="en-US" sz="2400" i="1" dirty="0">
                <a:solidFill>
                  <a:srgbClr val="1B2A41"/>
                </a:solidFill>
                <a:latin typeface="Cambria" pitchFamily="34" charset="0"/>
                <a:ea typeface="Cambria" pitchFamily="34" charset="-122"/>
                <a:cs typeface="Cambria" pitchFamily="34" charset="-120"/>
              </a:rPr>
              <a:t>.”</a:t>
            </a:r>
            <a:endParaRPr lang="en-US" sz="2400" dirty="0"/>
          </a:p>
        </p:txBody>
      </p:sp>
      <p:sp>
        <p:nvSpPr>
          <p:cNvPr id="8" name="Card"/>
          <p:cNvSpPr/>
          <p:nvPr/>
        </p:nvSpPr>
        <p:spPr>
          <a:xfrm>
            <a:off x="457200" y="3429000"/>
            <a:ext cx="2148840" cy="1463040"/>
          </a:xfrm>
          <a:prstGeom prst="roundRect">
            <a:avLst>
              <a:gd name="adj" fmla="val 75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9" name="Icon circle"/>
          <p:cNvSpPr/>
          <p:nvPr/>
        </p:nvSpPr>
        <p:spPr>
          <a:xfrm>
            <a:off x="640080" y="3584448"/>
            <a:ext cx="548640" cy="548640"/>
          </a:xfrm>
          <a:prstGeom prst="ellipse">
            <a:avLst/>
          </a:prstGeom>
          <a:solidFill>
            <a:srgbClr val="0E9AA7"/>
          </a:solidFill>
          <a:ln w="12700">
            <a:solidFill>
              <a:srgbClr val="0E9AA7"/>
            </a:solidFill>
            <a:prstDash val="solid"/>
          </a:ln>
        </p:spPr>
      </p:sp>
      <p:pic>
        <p:nvPicPr>
          <p:cNvPr id="10" name="Image 0" descr="FaConciergeBell">    </p:cNvPr>
          <p:cNvPicPr>
            <a:picLocks noChangeAspect="1"/>
          </p:cNvPicPr>
          <p:nvPr/>
        </p:nvPicPr>
        <p:blipFill>
          <a:blip r:embed="rId1"/>
          <a:stretch>
            <a:fillRect/>
          </a:stretch>
        </p:blipFill>
        <p:spPr>
          <a:xfrm>
            <a:off x="777240" y="3721608"/>
            <a:ext cx="274320" cy="274320"/>
          </a:xfrm>
          <a:prstGeom prst="rect">
            <a:avLst/>
          </a:prstGeom>
        </p:spPr>
      </p:pic>
      <p:sp>
        <p:nvSpPr>
          <p:cNvPr id="11" name="Text 7"/>
          <p:cNvSpPr txBox="1"/>
          <p:nvPr/>
        </p:nvSpPr>
        <p:spPr>
          <a:xfrm>
            <a:off x="640080" y="4224528"/>
            <a:ext cx="1828800" cy="274320"/>
          </a:xfrm>
          <a:prstGeom prst="rect">
            <a:avLst/>
          </a:prstGeom>
          <a:noFill/>
          <a:ln/>
        </p:spPr>
        <p:txBody>
          <a:bodyPr wrap="square" lIns="0" tIns="0" rIns="0" bIns="0" rtlCol="0" anchor="t"/>
          <a:lstStyle/>
          <a:p>
            <a:pPr indent="0" marL="0">
              <a:buNone/>
            </a:pPr>
            <a:r>
              <a:rPr lang="en-US" sz="1500" b="1" dirty="0">
                <a:solidFill>
                  <a:srgbClr val="1F3A6E"/>
                </a:solidFill>
              </a:rPr>
              <a:t>Staff / service</a:t>
            </a:r>
            <a:endParaRPr lang="en-US" sz="1500" dirty="0"/>
          </a:p>
        </p:txBody>
      </p:sp>
      <p:sp>
        <p:nvSpPr>
          <p:cNvPr id="12" name="Pill"/>
          <p:cNvSpPr/>
          <p:nvPr/>
        </p:nvSpPr>
        <p:spPr>
          <a:xfrm>
            <a:off x="640080" y="4544568"/>
            <a:ext cx="1097280" cy="292608"/>
          </a:xfrm>
          <a:prstGeom prst="roundRect">
            <a:avLst>
              <a:gd name="adj" fmla="val 50000"/>
            </a:avLst>
          </a:prstGeom>
          <a:solidFill>
            <a:srgbClr val="0E9AA7"/>
          </a:solidFill>
          <a:ln w="12700">
            <a:solidFill>
              <a:srgbClr val="0E9AA7"/>
            </a:solidFill>
            <a:prstDash val="solid"/>
          </a:ln>
        </p:spPr>
      </p:sp>
      <p:sp>
        <p:nvSpPr>
          <p:cNvPr id="13" name="Text 9"/>
          <p:cNvSpPr txBox="1"/>
          <p:nvPr/>
        </p:nvSpPr>
        <p:spPr>
          <a:xfrm>
            <a:off x="640080" y="4544568"/>
            <a:ext cx="1097280" cy="292608"/>
          </a:xfrm>
          <a:prstGeom prst="rect">
            <a:avLst/>
          </a:prstGeom>
          <a:noFill/>
          <a:ln/>
        </p:spPr>
        <p:txBody>
          <a:bodyPr wrap="square" lIns="0" tIns="0" rIns="0" bIns="0" rtlCol="0" anchor="ctr"/>
          <a:lstStyle/>
          <a:p>
            <a:pPr algn="ctr" indent="0" marL="0">
              <a:buNone/>
            </a:pPr>
            <a:r>
              <a:rPr lang="en-US" sz="1200" b="1" dirty="0">
                <a:solidFill>
                  <a:srgbClr val="FFFFFF"/>
                </a:solidFill>
              </a:rPr>
              <a:t>Positive</a:t>
            </a:r>
            <a:endParaRPr lang="en-US" sz="1200" dirty="0"/>
          </a:p>
        </p:txBody>
      </p:sp>
      <p:sp>
        <p:nvSpPr>
          <p:cNvPr id="14" name="Card"/>
          <p:cNvSpPr/>
          <p:nvPr/>
        </p:nvSpPr>
        <p:spPr>
          <a:xfrm>
            <a:off x="2811780" y="3429000"/>
            <a:ext cx="2148840" cy="1463040"/>
          </a:xfrm>
          <a:prstGeom prst="roundRect">
            <a:avLst>
              <a:gd name="adj" fmla="val 75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5" name="Icon circle"/>
          <p:cNvSpPr/>
          <p:nvPr/>
        </p:nvSpPr>
        <p:spPr>
          <a:xfrm>
            <a:off x="2994660" y="3584448"/>
            <a:ext cx="548640" cy="548640"/>
          </a:xfrm>
          <a:prstGeom prst="ellipse">
            <a:avLst/>
          </a:prstGeom>
          <a:solidFill>
            <a:srgbClr val="E8604C"/>
          </a:solidFill>
          <a:ln w="12700">
            <a:solidFill>
              <a:srgbClr val="E8604C"/>
            </a:solidFill>
            <a:prstDash val="solid"/>
          </a:ln>
        </p:spPr>
      </p:sp>
      <p:pic>
        <p:nvPicPr>
          <p:cNvPr id="16" name="Image 1" descr="FaBroom">    </p:cNvPr>
          <p:cNvPicPr>
            <a:picLocks noChangeAspect="1"/>
          </p:cNvPicPr>
          <p:nvPr/>
        </p:nvPicPr>
        <p:blipFill>
          <a:blip r:embed="rId2"/>
          <a:stretch>
            <a:fillRect/>
          </a:stretch>
        </p:blipFill>
        <p:spPr>
          <a:xfrm>
            <a:off x="3131820" y="3721608"/>
            <a:ext cx="274320" cy="274320"/>
          </a:xfrm>
          <a:prstGeom prst="rect">
            <a:avLst/>
          </a:prstGeom>
        </p:spPr>
      </p:pic>
      <p:sp>
        <p:nvSpPr>
          <p:cNvPr id="17" name="Text 12"/>
          <p:cNvSpPr txBox="1"/>
          <p:nvPr/>
        </p:nvSpPr>
        <p:spPr>
          <a:xfrm>
            <a:off x="2994660" y="4224528"/>
            <a:ext cx="1828800" cy="274320"/>
          </a:xfrm>
          <a:prstGeom prst="rect">
            <a:avLst/>
          </a:prstGeom>
          <a:noFill/>
          <a:ln/>
        </p:spPr>
        <p:txBody>
          <a:bodyPr wrap="square" lIns="0" tIns="0" rIns="0" bIns="0" rtlCol="0" anchor="t"/>
          <a:lstStyle/>
          <a:p>
            <a:pPr indent="0" marL="0">
              <a:buNone/>
            </a:pPr>
            <a:r>
              <a:rPr lang="en-US" sz="1500" b="1" dirty="0">
                <a:solidFill>
                  <a:srgbClr val="1F3A6E"/>
                </a:solidFill>
              </a:rPr>
              <a:t>Room cleanliness</a:t>
            </a:r>
            <a:endParaRPr lang="en-US" sz="1500" dirty="0"/>
          </a:p>
        </p:txBody>
      </p:sp>
      <p:sp>
        <p:nvSpPr>
          <p:cNvPr id="18" name="Pill"/>
          <p:cNvSpPr/>
          <p:nvPr/>
        </p:nvSpPr>
        <p:spPr>
          <a:xfrm>
            <a:off x="2994660" y="4544568"/>
            <a:ext cx="1097280" cy="292608"/>
          </a:xfrm>
          <a:prstGeom prst="roundRect">
            <a:avLst>
              <a:gd name="adj" fmla="val 50000"/>
            </a:avLst>
          </a:prstGeom>
          <a:solidFill>
            <a:srgbClr val="E8604C"/>
          </a:solidFill>
          <a:ln w="12700">
            <a:solidFill>
              <a:srgbClr val="E8604C"/>
            </a:solidFill>
            <a:prstDash val="solid"/>
          </a:ln>
        </p:spPr>
      </p:sp>
      <p:sp>
        <p:nvSpPr>
          <p:cNvPr id="19" name="Text 14"/>
          <p:cNvSpPr txBox="1"/>
          <p:nvPr/>
        </p:nvSpPr>
        <p:spPr>
          <a:xfrm>
            <a:off x="2994660" y="4544568"/>
            <a:ext cx="1097280" cy="292608"/>
          </a:xfrm>
          <a:prstGeom prst="rect">
            <a:avLst/>
          </a:prstGeom>
          <a:noFill/>
          <a:ln/>
        </p:spPr>
        <p:txBody>
          <a:bodyPr wrap="square" lIns="0" tIns="0" rIns="0" bIns="0" rtlCol="0" anchor="ctr"/>
          <a:lstStyle/>
          <a:p>
            <a:pPr algn="ctr" indent="0" marL="0">
              <a:buNone/>
            </a:pPr>
            <a:r>
              <a:rPr lang="en-US" sz="1200" b="1" dirty="0">
                <a:solidFill>
                  <a:srgbClr val="FFFFFF"/>
                </a:solidFill>
              </a:rPr>
              <a:t>Negative</a:t>
            </a:r>
            <a:endParaRPr lang="en-US" sz="1200" dirty="0"/>
          </a:p>
        </p:txBody>
      </p:sp>
      <p:sp>
        <p:nvSpPr>
          <p:cNvPr id="20" name="Card"/>
          <p:cNvSpPr/>
          <p:nvPr/>
        </p:nvSpPr>
        <p:spPr>
          <a:xfrm>
            <a:off x="5166360" y="3429000"/>
            <a:ext cx="2148840" cy="1463040"/>
          </a:xfrm>
          <a:prstGeom prst="roundRect">
            <a:avLst>
              <a:gd name="adj" fmla="val 75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1" name="Icon circle"/>
          <p:cNvSpPr/>
          <p:nvPr/>
        </p:nvSpPr>
        <p:spPr>
          <a:xfrm>
            <a:off x="5349240" y="3584448"/>
            <a:ext cx="548640" cy="548640"/>
          </a:xfrm>
          <a:prstGeom prst="ellipse">
            <a:avLst/>
          </a:prstGeom>
          <a:solidFill>
            <a:srgbClr val="0E9AA7"/>
          </a:solidFill>
          <a:ln w="12700">
            <a:solidFill>
              <a:srgbClr val="0E9AA7"/>
            </a:solidFill>
            <a:prstDash val="solid"/>
          </a:ln>
        </p:spPr>
      </p:sp>
      <p:pic>
        <p:nvPicPr>
          <p:cNvPr id="22" name="Image 2" descr="FaMapMarkerAlt">    </p:cNvPr>
          <p:cNvPicPr>
            <a:picLocks noChangeAspect="1"/>
          </p:cNvPicPr>
          <p:nvPr/>
        </p:nvPicPr>
        <p:blipFill>
          <a:blip r:embed="rId3"/>
          <a:stretch>
            <a:fillRect/>
          </a:stretch>
        </p:blipFill>
        <p:spPr>
          <a:xfrm>
            <a:off x="5486400" y="3721608"/>
            <a:ext cx="274320" cy="274320"/>
          </a:xfrm>
          <a:prstGeom prst="rect">
            <a:avLst/>
          </a:prstGeom>
        </p:spPr>
      </p:pic>
      <p:sp>
        <p:nvSpPr>
          <p:cNvPr id="23" name="Text 17"/>
          <p:cNvSpPr txBox="1"/>
          <p:nvPr/>
        </p:nvSpPr>
        <p:spPr>
          <a:xfrm>
            <a:off x="5349240" y="4224528"/>
            <a:ext cx="1828800" cy="274320"/>
          </a:xfrm>
          <a:prstGeom prst="rect">
            <a:avLst/>
          </a:prstGeom>
          <a:noFill/>
          <a:ln/>
        </p:spPr>
        <p:txBody>
          <a:bodyPr wrap="square" lIns="0" tIns="0" rIns="0" bIns="0" rtlCol="0" anchor="t"/>
          <a:lstStyle/>
          <a:p>
            <a:pPr indent="0" marL="0">
              <a:buNone/>
            </a:pPr>
            <a:r>
              <a:rPr lang="en-US" sz="1500" b="1" dirty="0">
                <a:solidFill>
                  <a:srgbClr val="1F3A6E"/>
                </a:solidFill>
              </a:rPr>
              <a:t>Location</a:t>
            </a:r>
            <a:endParaRPr lang="en-US" sz="1500" dirty="0"/>
          </a:p>
        </p:txBody>
      </p:sp>
      <p:sp>
        <p:nvSpPr>
          <p:cNvPr id="24" name="Pill"/>
          <p:cNvSpPr/>
          <p:nvPr/>
        </p:nvSpPr>
        <p:spPr>
          <a:xfrm>
            <a:off x="5349240" y="4544568"/>
            <a:ext cx="1097280" cy="292608"/>
          </a:xfrm>
          <a:prstGeom prst="roundRect">
            <a:avLst>
              <a:gd name="adj" fmla="val 50000"/>
            </a:avLst>
          </a:prstGeom>
          <a:solidFill>
            <a:srgbClr val="0E9AA7"/>
          </a:solidFill>
          <a:ln w="12700">
            <a:solidFill>
              <a:srgbClr val="0E9AA7"/>
            </a:solidFill>
            <a:prstDash val="solid"/>
          </a:ln>
        </p:spPr>
      </p:sp>
      <p:sp>
        <p:nvSpPr>
          <p:cNvPr id="25" name="Text 19"/>
          <p:cNvSpPr txBox="1"/>
          <p:nvPr/>
        </p:nvSpPr>
        <p:spPr>
          <a:xfrm>
            <a:off x="5349240" y="4544568"/>
            <a:ext cx="1097280" cy="292608"/>
          </a:xfrm>
          <a:prstGeom prst="rect">
            <a:avLst/>
          </a:prstGeom>
          <a:noFill/>
          <a:ln/>
        </p:spPr>
        <p:txBody>
          <a:bodyPr wrap="square" lIns="0" tIns="0" rIns="0" bIns="0" rtlCol="0" anchor="ctr"/>
          <a:lstStyle/>
          <a:p>
            <a:pPr algn="ctr" indent="0" marL="0">
              <a:buNone/>
            </a:pPr>
            <a:r>
              <a:rPr lang="en-US" sz="1200" b="1" dirty="0">
                <a:solidFill>
                  <a:srgbClr val="FFFFFF"/>
                </a:solidFill>
              </a:rPr>
              <a:t>Positive</a:t>
            </a:r>
            <a:endParaRPr lang="en-US" sz="1200" dirty="0"/>
          </a:p>
        </p:txBody>
      </p:sp>
      <p:pic>
        <p:nvPicPr>
          <p:cNvPr id="26" name="Image 3" descr="Illustration of a hotel room">    </p:cNvPr>
          <p:cNvPicPr>
            <a:picLocks noChangeAspect="1"/>
          </p:cNvPicPr>
          <p:nvPr/>
        </p:nvPicPr>
        <p:blipFill>
          <a:blip r:embed="rId4"/>
          <a:stretch>
            <a:fillRect/>
          </a:stretch>
        </p:blipFill>
        <p:spPr>
          <a:xfrm>
            <a:off x="7589520" y="1371600"/>
            <a:ext cx="4142232" cy="2898648"/>
          </a:xfrm>
          <a:prstGeom prst="rect">
            <a:avLst/>
          </a:prstGeom>
        </p:spPr>
      </p:pic>
      <p:sp>
        <p:nvSpPr>
          <p:cNvPr id="27" name="Text 20"/>
          <p:cNvSpPr txBox="1"/>
          <p:nvPr/>
        </p:nvSpPr>
        <p:spPr>
          <a:xfrm>
            <a:off x="7589520" y="4370832"/>
            <a:ext cx="4142232" cy="502920"/>
          </a:xfrm>
          <a:prstGeom prst="rect">
            <a:avLst/>
          </a:prstGeom>
          <a:noFill/>
          <a:ln/>
        </p:spPr>
        <p:txBody>
          <a:bodyPr wrap="square" lIns="0" tIns="0" rIns="0" bIns="0" rtlCol="0" anchor="t"/>
          <a:lstStyle/>
          <a:p>
            <a:pPr indent="0" marL="0">
              <a:buNone/>
            </a:pPr>
            <a:r>
              <a:rPr lang="en-US" sz="1400" i="1" dirty="0">
                <a:solidFill>
                  <a:srgbClr val="5B6B84"/>
                </a:solidFill>
              </a:rPr>
              <a:t>A single 3-star average would hide both the praise and the complaint.</a:t>
            </a:r>
            <a:endParaRPr lang="en-US" sz="1400" dirty="0"/>
          </a:p>
        </p:txBody>
      </p:sp>
      <p:sp>
        <p:nvSpPr>
          <p:cNvPr id="28" name="Card"/>
          <p:cNvSpPr/>
          <p:nvPr/>
        </p:nvSpPr>
        <p:spPr>
          <a:xfrm>
            <a:off x="457200" y="5120640"/>
            <a:ext cx="11274552" cy="1188720"/>
          </a:xfrm>
          <a:prstGeom prst="roundRect">
            <a:avLst>
              <a:gd name="adj" fmla="val 9231"/>
            </a:avLst>
          </a:prstGeom>
          <a:solidFill>
            <a:srgbClr val="F3F7FB"/>
          </a:solidFill>
          <a:ln w="12700">
            <a:solidFill>
              <a:srgbClr val="FFFFFF">
                <a:alpha val="0"/>
              </a:srgbClr>
            </a:solidFill>
            <a:prstDash val="solid"/>
          </a:ln>
        </p:spPr>
      </p:sp>
      <p:sp>
        <p:nvSpPr>
          <p:cNvPr id="29" name="Icon circle"/>
          <p:cNvSpPr/>
          <p:nvPr/>
        </p:nvSpPr>
        <p:spPr>
          <a:xfrm>
            <a:off x="685800" y="5394960"/>
            <a:ext cx="594360" cy="594360"/>
          </a:xfrm>
          <a:prstGeom prst="ellipse">
            <a:avLst/>
          </a:prstGeom>
          <a:solidFill>
            <a:srgbClr val="1F3A6E"/>
          </a:solidFill>
          <a:ln w="12700">
            <a:solidFill>
              <a:srgbClr val="1F3A6E"/>
            </a:solidFill>
            <a:prstDash val="solid"/>
          </a:ln>
        </p:spPr>
      </p:sp>
      <p:pic>
        <p:nvPicPr>
          <p:cNvPr id="30" name="Image 4" descr="FaCheckCircle">    </p:cNvPr>
          <p:cNvPicPr>
            <a:picLocks noChangeAspect="1"/>
          </p:cNvPicPr>
          <p:nvPr/>
        </p:nvPicPr>
        <p:blipFill>
          <a:blip r:embed="rId5"/>
          <a:stretch>
            <a:fillRect/>
          </a:stretch>
        </p:blipFill>
        <p:spPr>
          <a:xfrm>
            <a:off x="834390" y="5543550"/>
            <a:ext cx="297180" cy="297180"/>
          </a:xfrm>
          <a:prstGeom prst="rect">
            <a:avLst/>
          </a:prstGeom>
        </p:spPr>
      </p:pic>
      <p:sp>
        <p:nvSpPr>
          <p:cNvPr id="31" name="Text 23"/>
          <p:cNvSpPr txBox="1"/>
          <p:nvPr/>
        </p:nvSpPr>
        <p:spPr>
          <a:xfrm>
            <a:off x="1417320" y="5376672"/>
            <a:ext cx="2743200" cy="292608"/>
          </a:xfrm>
          <a:prstGeom prst="rect">
            <a:avLst/>
          </a:prstGeom>
          <a:noFill/>
          <a:ln/>
        </p:spPr>
        <p:txBody>
          <a:bodyPr wrap="square" lIns="0" tIns="0" rIns="0" bIns="0" rtlCol="0" anchor="t"/>
          <a:lstStyle/>
          <a:p>
            <a:pPr indent="0" marL="0">
              <a:buNone/>
            </a:pPr>
            <a:r>
              <a:rPr lang="en-US" sz="1600" b="1" dirty="0">
                <a:solidFill>
                  <a:srgbClr val="1F3A6E"/>
                </a:solidFill>
              </a:rPr>
              <a:t>Keep what works</a:t>
            </a:r>
            <a:endParaRPr lang="en-US" sz="1600" dirty="0"/>
          </a:p>
        </p:txBody>
      </p:sp>
      <p:sp>
        <p:nvSpPr>
          <p:cNvPr id="32" name="Text 24"/>
          <p:cNvSpPr txBox="1"/>
          <p:nvPr/>
        </p:nvSpPr>
        <p:spPr>
          <a:xfrm>
            <a:off x="1417320" y="5687568"/>
            <a:ext cx="2834640" cy="502920"/>
          </a:xfrm>
          <a:prstGeom prst="rect">
            <a:avLst/>
          </a:prstGeom>
          <a:noFill/>
          <a:ln/>
        </p:spPr>
        <p:txBody>
          <a:bodyPr wrap="square" lIns="0" tIns="0" rIns="0" bIns="0" rtlCol="0" anchor="t"/>
          <a:lstStyle/>
          <a:p>
            <a:pPr indent="0" marL="0">
              <a:buNone/>
            </a:pPr>
            <a:r>
              <a:rPr lang="en-US" sz="1300" dirty="0">
                <a:solidFill>
                  <a:srgbClr val="1B2A41"/>
                </a:solidFill>
              </a:rPr>
              <a:t>Praise for staff and location is preserved.</a:t>
            </a:r>
            <a:endParaRPr lang="en-US" sz="1300" dirty="0"/>
          </a:p>
        </p:txBody>
      </p:sp>
      <p:sp>
        <p:nvSpPr>
          <p:cNvPr id="33" name="Icon circle"/>
          <p:cNvSpPr/>
          <p:nvPr/>
        </p:nvSpPr>
        <p:spPr>
          <a:xfrm>
            <a:off x="4389120" y="5394960"/>
            <a:ext cx="594360" cy="594360"/>
          </a:xfrm>
          <a:prstGeom prst="ellipse">
            <a:avLst/>
          </a:prstGeom>
          <a:solidFill>
            <a:srgbClr val="1F3A6E"/>
          </a:solidFill>
          <a:ln w="12700">
            <a:solidFill>
              <a:srgbClr val="1F3A6E"/>
            </a:solidFill>
            <a:prstDash val="solid"/>
          </a:ln>
        </p:spPr>
      </p:sp>
      <p:pic>
        <p:nvPicPr>
          <p:cNvPr id="34" name="Image 5" descr="FaWrench">    </p:cNvPr>
          <p:cNvPicPr>
            <a:picLocks noChangeAspect="1"/>
          </p:cNvPicPr>
          <p:nvPr/>
        </p:nvPicPr>
        <p:blipFill>
          <a:blip r:embed="rId6"/>
          <a:stretch>
            <a:fillRect/>
          </a:stretch>
        </p:blipFill>
        <p:spPr>
          <a:xfrm>
            <a:off x="4537710" y="5543550"/>
            <a:ext cx="297180" cy="297180"/>
          </a:xfrm>
          <a:prstGeom prst="rect">
            <a:avLst/>
          </a:prstGeom>
        </p:spPr>
      </p:pic>
      <p:sp>
        <p:nvSpPr>
          <p:cNvPr id="35" name="Text 26"/>
          <p:cNvSpPr txBox="1"/>
          <p:nvPr/>
        </p:nvSpPr>
        <p:spPr>
          <a:xfrm>
            <a:off x="5120640" y="5376672"/>
            <a:ext cx="2743200" cy="292608"/>
          </a:xfrm>
          <a:prstGeom prst="rect">
            <a:avLst/>
          </a:prstGeom>
          <a:noFill/>
          <a:ln/>
        </p:spPr>
        <p:txBody>
          <a:bodyPr wrap="square" lIns="0" tIns="0" rIns="0" bIns="0" rtlCol="0" anchor="t"/>
          <a:lstStyle/>
          <a:p>
            <a:pPr indent="0" marL="0">
              <a:buNone/>
            </a:pPr>
            <a:r>
              <a:rPr lang="en-US" sz="1600" b="1" dirty="0">
                <a:solidFill>
                  <a:srgbClr val="1F3A6E"/>
                </a:solidFill>
              </a:rPr>
              <a:t>Fix what hurts</a:t>
            </a:r>
            <a:endParaRPr lang="en-US" sz="1600" dirty="0"/>
          </a:p>
        </p:txBody>
      </p:sp>
      <p:sp>
        <p:nvSpPr>
          <p:cNvPr id="36" name="Text 27"/>
          <p:cNvSpPr txBox="1"/>
          <p:nvPr/>
        </p:nvSpPr>
        <p:spPr>
          <a:xfrm>
            <a:off x="5120640" y="5687568"/>
            <a:ext cx="2834640" cy="502920"/>
          </a:xfrm>
          <a:prstGeom prst="rect">
            <a:avLst/>
          </a:prstGeom>
          <a:noFill/>
          <a:ln/>
        </p:spPr>
        <p:txBody>
          <a:bodyPr wrap="square" lIns="0" tIns="0" rIns="0" bIns="0" rtlCol="0" anchor="t"/>
          <a:lstStyle/>
          <a:p>
            <a:pPr indent="0" marL="0">
              <a:buNone/>
            </a:pPr>
            <a:r>
              <a:rPr lang="en-US" sz="1300" dirty="0">
                <a:solidFill>
                  <a:srgbClr val="1B2A41"/>
                </a:solidFill>
              </a:rPr>
              <a:t>The cleanliness complaint is pinpointed.</a:t>
            </a:r>
            <a:endParaRPr lang="en-US" sz="1300" dirty="0"/>
          </a:p>
        </p:txBody>
      </p:sp>
      <p:sp>
        <p:nvSpPr>
          <p:cNvPr id="37" name="Icon circle"/>
          <p:cNvSpPr/>
          <p:nvPr/>
        </p:nvSpPr>
        <p:spPr>
          <a:xfrm>
            <a:off x="8092440" y="5394960"/>
            <a:ext cx="594360" cy="594360"/>
          </a:xfrm>
          <a:prstGeom prst="ellipse">
            <a:avLst/>
          </a:prstGeom>
          <a:solidFill>
            <a:srgbClr val="1F3A6E"/>
          </a:solidFill>
          <a:ln w="12700">
            <a:solidFill>
              <a:srgbClr val="1F3A6E"/>
            </a:solidFill>
            <a:prstDash val="solid"/>
          </a:ln>
        </p:spPr>
      </p:sp>
      <p:pic>
        <p:nvPicPr>
          <p:cNvPr id="38" name="Image 6" descr="FaBullseye">    </p:cNvPr>
          <p:cNvPicPr>
            <a:picLocks noChangeAspect="1"/>
          </p:cNvPicPr>
          <p:nvPr/>
        </p:nvPicPr>
        <p:blipFill>
          <a:blip r:embed="rId7"/>
          <a:stretch>
            <a:fillRect/>
          </a:stretch>
        </p:blipFill>
        <p:spPr>
          <a:xfrm>
            <a:off x="8241030" y="5543550"/>
            <a:ext cx="297180" cy="297180"/>
          </a:xfrm>
          <a:prstGeom prst="rect">
            <a:avLst/>
          </a:prstGeom>
        </p:spPr>
      </p:pic>
      <p:sp>
        <p:nvSpPr>
          <p:cNvPr id="39" name="Text 29"/>
          <p:cNvSpPr txBox="1"/>
          <p:nvPr/>
        </p:nvSpPr>
        <p:spPr>
          <a:xfrm>
            <a:off x="8823960" y="5376672"/>
            <a:ext cx="2743200" cy="292608"/>
          </a:xfrm>
          <a:prstGeom prst="rect">
            <a:avLst/>
          </a:prstGeom>
          <a:noFill/>
          <a:ln/>
        </p:spPr>
        <p:txBody>
          <a:bodyPr wrap="square" lIns="0" tIns="0" rIns="0" bIns="0" rtlCol="0" anchor="t"/>
          <a:lstStyle/>
          <a:p>
            <a:pPr indent="0" marL="0">
              <a:buNone/>
            </a:pPr>
            <a:r>
              <a:rPr lang="en-US" sz="1600" b="1" dirty="0">
                <a:solidFill>
                  <a:srgbClr val="1F3A6E"/>
                </a:solidFill>
              </a:rPr>
              <a:t>Prioritise action</a:t>
            </a:r>
            <a:endParaRPr lang="en-US" sz="1600" dirty="0"/>
          </a:p>
        </p:txBody>
      </p:sp>
      <p:sp>
        <p:nvSpPr>
          <p:cNvPr id="40" name="Text 30"/>
          <p:cNvSpPr txBox="1"/>
          <p:nvPr/>
        </p:nvSpPr>
        <p:spPr>
          <a:xfrm>
            <a:off x="8823960" y="5687568"/>
            <a:ext cx="2834640" cy="502920"/>
          </a:xfrm>
          <a:prstGeom prst="rect">
            <a:avLst/>
          </a:prstGeom>
          <a:noFill/>
          <a:ln/>
        </p:spPr>
        <p:txBody>
          <a:bodyPr wrap="square" lIns="0" tIns="0" rIns="0" bIns="0" rtlCol="0" anchor="t"/>
          <a:lstStyle/>
          <a:p>
            <a:pPr indent="0" marL="0">
              <a:buNone/>
            </a:pPr>
            <a:r>
              <a:rPr lang="en-US" sz="1300" dirty="0">
                <a:solidFill>
                  <a:srgbClr val="1B2A41"/>
                </a:solidFill>
              </a:rPr>
              <a:t>Each concern can go to the right team.</a:t>
            </a:r>
            <a:endParaRPr lang="en-US" sz="13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What is Aspect-Based Sentiment Analysis?</a:t>
            </a:r>
            <a:endParaRPr lang="en-US" sz="3000" dirty="0"/>
          </a:p>
        </p:txBody>
      </p:sp>
      <p:sp>
        <p:nvSpPr>
          <p:cNvPr id="4" name="Card"/>
          <p:cNvSpPr/>
          <p:nvPr/>
        </p:nvSpPr>
        <p:spPr>
          <a:xfrm>
            <a:off x="457200" y="1371600"/>
            <a:ext cx="2331720" cy="1417320"/>
          </a:xfrm>
          <a:prstGeom prst="roundRect">
            <a:avLst>
              <a:gd name="adj" fmla="val 774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Icon circle"/>
          <p:cNvSpPr/>
          <p:nvPr/>
        </p:nvSpPr>
        <p:spPr>
          <a:xfrm>
            <a:off x="640080" y="1554480"/>
            <a:ext cx="548640" cy="548640"/>
          </a:xfrm>
          <a:prstGeom prst="ellipse">
            <a:avLst/>
          </a:prstGeom>
          <a:solidFill>
            <a:srgbClr val="1F3A6E"/>
          </a:solidFill>
          <a:ln w="12700">
            <a:solidFill>
              <a:srgbClr val="1F3A6E"/>
            </a:solidFill>
            <a:prstDash val="solid"/>
          </a:ln>
        </p:spPr>
      </p:sp>
      <p:pic>
        <p:nvPicPr>
          <p:cNvPr id="6" name="Image 0" descr="FaFileAlt">    </p:cNvPr>
          <p:cNvPicPr>
            <a:picLocks noChangeAspect="1"/>
          </p:cNvPicPr>
          <p:nvPr/>
        </p:nvPicPr>
        <p:blipFill>
          <a:blip r:embed="rId1"/>
          <a:stretch>
            <a:fillRect/>
          </a:stretch>
        </p:blipFill>
        <p:spPr>
          <a:xfrm>
            <a:off x="777240" y="1691640"/>
            <a:ext cx="274320" cy="274320"/>
          </a:xfrm>
          <a:prstGeom prst="rect">
            <a:avLst/>
          </a:prstGeom>
        </p:spPr>
      </p:pic>
      <p:sp>
        <p:nvSpPr>
          <p:cNvPr id="7" name="Text 3"/>
          <p:cNvSpPr txBox="1"/>
          <p:nvPr/>
        </p:nvSpPr>
        <p:spPr>
          <a:xfrm>
            <a:off x="2286000" y="1508760"/>
            <a:ext cx="365760" cy="365760"/>
          </a:xfrm>
          <a:prstGeom prst="rect">
            <a:avLst/>
          </a:prstGeom>
          <a:noFill/>
          <a:ln/>
        </p:spPr>
        <p:txBody>
          <a:bodyPr wrap="square" lIns="0" tIns="0" rIns="0" bIns="0" rtlCol="0" anchor="t"/>
          <a:lstStyle/>
          <a:p>
            <a:pPr algn="r" indent="0" marL="0">
              <a:buNone/>
            </a:pPr>
            <a:r>
              <a:rPr lang="en-US" sz="2200" b="1" dirty="0">
                <a:solidFill>
                  <a:srgbClr val="C9D3E3"/>
                </a:solidFill>
                <a:latin typeface="Cambria" pitchFamily="34" charset="0"/>
                <a:ea typeface="Cambria" pitchFamily="34" charset="-122"/>
                <a:cs typeface="Cambria" pitchFamily="34" charset="-120"/>
              </a:rPr>
              <a:t>1</a:t>
            </a:r>
            <a:endParaRPr lang="en-US" sz="2200" dirty="0"/>
          </a:p>
        </p:txBody>
      </p:sp>
      <p:sp>
        <p:nvSpPr>
          <p:cNvPr id="8" name="Text 4"/>
          <p:cNvSpPr txBox="1"/>
          <p:nvPr/>
        </p:nvSpPr>
        <p:spPr>
          <a:xfrm>
            <a:off x="640080" y="2176272"/>
            <a:ext cx="2011680" cy="274320"/>
          </a:xfrm>
          <a:prstGeom prst="rect">
            <a:avLst/>
          </a:prstGeom>
          <a:noFill/>
          <a:ln/>
        </p:spPr>
        <p:txBody>
          <a:bodyPr wrap="square" lIns="0" tIns="0" rIns="0" bIns="0" rtlCol="0" anchor="t"/>
          <a:lstStyle/>
          <a:p>
            <a:pPr indent="0" marL="0">
              <a:buNone/>
            </a:pPr>
            <a:r>
              <a:rPr lang="en-US" sz="1500" b="1" dirty="0">
                <a:solidFill>
                  <a:srgbClr val="1F3A6E"/>
                </a:solidFill>
              </a:rPr>
              <a:t>Hotel review</a:t>
            </a:r>
            <a:endParaRPr lang="en-US" sz="1500" dirty="0"/>
          </a:p>
        </p:txBody>
      </p:sp>
      <p:sp>
        <p:nvSpPr>
          <p:cNvPr id="9" name="Text 5"/>
          <p:cNvSpPr txBox="1"/>
          <p:nvPr/>
        </p:nvSpPr>
        <p:spPr>
          <a:xfrm>
            <a:off x="640080" y="2450592"/>
            <a:ext cx="2011680" cy="274320"/>
          </a:xfrm>
          <a:prstGeom prst="rect">
            <a:avLst/>
          </a:prstGeom>
          <a:noFill/>
          <a:ln/>
        </p:spPr>
        <p:txBody>
          <a:bodyPr wrap="square" lIns="0" tIns="0" rIns="0" bIns="0" rtlCol="0" anchor="t"/>
          <a:lstStyle/>
          <a:p>
            <a:pPr indent="0" marL="0">
              <a:buNone/>
            </a:pPr>
            <a:r>
              <a:rPr lang="en-US" sz="1200" dirty="0">
                <a:solidFill>
                  <a:srgbClr val="5B6B84"/>
                </a:solidFill>
              </a:rPr>
              <a:t>Raw text from a guest</a:t>
            </a:r>
            <a:endParaRPr lang="en-US" sz="1200" dirty="0"/>
          </a:p>
        </p:txBody>
      </p:sp>
      <p:sp>
        <p:nvSpPr>
          <p:cNvPr id="10" name="Arrow"/>
          <p:cNvSpPr/>
          <p:nvPr/>
        </p:nvSpPr>
        <p:spPr>
          <a:xfrm>
            <a:off x="2880360" y="1965960"/>
            <a:ext cx="420624" cy="320040"/>
          </a:xfrm>
          <a:prstGeom prst="rightArrow">
            <a:avLst/>
          </a:prstGeom>
          <a:solidFill>
            <a:srgbClr val="0E9AA7"/>
          </a:solidFill>
          <a:ln w="12700">
            <a:solidFill>
              <a:srgbClr val="0E9AA7"/>
            </a:solidFill>
            <a:prstDash val="solid"/>
          </a:ln>
        </p:spPr>
      </p:sp>
      <p:sp>
        <p:nvSpPr>
          <p:cNvPr id="11" name="Card"/>
          <p:cNvSpPr/>
          <p:nvPr/>
        </p:nvSpPr>
        <p:spPr>
          <a:xfrm>
            <a:off x="3438144" y="1371600"/>
            <a:ext cx="2331720" cy="1417320"/>
          </a:xfrm>
          <a:prstGeom prst="roundRect">
            <a:avLst>
              <a:gd name="adj" fmla="val 774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2" name="Icon circle"/>
          <p:cNvSpPr/>
          <p:nvPr/>
        </p:nvSpPr>
        <p:spPr>
          <a:xfrm>
            <a:off x="3621024" y="1554480"/>
            <a:ext cx="548640" cy="548640"/>
          </a:xfrm>
          <a:prstGeom prst="ellipse">
            <a:avLst/>
          </a:prstGeom>
          <a:solidFill>
            <a:srgbClr val="0E9AA7"/>
          </a:solidFill>
          <a:ln w="12700">
            <a:solidFill>
              <a:srgbClr val="0E9AA7"/>
            </a:solidFill>
            <a:prstDash val="solid"/>
          </a:ln>
        </p:spPr>
      </p:sp>
      <p:pic>
        <p:nvPicPr>
          <p:cNvPr id="13" name="Image 1" descr="FaSearch">    </p:cNvPr>
          <p:cNvPicPr>
            <a:picLocks noChangeAspect="1"/>
          </p:cNvPicPr>
          <p:nvPr/>
        </p:nvPicPr>
        <p:blipFill>
          <a:blip r:embed="rId2"/>
          <a:stretch>
            <a:fillRect/>
          </a:stretch>
        </p:blipFill>
        <p:spPr>
          <a:xfrm>
            <a:off x="3758184" y="1691640"/>
            <a:ext cx="274320" cy="274320"/>
          </a:xfrm>
          <a:prstGeom prst="rect">
            <a:avLst/>
          </a:prstGeom>
        </p:spPr>
      </p:pic>
      <p:sp>
        <p:nvSpPr>
          <p:cNvPr id="14" name="Text 9"/>
          <p:cNvSpPr txBox="1"/>
          <p:nvPr/>
        </p:nvSpPr>
        <p:spPr>
          <a:xfrm>
            <a:off x="5266944" y="1508760"/>
            <a:ext cx="365760" cy="365760"/>
          </a:xfrm>
          <a:prstGeom prst="rect">
            <a:avLst/>
          </a:prstGeom>
          <a:noFill/>
          <a:ln/>
        </p:spPr>
        <p:txBody>
          <a:bodyPr wrap="square" lIns="0" tIns="0" rIns="0" bIns="0" rtlCol="0" anchor="t"/>
          <a:lstStyle/>
          <a:p>
            <a:pPr algn="r" indent="0" marL="0">
              <a:buNone/>
            </a:pPr>
            <a:r>
              <a:rPr lang="en-US" sz="2200" b="1" dirty="0">
                <a:solidFill>
                  <a:srgbClr val="C9D3E3"/>
                </a:solidFill>
                <a:latin typeface="Cambria" pitchFamily="34" charset="0"/>
                <a:ea typeface="Cambria" pitchFamily="34" charset="-122"/>
                <a:cs typeface="Cambria" pitchFamily="34" charset="-120"/>
              </a:rPr>
              <a:t>2</a:t>
            </a:r>
            <a:endParaRPr lang="en-US" sz="2200" dirty="0"/>
          </a:p>
        </p:txBody>
      </p:sp>
      <p:sp>
        <p:nvSpPr>
          <p:cNvPr id="15" name="Text 10"/>
          <p:cNvSpPr txBox="1"/>
          <p:nvPr/>
        </p:nvSpPr>
        <p:spPr>
          <a:xfrm>
            <a:off x="3621024" y="2176272"/>
            <a:ext cx="2011680" cy="274320"/>
          </a:xfrm>
          <a:prstGeom prst="rect">
            <a:avLst/>
          </a:prstGeom>
          <a:noFill/>
          <a:ln/>
        </p:spPr>
        <p:txBody>
          <a:bodyPr wrap="square" lIns="0" tIns="0" rIns="0" bIns="0" rtlCol="0" anchor="t"/>
          <a:lstStyle/>
          <a:p>
            <a:pPr indent="0" marL="0">
              <a:buNone/>
            </a:pPr>
            <a:r>
              <a:rPr lang="en-US" sz="1500" b="1" dirty="0">
                <a:solidFill>
                  <a:srgbClr val="1F3A6E"/>
                </a:solidFill>
              </a:rPr>
              <a:t>Aspect identification</a:t>
            </a:r>
            <a:endParaRPr lang="en-US" sz="1500" dirty="0"/>
          </a:p>
        </p:txBody>
      </p:sp>
      <p:sp>
        <p:nvSpPr>
          <p:cNvPr id="16" name="Text 11"/>
          <p:cNvSpPr txBox="1"/>
          <p:nvPr/>
        </p:nvSpPr>
        <p:spPr>
          <a:xfrm>
            <a:off x="3621024" y="2450592"/>
            <a:ext cx="2011680" cy="274320"/>
          </a:xfrm>
          <a:prstGeom prst="rect">
            <a:avLst/>
          </a:prstGeom>
          <a:noFill/>
          <a:ln/>
        </p:spPr>
        <p:txBody>
          <a:bodyPr wrap="square" lIns="0" tIns="0" rIns="0" bIns="0" rtlCol="0" anchor="t"/>
          <a:lstStyle/>
          <a:p>
            <a:pPr indent="0" marL="0">
              <a:buNone/>
            </a:pPr>
            <a:r>
              <a:rPr lang="en-US" sz="1200" dirty="0">
                <a:solidFill>
                  <a:srgbClr val="5B6B84"/>
                </a:solidFill>
              </a:rPr>
              <a:t>Which feature is discussed?</a:t>
            </a:r>
            <a:endParaRPr lang="en-US" sz="1200" dirty="0"/>
          </a:p>
        </p:txBody>
      </p:sp>
      <p:sp>
        <p:nvSpPr>
          <p:cNvPr id="17" name="Arrow"/>
          <p:cNvSpPr/>
          <p:nvPr/>
        </p:nvSpPr>
        <p:spPr>
          <a:xfrm>
            <a:off x="5861304" y="1965960"/>
            <a:ext cx="420624" cy="320040"/>
          </a:xfrm>
          <a:prstGeom prst="rightArrow">
            <a:avLst/>
          </a:prstGeom>
          <a:solidFill>
            <a:srgbClr val="0E9AA7"/>
          </a:solidFill>
          <a:ln w="12700">
            <a:solidFill>
              <a:srgbClr val="0E9AA7"/>
            </a:solidFill>
            <a:prstDash val="solid"/>
          </a:ln>
        </p:spPr>
      </p:sp>
      <p:sp>
        <p:nvSpPr>
          <p:cNvPr id="18" name="Card"/>
          <p:cNvSpPr/>
          <p:nvPr/>
        </p:nvSpPr>
        <p:spPr>
          <a:xfrm>
            <a:off x="6419088" y="1371600"/>
            <a:ext cx="2331720" cy="1417320"/>
          </a:xfrm>
          <a:prstGeom prst="roundRect">
            <a:avLst>
              <a:gd name="adj" fmla="val 774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9" name="Icon circle"/>
          <p:cNvSpPr/>
          <p:nvPr/>
        </p:nvSpPr>
        <p:spPr>
          <a:xfrm>
            <a:off x="6601968" y="1554480"/>
            <a:ext cx="548640" cy="548640"/>
          </a:xfrm>
          <a:prstGeom prst="ellipse">
            <a:avLst/>
          </a:prstGeom>
          <a:solidFill>
            <a:srgbClr val="2EC4B6"/>
          </a:solidFill>
          <a:ln w="12700">
            <a:solidFill>
              <a:srgbClr val="2EC4B6"/>
            </a:solidFill>
            <a:prstDash val="solid"/>
          </a:ln>
        </p:spPr>
      </p:sp>
      <p:pic>
        <p:nvPicPr>
          <p:cNvPr id="20" name="Image 2" descr="FaStar">    </p:cNvPr>
          <p:cNvPicPr>
            <a:picLocks noChangeAspect="1"/>
          </p:cNvPicPr>
          <p:nvPr/>
        </p:nvPicPr>
        <p:blipFill>
          <a:blip r:embed="rId3"/>
          <a:stretch>
            <a:fillRect/>
          </a:stretch>
        </p:blipFill>
        <p:spPr>
          <a:xfrm>
            <a:off x="6739128" y="1691640"/>
            <a:ext cx="274320" cy="274320"/>
          </a:xfrm>
          <a:prstGeom prst="rect">
            <a:avLst/>
          </a:prstGeom>
        </p:spPr>
      </p:pic>
      <p:sp>
        <p:nvSpPr>
          <p:cNvPr id="21" name="Text 15"/>
          <p:cNvSpPr txBox="1"/>
          <p:nvPr/>
        </p:nvSpPr>
        <p:spPr>
          <a:xfrm>
            <a:off x="8247888" y="1508760"/>
            <a:ext cx="365760" cy="365760"/>
          </a:xfrm>
          <a:prstGeom prst="rect">
            <a:avLst/>
          </a:prstGeom>
          <a:noFill/>
          <a:ln/>
        </p:spPr>
        <p:txBody>
          <a:bodyPr wrap="square" lIns="0" tIns="0" rIns="0" bIns="0" rtlCol="0" anchor="t"/>
          <a:lstStyle/>
          <a:p>
            <a:pPr algn="r" indent="0" marL="0">
              <a:buNone/>
            </a:pPr>
            <a:r>
              <a:rPr lang="en-US" sz="2200" b="1" dirty="0">
                <a:solidFill>
                  <a:srgbClr val="C9D3E3"/>
                </a:solidFill>
                <a:latin typeface="Cambria" pitchFamily="34" charset="0"/>
                <a:ea typeface="Cambria" pitchFamily="34" charset="-122"/>
                <a:cs typeface="Cambria" pitchFamily="34" charset="-120"/>
              </a:rPr>
              <a:t>3</a:t>
            </a:r>
            <a:endParaRPr lang="en-US" sz="2200" dirty="0"/>
          </a:p>
        </p:txBody>
      </p:sp>
      <p:sp>
        <p:nvSpPr>
          <p:cNvPr id="22" name="Text 16"/>
          <p:cNvSpPr txBox="1"/>
          <p:nvPr/>
        </p:nvSpPr>
        <p:spPr>
          <a:xfrm>
            <a:off x="6601968" y="2176272"/>
            <a:ext cx="2011680" cy="274320"/>
          </a:xfrm>
          <a:prstGeom prst="rect">
            <a:avLst/>
          </a:prstGeom>
          <a:noFill/>
          <a:ln/>
        </p:spPr>
        <p:txBody>
          <a:bodyPr wrap="square" lIns="0" tIns="0" rIns="0" bIns="0" rtlCol="0" anchor="t"/>
          <a:lstStyle/>
          <a:p>
            <a:pPr indent="0" marL="0">
              <a:buNone/>
            </a:pPr>
            <a:r>
              <a:rPr lang="en-US" sz="1500" b="1" dirty="0">
                <a:solidFill>
                  <a:srgbClr val="1F3A6E"/>
                </a:solidFill>
              </a:rPr>
              <a:t>Aspect-specific rating</a:t>
            </a:r>
            <a:endParaRPr lang="en-US" sz="1500" dirty="0"/>
          </a:p>
        </p:txBody>
      </p:sp>
      <p:sp>
        <p:nvSpPr>
          <p:cNvPr id="23" name="Text 17"/>
          <p:cNvSpPr txBox="1"/>
          <p:nvPr/>
        </p:nvSpPr>
        <p:spPr>
          <a:xfrm>
            <a:off x="6601968" y="2450592"/>
            <a:ext cx="2011680" cy="274320"/>
          </a:xfrm>
          <a:prstGeom prst="rect">
            <a:avLst/>
          </a:prstGeom>
          <a:noFill/>
          <a:ln/>
        </p:spPr>
        <p:txBody>
          <a:bodyPr wrap="square" lIns="0" tIns="0" rIns="0" bIns="0" rtlCol="0" anchor="t"/>
          <a:lstStyle/>
          <a:p>
            <a:pPr indent="0" marL="0">
              <a:buNone/>
            </a:pPr>
            <a:r>
              <a:rPr lang="en-US" sz="1200" dirty="0">
                <a:solidFill>
                  <a:srgbClr val="5B6B84"/>
                </a:solidFill>
              </a:rPr>
              <a:t>Predict 1–5 stars</a:t>
            </a:r>
            <a:endParaRPr lang="en-US" sz="1200" dirty="0"/>
          </a:p>
        </p:txBody>
      </p:sp>
      <p:sp>
        <p:nvSpPr>
          <p:cNvPr id="24" name="Arrow"/>
          <p:cNvSpPr/>
          <p:nvPr/>
        </p:nvSpPr>
        <p:spPr>
          <a:xfrm>
            <a:off x="8842248" y="1965960"/>
            <a:ext cx="420624" cy="320040"/>
          </a:xfrm>
          <a:prstGeom prst="rightArrow">
            <a:avLst/>
          </a:prstGeom>
          <a:solidFill>
            <a:srgbClr val="0E9AA7"/>
          </a:solidFill>
          <a:ln w="12700">
            <a:solidFill>
              <a:srgbClr val="0E9AA7"/>
            </a:solidFill>
            <a:prstDash val="solid"/>
          </a:ln>
        </p:spPr>
      </p:sp>
      <p:sp>
        <p:nvSpPr>
          <p:cNvPr id="25" name="Card"/>
          <p:cNvSpPr/>
          <p:nvPr/>
        </p:nvSpPr>
        <p:spPr>
          <a:xfrm>
            <a:off x="9400032" y="1371600"/>
            <a:ext cx="2331720" cy="1417320"/>
          </a:xfrm>
          <a:prstGeom prst="roundRect">
            <a:avLst>
              <a:gd name="adj" fmla="val 774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6" name="Icon circle"/>
          <p:cNvSpPr/>
          <p:nvPr/>
        </p:nvSpPr>
        <p:spPr>
          <a:xfrm>
            <a:off x="9582912" y="1554480"/>
            <a:ext cx="548640" cy="548640"/>
          </a:xfrm>
          <a:prstGeom prst="ellipse">
            <a:avLst/>
          </a:prstGeom>
          <a:solidFill>
            <a:srgbClr val="E8604C"/>
          </a:solidFill>
          <a:ln w="12700">
            <a:solidFill>
              <a:srgbClr val="E8604C"/>
            </a:solidFill>
            <a:prstDash val="solid"/>
          </a:ln>
        </p:spPr>
      </p:sp>
      <p:pic>
        <p:nvPicPr>
          <p:cNvPr id="27" name="Image 3" descr="FaSmile">    </p:cNvPr>
          <p:cNvPicPr>
            <a:picLocks noChangeAspect="1"/>
          </p:cNvPicPr>
          <p:nvPr/>
        </p:nvPicPr>
        <p:blipFill>
          <a:blip r:embed="rId4"/>
          <a:stretch>
            <a:fillRect/>
          </a:stretch>
        </p:blipFill>
        <p:spPr>
          <a:xfrm>
            <a:off x="9720072" y="1691640"/>
            <a:ext cx="274320" cy="274320"/>
          </a:xfrm>
          <a:prstGeom prst="rect">
            <a:avLst/>
          </a:prstGeom>
        </p:spPr>
      </p:pic>
      <p:sp>
        <p:nvSpPr>
          <p:cNvPr id="28" name="Text 21"/>
          <p:cNvSpPr txBox="1"/>
          <p:nvPr/>
        </p:nvSpPr>
        <p:spPr>
          <a:xfrm>
            <a:off x="11228832" y="1508760"/>
            <a:ext cx="365760" cy="365760"/>
          </a:xfrm>
          <a:prstGeom prst="rect">
            <a:avLst/>
          </a:prstGeom>
          <a:noFill/>
          <a:ln/>
        </p:spPr>
        <p:txBody>
          <a:bodyPr wrap="square" lIns="0" tIns="0" rIns="0" bIns="0" rtlCol="0" anchor="t"/>
          <a:lstStyle/>
          <a:p>
            <a:pPr algn="r" indent="0" marL="0">
              <a:buNone/>
            </a:pPr>
            <a:r>
              <a:rPr lang="en-US" sz="2200" b="1" dirty="0">
                <a:solidFill>
                  <a:srgbClr val="C9D3E3"/>
                </a:solidFill>
                <a:latin typeface="Cambria" pitchFamily="34" charset="0"/>
                <a:ea typeface="Cambria" pitchFamily="34" charset="-122"/>
                <a:cs typeface="Cambria" pitchFamily="34" charset="-120"/>
              </a:rPr>
              <a:t>4</a:t>
            </a:r>
            <a:endParaRPr lang="en-US" sz="2200" dirty="0"/>
          </a:p>
        </p:txBody>
      </p:sp>
      <p:sp>
        <p:nvSpPr>
          <p:cNvPr id="29" name="Text 22"/>
          <p:cNvSpPr txBox="1"/>
          <p:nvPr/>
        </p:nvSpPr>
        <p:spPr>
          <a:xfrm>
            <a:off x="9582912" y="2176272"/>
            <a:ext cx="2011680" cy="274320"/>
          </a:xfrm>
          <a:prstGeom prst="rect">
            <a:avLst/>
          </a:prstGeom>
          <a:noFill/>
          <a:ln/>
        </p:spPr>
        <p:txBody>
          <a:bodyPr wrap="square" lIns="0" tIns="0" rIns="0" bIns="0" rtlCol="0" anchor="t"/>
          <a:lstStyle/>
          <a:p>
            <a:pPr indent="0" marL="0">
              <a:buNone/>
            </a:pPr>
            <a:r>
              <a:rPr lang="en-US" sz="1500" b="1" dirty="0">
                <a:solidFill>
                  <a:srgbClr val="1F3A6E"/>
                </a:solidFill>
              </a:rPr>
              <a:t>Sentiment classification</a:t>
            </a:r>
            <a:endParaRPr lang="en-US" sz="1500" dirty="0"/>
          </a:p>
        </p:txBody>
      </p:sp>
      <p:sp>
        <p:nvSpPr>
          <p:cNvPr id="30" name="Text 23"/>
          <p:cNvSpPr txBox="1"/>
          <p:nvPr/>
        </p:nvSpPr>
        <p:spPr>
          <a:xfrm>
            <a:off x="9582912" y="2450592"/>
            <a:ext cx="2011680" cy="274320"/>
          </a:xfrm>
          <a:prstGeom prst="rect">
            <a:avLst/>
          </a:prstGeom>
          <a:noFill/>
          <a:ln/>
        </p:spPr>
        <p:txBody>
          <a:bodyPr wrap="square" lIns="0" tIns="0" rIns="0" bIns="0" rtlCol="0" anchor="t"/>
          <a:lstStyle/>
          <a:p>
            <a:pPr indent="0" marL="0">
              <a:buNone/>
            </a:pPr>
            <a:r>
              <a:rPr lang="en-US" sz="1200" dirty="0">
                <a:solidFill>
                  <a:srgbClr val="5B6B84"/>
                </a:solidFill>
              </a:rPr>
              <a:t>Negative · neutral · positive</a:t>
            </a:r>
            <a:endParaRPr lang="en-US" sz="1200" dirty="0"/>
          </a:p>
        </p:txBody>
      </p:sp>
      <p:sp>
        <p:nvSpPr>
          <p:cNvPr id="31" name="Card"/>
          <p:cNvSpPr/>
          <p:nvPr/>
        </p:nvSpPr>
        <p:spPr>
          <a:xfrm>
            <a:off x="457200" y="3017520"/>
            <a:ext cx="6400800" cy="1828800"/>
          </a:xfrm>
          <a:prstGeom prst="roundRect">
            <a:avLst>
              <a:gd name="adj" fmla="val 6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2" name="Pill"/>
          <p:cNvSpPr/>
          <p:nvPr/>
        </p:nvSpPr>
        <p:spPr>
          <a:xfrm>
            <a:off x="658368" y="3136392"/>
            <a:ext cx="1737360" cy="274320"/>
          </a:xfrm>
          <a:prstGeom prst="roundRect">
            <a:avLst>
              <a:gd name="adj" fmla="val 50000"/>
            </a:avLst>
          </a:prstGeom>
          <a:solidFill>
            <a:srgbClr val="FDF1DC"/>
          </a:solidFill>
          <a:ln w="12700">
            <a:solidFill>
              <a:srgbClr val="FDF1DC"/>
            </a:solidFill>
            <a:prstDash val="solid"/>
          </a:ln>
        </p:spPr>
      </p:sp>
      <p:sp>
        <p:nvSpPr>
          <p:cNvPr id="33" name="Text 26"/>
          <p:cNvSpPr txBox="1"/>
          <p:nvPr/>
        </p:nvSpPr>
        <p:spPr>
          <a:xfrm>
            <a:off x="658368" y="3136392"/>
            <a:ext cx="1737360" cy="274320"/>
          </a:xfrm>
          <a:prstGeom prst="rect">
            <a:avLst/>
          </a:prstGeom>
          <a:noFill/>
          <a:ln/>
        </p:spPr>
        <p:txBody>
          <a:bodyPr wrap="square" lIns="0" tIns="0" rIns="0" bIns="0" rtlCol="0" anchor="ctr"/>
          <a:lstStyle/>
          <a:p>
            <a:pPr algn="ctr" indent="0" marL="0">
              <a:buNone/>
            </a:pPr>
            <a:r>
              <a:rPr lang="en-US" sz="1100" b="1" dirty="0">
                <a:solidFill>
                  <a:srgbClr val="8A5A00"/>
                </a:solidFill>
              </a:rPr>
              <a:t>Illustrative example</a:t>
            </a:r>
            <a:endParaRPr lang="en-US" sz="1100" dirty="0"/>
          </a:p>
        </p:txBody>
      </p:sp>
      <p:sp>
        <p:nvSpPr>
          <p:cNvPr id="34" name="Text 27"/>
          <p:cNvSpPr txBox="1"/>
          <p:nvPr/>
        </p:nvSpPr>
        <p:spPr>
          <a:xfrm>
            <a:off x="685800" y="3520440"/>
            <a:ext cx="5943600" cy="640080"/>
          </a:xfrm>
          <a:prstGeom prst="rect">
            <a:avLst/>
          </a:prstGeom>
          <a:noFill/>
          <a:ln/>
        </p:spPr>
        <p:txBody>
          <a:bodyPr wrap="square" lIns="0" tIns="0" rIns="0" bIns="0" rtlCol="0" anchor="t"/>
          <a:lstStyle/>
          <a:p>
            <a:pPr indent="0" marL="0">
              <a:buNone/>
            </a:pPr>
            <a:r>
              <a:rPr lang="en-US" sz="1600" i="1" dirty="0">
                <a:solidFill>
                  <a:srgbClr val="1B2A41"/>
                </a:solidFill>
                <a:latin typeface="Cambria" pitchFamily="34" charset="0"/>
                <a:ea typeface="Cambria" pitchFamily="34" charset="-122"/>
                <a:cs typeface="Cambria" pitchFamily="34" charset="-120"/>
              </a:rPr>
              <a:t>The </a:t>
            </a:r>
            <a:pPr indent="0" marL="0">
              <a:buNone/>
            </a:pPr>
            <a:r>
              <a:rPr lang="en-US" sz="1600" b="1" i="1" dirty="0">
                <a:solidFill>
                  <a:srgbClr val="0B7F8A"/>
                </a:solidFill>
                <a:latin typeface="Cambria" pitchFamily="34" charset="0"/>
                <a:ea typeface="Cambria" pitchFamily="34" charset="-122"/>
                <a:cs typeface="Cambria" pitchFamily="34" charset="-120"/>
              </a:rPr>
              <a:t>staff were very helpful</a:t>
            </a:r>
            <a:pPr indent="0" marL="0">
              <a:buNone/>
            </a:pPr>
            <a:r>
              <a:rPr lang="en-US" sz="1600" i="1" dirty="0">
                <a:solidFill>
                  <a:srgbClr val="1B2A41"/>
                </a:solidFill>
                <a:latin typeface="Cambria" pitchFamily="34" charset="0"/>
                <a:ea typeface="Cambria" pitchFamily="34" charset="-122"/>
                <a:cs typeface="Cambria" pitchFamily="34" charset="-120"/>
              </a:rPr>
              <a:t>, but the </a:t>
            </a:r>
            <a:pPr indent="0" marL="0">
              <a:buNone/>
            </a:pPr>
            <a:r>
              <a:rPr lang="en-US" sz="1600" b="1" i="1" dirty="0">
                <a:solidFill>
                  <a:srgbClr val="C4402D"/>
                </a:solidFill>
                <a:latin typeface="Cambria" pitchFamily="34" charset="0"/>
                <a:ea typeface="Cambria" pitchFamily="34" charset="-122"/>
                <a:cs typeface="Cambria" pitchFamily="34" charset="-120"/>
              </a:rPr>
              <a:t>room was dirty</a:t>
            </a:r>
            <a:pPr indent="0" marL="0">
              <a:buNone/>
            </a:pPr>
            <a:r>
              <a:rPr lang="en-US" sz="1600" i="1" dirty="0">
                <a:solidFill>
                  <a:srgbClr val="1B2A41"/>
                </a:solidFill>
                <a:latin typeface="Cambria" pitchFamily="34" charset="0"/>
                <a:ea typeface="Cambria" pitchFamily="34" charset="-122"/>
                <a:cs typeface="Cambria" pitchFamily="34" charset="-120"/>
              </a:rPr>
              <a:t> and the </a:t>
            </a:r>
            <a:pPr indent="0" marL="0">
              <a:buNone/>
            </a:pPr>
            <a:r>
              <a:rPr lang="en-US" sz="1600" b="1" i="1" dirty="0">
                <a:solidFill>
                  <a:srgbClr val="0B7F8A"/>
                </a:solidFill>
                <a:latin typeface="Cambria" pitchFamily="34" charset="0"/>
                <a:ea typeface="Cambria" pitchFamily="34" charset="-122"/>
                <a:cs typeface="Cambria" pitchFamily="34" charset="-120"/>
              </a:rPr>
              <a:t>location was convenient</a:t>
            </a:r>
            <a:pPr indent="0" marL="0">
              <a:buNone/>
            </a:pPr>
            <a:r>
              <a:rPr lang="en-US" sz="1600" i="1" dirty="0">
                <a:solidFill>
                  <a:srgbClr val="1B2A41"/>
                </a:solidFill>
                <a:latin typeface="Cambria" pitchFamily="34" charset="0"/>
                <a:ea typeface="Cambria" pitchFamily="34" charset="-122"/>
                <a:cs typeface="Cambria" pitchFamily="34" charset="-120"/>
              </a:rPr>
              <a:t>.</a:t>
            </a:r>
            <a:endParaRPr lang="en-US" sz="1600" dirty="0"/>
          </a:p>
        </p:txBody>
      </p:sp>
      <p:sp>
        <p:nvSpPr>
          <p:cNvPr id="35" name="Aspect chip"/>
          <p:cNvSpPr/>
          <p:nvPr/>
        </p:nvSpPr>
        <p:spPr>
          <a:xfrm>
            <a:off x="685800" y="4251960"/>
            <a:ext cx="1783080" cy="457200"/>
          </a:xfrm>
          <a:prstGeom prst="roundRect">
            <a:avLst>
              <a:gd name="adj" fmla="val 20000"/>
            </a:avLst>
          </a:prstGeom>
          <a:solidFill>
            <a:srgbClr val="E1F4F3"/>
          </a:solidFill>
          <a:ln w="12700">
            <a:solidFill>
              <a:srgbClr val="0E9AA7"/>
            </a:solidFill>
            <a:prstDash val="solid"/>
          </a:ln>
        </p:spPr>
      </p:sp>
      <p:sp>
        <p:nvSpPr>
          <p:cNvPr id="36" name="Text 29"/>
          <p:cNvSpPr txBox="1"/>
          <p:nvPr/>
        </p:nvSpPr>
        <p:spPr>
          <a:xfrm>
            <a:off x="685800" y="4251960"/>
            <a:ext cx="1783080" cy="457200"/>
          </a:xfrm>
          <a:prstGeom prst="rect">
            <a:avLst/>
          </a:prstGeom>
          <a:noFill/>
          <a:ln/>
        </p:spPr>
        <p:txBody>
          <a:bodyPr wrap="square" lIns="0" tIns="0" rIns="0" bIns="0" rtlCol="0" anchor="ctr"/>
          <a:lstStyle/>
          <a:p>
            <a:pPr algn="ctr" indent="0" marL="0">
              <a:buNone/>
            </a:pPr>
            <a:r>
              <a:rPr lang="en-US" sz="1200" b="1" dirty="0">
                <a:solidFill>
                  <a:srgbClr val="1F3A6E"/>
                </a:solidFill>
              </a:rPr>
              <a:t>Service</a:t>
            </a:r>
            <a:endParaRPr lang="en-US" sz="1200" dirty="0"/>
          </a:p>
          <a:p>
            <a:pPr algn="ctr" indent="0" marL="0">
              <a:buNone/>
            </a:pPr>
            <a:r>
              <a:rPr lang="en-US" sz="1100" b="1" dirty="0">
                <a:solidFill>
                  <a:srgbClr val="0B7F8A"/>
                </a:solidFill>
              </a:rPr>
              <a:t>positive</a:t>
            </a:r>
            <a:endParaRPr lang="en-US" sz="1200" dirty="0"/>
          </a:p>
        </p:txBody>
      </p:sp>
      <p:sp>
        <p:nvSpPr>
          <p:cNvPr id="37" name="Aspect chip"/>
          <p:cNvSpPr/>
          <p:nvPr/>
        </p:nvSpPr>
        <p:spPr>
          <a:xfrm>
            <a:off x="2606040" y="4251960"/>
            <a:ext cx="1783080" cy="457200"/>
          </a:xfrm>
          <a:prstGeom prst="roundRect">
            <a:avLst>
              <a:gd name="adj" fmla="val 20000"/>
            </a:avLst>
          </a:prstGeom>
          <a:solidFill>
            <a:srgbClr val="FDEBE7"/>
          </a:solidFill>
          <a:ln w="12700">
            <a:solidFill>
              <a:srgbClr val="E8604C"/>
            </a:solidFill>
            <a:prstDash val="solid"/>
          </a:ln>
        </p:spPr>
      </p:sp>
      <p:sp>
        <p:nvSpPr>
          <p:cNvPr id="38" name="Text 31"/>
          <p:cNvSpPr txBox="1"/>
          <p:nvPr/>
        </p:nvSpPr>
        <p:spPr>
          <a:xfrm>
            <a:off x="2606040" y="4251960"/>
            <a:ext cx="1783080" cy="457200"/>
          </a:xfrm>
          <a:prstGeom prst="rect">
            <a:avLst/>
          </a:prstGeom>
          <a:noFill/>
          <a:ln/>
        </p:spPr>
        <p:txBody>
          <a:bodyPr wrap="square" lIns="0" tIns="0" rIns="0" bIns="0" rtlCol="0" anchor="ctr"/>
          <a:lstStyle/>
          <a:p>
            <a:pPr algn="ctr" indent="0" marL="0">
              <a:buNone/>
            </a:pPr>
            <a:r>
              <a:rPr lang="en-US" sz="1200" b="1" dirty="0">
                <a:solidFill>
                  <a:srgbClr val="1F3A6E"/>
                </a:solidFill>
              </a:rPr>
              <a:t>Cleanliness</a:t>
            </a:r>
            <a:endParaRPr lang="en-US" sz="1200" dirty="0"/>
          </a:p>
          <a:p>
            <a:pPr algn="ctr" indent="0" marL="0">
              <a:buNone/>
            </a:pPr>
            <a:r>
              <a:rPr lang="en-US" sz="1100" b="1" dirty="0">
                <a:solidFill>
                  <a:srgbClr val="C4402D"/>
                </a:solidFill>
              </a:rPr>
              <a:t>negative</a:t>
            </a:r>
            <a:endParaRPr lang="en-US" sz="1200" dirty="0"/>
          </a:p>
        </p:txBody>
      </p:sp>
      <p:sp>
        <p:nvSpPr>
          <p:cNvPr id="39" name="Aspect chip"/>
          <p:cNvSpPr/>
          <p:nvPr/>
        </p:nvSpPr>
        <p:spPr>
          <a:xfrm>
            <a:off x="4526280" y="4251960"/>
            <a:ext cx="1783080" cy="457200"/>
          </a:xfrm>
          <a:prstGeom prst="roundRect">
            <a:avLst>
              <a:gd name="adj" fmla="val 20000"/>
            </a:avLst>
          </a:prstGeom>
          <a:solidFill>
            <a:srgbClr val="E1F4F3"/>
          </a:solidFill>
          <a:ln w="12700">
            <a:solidFill>
              <a:srgbClr val="0E9AA7"/>
            </a:solidFill>
            <a:prstDash val="solid"/>
          </a:ln>
        </p:spPr>
      </p:sp>
      <p:sp>
        <p:nvSpPr>
          <p:cNvPr id="40" name="Text 33"/>
          <p:cNvSpPr txBox="1"/>
          <p:nvPr/>
        </p:nvSpPr>
        <p:spPr>
          <a:xfrm>
            <a:off x="4526280" y="4251960"/>
            <a:ext cx="1783080" cy="457200"/>
          </a:xfrm>
          <a:prstGeom prst="rect">
            <a:avLst/>
          </a:prstGeom>
          <a:noFill/>
          <a:ln/>
        </p:spPr>
        <p:txBody>
          <a:bodyPr wrap="square" lIns="0" tIns="0" rIns="0" bIns="0" rtlCol="0" anchor="ctr"/>
          <a:lstStyle/>
          <a:p>
            <a:pPr algn="ctr" indent="0" marL="0">
              <a:buNone/>
            </a:pPr>
            <a:r>
              <a:rPr lang="en-US" sz="1200" b="1" dirty="0">
                <a:solidFill>
                  <a:srgbClr val="1F3A6E"/>
                </a:solidFill>
              </a:rPr>
              <a:t>Location</a:t>
            </a:r>
            <a:endParaRPr lang="en-US" sz="1200" dirty="0"/>
          </a:p>
          <a:p>
            <a:pPr algn="ctr" indent="0" marL="0">
              <a:buNone/>
            </a:pPr>
            <a:r>
              <a:rPr lang="en-US" sz="1100" b="1" dirty="0">
                <a:solidFill>
                  <a:srgbClr val="0B7F8A"/>
                </a:solidFill>
              </a:rPr>
              <a:t>positive</a:t>
            </a:r>
            <a:endParaRPr lang="en-US" sz="1200" dirty="0"/>
          </a:p>
        </p:txBody>
      </p:sp>
      <p:sp>
        <p:nvSpPr>
          <p:cNvPr id="41" name="Card"/>
          <p:cNvSpPr/>
          <p:nvPr/>
        </p:nvSpPr>
        <p:spPr>
          <a:xfrm>
            <a:off x="7086600" y="3017520"/>
            <a:ext cx="4645152" cy="1828800"/>
          </a:xfrm>
          <a:prstGeom prst="roundRect">
            <a:avLst>
              <a:gd name="adj" fmla="val 6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42" name="Text 35"/>
          <p:cNvSpPr txBox="1"/>
          <p:nvPr/>
        </p:nvSpPr>
        <p:spPr>
          <a:xfrm>
            <a:off x="7287768" y="3127248"/>
            <a:ext cx="4297680" cy="274320"/>
          </a:xfrm>
          <a:prstGeom prst="rect">
            <a:avLst/>
          </a:prstGeom>
          <a:noFill/>
          <a:ln/>
        </p:spPr>
        <p:txBody>
          <a:bodyPr wrap="square" lIns="0" tIns="0" rIns="0" bIns="0" rtlCol="0" anchor="t"/>
          <a:lstStyle/>
          <a:p>
            <a:pPr indent="0" marL="0">
              <a:buNone/>
            </a:pPr>
            <a:r>
              <a:rPr lang="en-US" sz="1400" b="1" dirty="0">
                <a:solidFill>
                  <a:srgbClr val="1F3A6E"/>
                </a:solidFill>
              </a:rPr>
              <a:t>Polarity classification: ratings to sentiment</a:t>
            </a:r>
            <a:endParaRPr lang="en-US" sz="1400" dirty="0"/>
          </a:p>
        </p:txBody>
      </p:sp>
      <p:sp>
        <p:nvSpPr>
          <p:cNvPr id="43" name="Polarity band"/>
          <p:cNvSpPr/>
          <p:nvPr/>
        </p:nvSpPr>
        <p:spPr>
          <a:xfrm>
            <a:off x="7287768" y="3611880"/>
            <a:ext cx="1325880" cy="685800"/>
          </a:xfrm>
          <a:prstGeom prst="roundRect">
            <a:avLst>
              <a:gd name="adj" fmla="val 13333"/>
            </a:avLst>
          </a:prstGeom>
          <a:solidFill>
            <a:srgbClr val="E8604C"/>
          </a:solidFill>
          <a:ln w="12700">
            <a:solidFill>
              <a:srgbClr val="E8604C"/>
            </a:solidFill>
            <a:prstDash val="solid"/>
          </a:ln>
        </p:spPr>
      </p:sp>
      <p:sp>
        <p:nvSpPr>
          <p:cNvPr id="44" name="Text 37"/>
          <p:cNvSpPr txBox="1"/>
          <p:nvPr/>
        </p:nvSpPr>
        <p:spPr>
          <a:xfrm>
            <a:off x="7287768" y="3657600"/>
            <a:ext cx="1325880" cy="292608"/>
          </a:xfrm>
          <a:prstGeom prst="rect">
            <a:avLst/>
          </a:prstGeom>
          <a:noFill/>
          <a:ln/>
        </p:spPr>
        <p:txBody>
          <a:bodyPr wrap="square" lIns="0" tIns="0" rIns="0" bIns="0" rtlCol="0" anchor="t"/>
          <a:lstStyle/>
          <a:p>
            <a:pPr algn="ctr" indent="0" marL="0">
              <a:buNone/>
            </a:pPr>
            <a:r>
              <a:rPr lang="en-US" sz="1500" b="1" dirty="0">
                <a:solidFill>
                  <a:srgbClr val="FFFFFF"/>
                </a:solidFill>
              </a:rPr>
              <a:t>1–2 ★</a:t>
            </a:r>
            <a:endParaRPr lang="en-US" sz="1500" dirty="0"/>
          </a:p>
        </p:txBody>
      </p:sp>
      <p:sp>
        <p:nvSpPr>
          <p:cNvPr id="45" name="Text 38"/>
          <p:cNvSpPr txBox="1"/>
          <p:nvPr/>
        </p:nvSpPr>
        <p:spPr>
          <a:xfrm>
            <a:off x="7287768" y="3959352"/>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Negative</a:t>
            </a:r>
            <a:endParaRPr lang="en-US" sz="1300" dirty="0"/>
          </a:p>
        </p:txBody>
      </p:sp>
      <p:sp>
        <p:nvSpPr>
          <p:cNvPr id="46" name="Polarity band"/>
          <p:cNvSpPr/>
          <p:nvPr/>
        </p:nvSpPr>
        <p:spPr>
          <a:xfrm>
            <a:off x="8705088" y="3611880"/>
            <a:ext cx="914400" cy="685800"/>
          </a:xfrm>
          <a:prstGeom prst="roundRect">
            <a:avLst>
              <a:gd name="adj" fmla="val 13333"/>
            </a:avLst>
          </a:prstGeom>
          <a:solidFill>
            <a:srgbClr val="64748B"/>
          </a:solidFill>
          <a:ln w="12700">
            <a:solidFill>
              <a:srgbClr val="64748B"/>
            </a:solidFill>
            <a:prstDash val="solid"/>
          </a:ln>
        </p:spPr>
      </p:sp>
      <p:sp>
        <p:nvSpPr>
          <p:cNvPr id="47" name="Text 40"/>
          <p:cNvSpPr txBox="1"/>
          <p:nvPr/>
        </p:nvSpPr>
        <p:spPr>
          <a:xfrm>
            <a:off x="8705088" y="3657600"/>
            <a:ext cx="914400" cy="292608"/>
          </a:xfrm>
          <a:prstGeom prst="rect">
            <a:avLst/>
          </a:prstGeom>
          <a:noFill/>
          <a:ln/>
        </p:spPr>
        <p:txBody>
          <a:bodyPr wrap="square" lIns="0" tIns="0" rIns="0" bIns="0" rtlCol="0" anchor="t"/>
          <a:lstStyle/>
          <a:p>
            <a:pPr algn="ctr" indent="0" marL="0">
              <a:buNone/>
            </a:pPr>
            <a:r>
              <a:rPr lang="en-US" sz="1500" b="1" dirty="0">
                <a:solidFill>
                  <a:srgbClr val="FFFFFF"/>
                </a:solidFill>
              </a:rPr>
              <a:t>3 ★</a:t>
            </a:r>
            <a:endParaRPr lang="en-US" sz="1500" dirty="0"/>
          </a:p>
        </p:txBody>
      </p:sp>
      <p:sp>
        <p:nvSpPr>
          <p:cNvPr id="48" name="Text 41"/>
          <p:cNvSpPr txBox="1"/>
          <p:nvPr/>
        </p:nvSpPr>
        <p:spPr>
          <a:xfrm>
            <a:off x="8705088" y="3959352"/>
            <a:ext cx="914400" cy="274320"/>
          </a:xfrm>
          <a:prstGeom prst="rect">
            <a:avLst/>
          </a:prstGeom>
          <a:noFill/>
          <a:ln/>
        </p:spPr>
        <p:txBody>
          <a:bodyPr wrap="square" lIns="0" tIns="0" rIns="0" bIns="0" rtlCol="0" anchor="t"/>
          <a:lstStyle/>
          <a:p>
            <a:pPr algn="ctr" indent="0" marL="0">
              <a:buNone/>
            </a:pPr>
            <a:r>
              <a:rPr lang="en-US" sz="1300" b="1" dirty="0">
                <a:solidFill>
                  <a:srgbClr val="FFFFFF"/>
                </a:solidFill>
              </a:rPr>
              <a:t>Neutral</a:t>
            </a:r>
            <a:endParaRPr lang="en-US" sz="1300" dirty="0"/>
          </a:p>
        </p:txBody>
      </p:sp>
      <p:sp>
        <p:nvSpPr>
          <p:cNvPr id="49" name="Polarity band"/>
          <p:cNvSpPr/>
          <p:nvPr/>
        </p:nvSpPr>
        <p:spPr>
          <a:xfrm>
            <a:off x="9710928" y="3611880"/>
            <a:ext cx="1325880" cy="685800"/>
          </a:xfrm>
          <a:prstGeom prst="roundRect">
            <a:avLst>
              <a:gd name="adj" fmla="val 13333"/>
            </a:avLst>
          </a:prstGeom>
          <a:solidFill>
            <a:srgbClr val="0E9AA7"/>
          </a:solidFill>
          <a:ln w="12700">
            <a:solidFill>
              <a:srgbClr val="0E9AA7"/>
            </a:solidFill>
            <a:prstDash val="solid"/>
          </a:ln>
        </p:spPr>
      </p:sp>
      <p:sp>
        <p:nvSpPr>
          <p:cNvPr id="50" name="Text 43"/>
          <p:cNvSpPr txBox="1"/>
          <p:nvPr/>
        </p:nvSpPr>
        <p:spPr>
          <a:xfrm>
            <a:off x="9710928" y="3657600"/>
            <a:ext cx="1325880" cy="292608"/>
          </a:xfrm>
          <a:prstGeom prst="rect">
            <a:avLst/>
          </a:prstGeom>
          <a:noFill/>
          <a:ln/>
        </p:spPr>
        <p:txBody>
          <a:bodyPr wrap="square" lIns="0" tIns="0" rIns="0" bIns="0" rtlCol="0" anchor="t"/>
          <a:lstStyle/>
          <a:p>
            <a:pPr algn="ctr" indent="0" marL="0">
              <a:buNone/>
            </a:pPr>
            <a:r>
              <a:rPr lang="en-US" sz="1500" b="1" dirty="0">
                <a:solidFill>
                  <a:srgbClr val="FFFFFF"/>
                </a:solidFill>
              </a:rPr>
              <a:t>4–5 ★</a:t>
            </a:r>
            <a:endParaRPr lang="en-US" sz="1500" dirty="0"/>
          </a:p>
        </p:txBody>
      </p:sp>
      <p:sp>
        <p:nvSpPr>
          <p:cNvPr id="51" name="Text 44"/>
          <p:cNvSpPr txBox="1"/>
          <p:nvPr/>
        </p:nvSpPr>
        <p:spPr>
          <a:xfrm>
            <a:off x="9710928" y="3959352"/>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Positive</a:t>
            </a:r>
            <a:endParaRPr lang="en-US" sz="1300" dirty="0"/>
          </a:p>
        </p:txBody>
      </p:sp>
      <p:sp>
        <p:nvSpPr>
          <p:cNvPr id="52" name="Text 45"/>
          <p:cNvSpPr txBox="1"/>
          <p:nvPr/>
        </p:nvSpPr>
        <p:spPr>
          <a:xfrm>
            <a:off x="7287768" y="4434840"/>
            <a:ext cx="4297680" cy="274320"/>
          </a:xfrm>
          <a:prstGeom prst="rect">
            <a:avLst/>
          </a:prstGeom>
          <a:noFill/>
          <a:ln/>
        </p:spPr>
        <p:txBody>
          <a:bodyPr wrap="square" lIns="0" tIns="0" rIns="0" bIns="0" rtlCol="0" anchor="t"/>
          <a:lstStyle/>
          <a:p>
            <a:pPr indent="0" marL="0">
              <a:buNone/>
            </a:pPr>
            <a:r>
              <a:rPr lang="en-US" sz="1200" i="1" dirty="0">
                <a:solidFill>
                  <a:srgbClr val="5B6B84"/>
                </a:solidFill>
              </a:rPr>
              <a:t>Every aspect rating is mapped the same way.</a:t>
            </a:r>
            <a:endParaRPr lang="en-US" sz="1200" dirty="0"/>
          </a:p>
        </p:txBody>
      </p:sp>
      <p:sp>
        <p:nvSpPr>
          <p:cNvPr id="53" name="Card"/>
          <p:cNvSpPr/>
          <p:nvPr/>
        </p:nvSpPr>
        <p:spPr>
          <a:xfrm>
            <a:off x="457200" y="5074920"/>
            <a:ext cx="3630168" cy="1188720"/>
          </a:xfrm>
          <a:prstGeom prst="roundRect">
            <a:avLst>
              <a:gd name="adj" fmla="val 9231"/>
            </a:avLst>
          </a:prstGeom>
          <a:solidFill>
            <a:srgbClr val="F3F7FB"/>
          </a:solidFill>
          <a:ln w="12700">
            <a:solidFill>
              <a:srgbClr val="FFFFFF">
                <a:alpha val="0"/>
              </a:srgbClr>
            </a:solidFill>
            <a:prstDash val="solid"/>
          </a:ln>
        </p:spPr>
      </p:sp>
      <p:sp>
        <p:nvSpPr>
          <p:cNvPr id="54" name="Text 47"/>
          <p:cNvSpPr txBox="1"/>
          <p:nvPr/>
        </p:nvSpPr>
        <p:spPr>
          <a:xfrm>
            <a:off x="640080" y="5193792"/>
            <a:ext cx="3264408" cy="960120"/>
          </a:xfrm>
          <a:prstGeom prst="rect">
            <a:avLst/>
          </a:prstGeom>
          <a:noFill/>
          <a:ln/>
        </p:spPr>
        <p:txBody>
          <a:bodyPr wrap="square" lIns="0" tIns="0" rIns="0" bIns="0" rtlCol="0" anchor="ctr"/>
          <a:lstStyle/>
          <a:p>
            <a:pPr indent="0" marL="0">
              <a:buNone/>
            </a:pPr>
            <a:r>
              <a:rPr lang="en-US" sz="1400" b="1" dirty="0">
                <a:solidFill>
                  <a:srgbClr val="1F3A6E"/>
                </a:solidFill>
              </a:rPr>
              <a:t>Aspect identification </a:t>
            </a:r>
            <a:pPr indent="0" marL="0">
              <a:buNone/>
            </a:pPr>
            <a:r>
              <a:rPr lang="en-US" sz="1400" dirty="0">
                <a:solidFill>
                  <a:srgbClr val="1B2A41"/>
                </a:solidFill>
              </a:rPr>
              <a:t>determines which hotel feature is discussed.</a:t>
            </a:r>
            <a:endParaRPr lang="en-US" sz="1400" dirty="0"/>
          </a:p>
        </p:txBody>
      </p:sp>
      <p:sp>
        <p:nvSpPr>
          <p:cNvPr id="55" name="Card"/>
          <p:cNvSpPr/>
          <p:nvPr/>
        </p:nvSpPr>
        <p:spPr>
          <a:xfrm>
            <a:off x="4279392" y="5074920"/>
            <a:ext cx="3630168" cy="1188720"/>
          </a:xfrm>
          <a:prstGeom prst="roundRect">
            <a:avLst>
              <a:gd name="adj" fmla="val 9231"/>
            </a:avLst>
          </a:prstGeom>
          <a:solidFill>
            <a:srgbClr val="F3F7FB"/>
          </a:solidFill>
          <a:ln w="12700">
            <a:solidFill>
              <a:srgbClr val="FFFFFF">
                <a:alpha val="0"/>
              </a:srgbClr>
            </a:solidFill>
            <a:prstDash val="solid"/>
          </a:ln>
        </p:spPr>
      </p:sp>
      <p:sp>
        <p:nvSpPr>
          <p:cNvPr id="56" name="Text 49"/>
          <p:cNvSpPr txBox="1"/>
          <p:nvPr/>
        </p:nvSpPr>
        <p:spPr>
          <a:xfrm>
            <a:off x="4462272" y="5193792"/>
            <a:ext cx="3264408" cy="960120"/>
          </a:xfrm>
          <a:prstGeom prst="rect">
            <a:avLst/>
          </a:prstGeom>
          <a:noFill/>
          <a:ln/>
        </p:spPr>
        <p:txBody>
          <a:bodyPr wrap="square" lIns="0" tIns="0" rIns="0" bIns="0" rtlCol="0" anchor="ctr"/>
          <a:lstStyle/>
          <a:p>
            <a:pPr indent="0" marL="0">
              <a:buNone/>
            </a:pPr>
            <a:r>
              <a:rPr lang="en-US" sz="1400" b="1" dirty="0">
                <a:solidFill>
                  <a:srgbClr val="1F3A6E"/>
                </a:solidFill>
              </a:rPr>
              <a:t>Star-rating prediction </a:t>
            </a:r>
            <a:pPr indent="0" marL="0">
              <a:buNone/>
            </a:pPr>
            <a:r>
              <a:rPr lang="en-US" sz="1400" dirty="0">
                <a:solidFill>
                  <a:srgbClr val="1B2A41"/>
                </a:solidFill>
              </a:rPr>
              <a:t>estimates the rating for that aspect.</a:t>
            </a:r>
            <a:endParaRPr lang="en-US" sz="1400" dirty="0"/>
          </a:p>
        </p:txBody>
      </p:sp>
      <p:sp>
        <p:nvSpPr>
          <p:cNvPr id="57" name="Card"/>
          <p:cNvSpPr/>
          <p:nvPr/>
        </p:nvSpPr>
        <p:spPr>
          <a:xfrm>
            <a:off x="8101584" y="5074920"/>
            <a:ext cx="3630168" cy="1188720"/>
          </a:xfrm>
          <a:prstGeom prst="roundRect">
            <a:avLst>
              <a:gd name="adj" fmla="val 9231"/>
            </a:avLst>
          </a:prstGeom>
          <a:solidFill>
            <a:srgbClr val="F3F7FB"/>
          </a:solidFill>
          <a:ln w="12700">
            <a:solidFill>
              <a:srgbClr val="FFFFFF">
                <a:alpha val="0"/>
              </a:srgbClr>
            </a:solidFill>
            <a:prstDash val="solid"/>
          </a:ln>
        </p:spPr>
      </p:sp>
      <p:sp>
        <p:nvSpPr>
          <p:cNvPr id="58" name="Text 51"/>
          <p:cNvSpPr txBox="1"/>
          <p:nvPr/>
        </p:nvSpPr>
        <p:spPr>
          <a:xfrm>
            <a:off x="8284464" y="5193792"/>
            <a:ext cx="3264408" cy="960120"/>
          </a:xfrm>
          <a:prstGeom prst="rect">
            <a:avLst/>
          </a:prstGeom>
          <a:noFill/>
          <a:ln/>
        </p:spPr>
        <p:txBody>
          <a:bodyPr wrap="square" lIns="0" tIns="0" rIns="0" bIns="0" rtlCol="0" anchor="ctr"/>
          <a:lstStyle/>
          <a:p>
            <a:pPr indent="0" marL="0">
              <a:buNone/>
            </a:pPr>
            <a:r>
              <a:rPr lang="en-US" sz="1400" b="1" dirty="0">
                <a:solidFill>
                  <a:srgbClr val="1F3A6E"/>
                </a:solidFill>
              </a:rPr>
              <a:t>Polarity classification </a:t>
            </a:r>
            <a:pPr indent="0" marL="0">
              <a:buNone/>
            </a:pPr>
            <a:r>
              <a:rPr lang="en-US" sz="1400" dirty="0">
                <a:solidFill>
                  <a:srgbClr val="1B2A41"/>
                </a:solidFill>
              </a:rPr>
              <a:t>maps 1–2 to negative, 3 to neutral, 4–5 to positive.</a:t>
            </a:r>
            <a:endParaRPr lang="en-US" sz="14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Project objectives</a:t>
            </a:r>
            <a:endParaRPr lang="en-US" sz="3000" dirty="0"/>
          </a:p>
        </p:txBody>
      </p:sp>
      <p:sp>
        <p:nvSpPr>
          <p:cNvPr id="4" name="Card"/>
          <p:cNvSpPr/>
          <p:nvPr/>
        </p:nvSpPr>
        <p:spPr>
          <a:xfrm>
            <a:off x="457200" y="1371600"/>
            <a:ext cx="26974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Icon circle"/>
          <p:cNvSpPr/>
          <p:nvPr/>
        </p:nvSpPr>
        <p:spPr>
          <a:xfrm>
            <a:off x="685800" y="1600200"/>
            <a:ext cx="640080" cy="640080"/>
          </a:xfrm>
          <a:prstGeom prst="ellipse">
            <a:avLst/>
          </a:prstGeom>
          <a:solidFill>
            <a:srgbClr val="1F3A6E"/>
          </a:solidFill>
          <a:ln w="12700">
            <a:solidFill>
              <a:srgbClr val="1F3A6E"/>
            </a:solidFill>
            <a:prstDash val="solid"/>
          </a:ln>
        </p:spPr>
      </p:sp>
      <p:pic>
        <p:nvPicPr>
          <p:cNvPr id="6" name="Image 0" descr="FaStar">    </p:cNvPr>
          <p:cNvPicPr>
            <a:picLocks noChangeAspect="1"/>
          </p:cNvPicPr>
          <p:nvPr/>
        </p:nvPicPr>
        <p:blipFill>
          <a:blip r:embed="rId1"/>
          <a:stretch>
            <a:fillRect/>
          </a:stretch>
        </p:blipFill>
        <p:spPr>
          <a:xfrm>
            <a:off x="845820" y="1760220"/>
            <a:ext cx="320040" cy="320040"/>
          </a:xfrm>
          <a:prstGeom prst="rect">
            <a:avLst/>
          </a:prstGeom>
        </p:spPr>
      </p:pic>
      <p:sp>
        <p:nvSpPr>
          <p:cNvPr id="7" name="Text 3"/>
          <p:cNvSpPr txBox="1"/>
          <p:nvPr/>
        </p:nvSpPr>
        <p:spPr>
          <a:xfrm>
            <a:off x="2286000" y="16002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01</a:t>
            </a:r>
            <a:endParaRPr lang="en-US" sz="2600" dirty="0"/>
          </a:p>
        </p:txBody>
      </p:sp>
      <p:sp>
        <p:nvSpPr>
          <p:cNvPr id="8" name="Text 4"/>
          <p:cNvSpPr txBox="1"/>
          <p:nvPr/>
        </p:nvSpPr>
        <p:spPr>
          <a:xfrm>
            <a:off x="685800" y="2377440"/>
            <a:ext cx="2240280" cy="320040"/>
          </a:xfrm>
          <a:prstGeom prst="rect">
            <a:avLst/>
          </a:prstGeom>
          <a:noFill/>
          <a:ln/>
        </p:spPr>
        <p:txBody>
          <a:bodyPr wrap="square" lIns="0" tIns="0" rIns="0" bIns="0" rtlCol="0" anchor="t"/>
          <a:lstStyle/>
          <a:p>
            <a:pPr indent="0" marL="0">
              <a:buNone/>
            </a:pPr>
            <a:r>
              <a:rPr lang="en-US" sz="1700" b="1" dirty="0">
                <a:solidFill>
                  <a:srgbClr val="1F3A6E"/>
                </a:solidFill>
              </a:rPr>
              <a:t>Predict overall ratings</a:t>
            </a:r>
            <a:endParaRPr lang="en-US" sz="1700" dirty="0"/>
          </a:p>
        </p:txBody>
      </p:sp>
      <p:sp>
        <p:nvSpPr>
          <p:cNvPr id="9" name="Text 5"/>
          <p:cNvSpPr txBox="1"/>
          <p:nvPr/>
        </p:nvSpPr>
        <p:spPr>
          <a:xfrm>
            <a:off x="685800" y="2743200"/>
            <a:ext cx="2240280" cy="822960"/>
          </a:xfrm>
          <a:prstGeom prst="rect">
            <a:avLst/>
          </a:prstGeom>
          <a:noFill/>
          <a:ln/>
        </p:spPr>
        <p:txBody>
          <a:bodyPr wrap="square" lIns="0" tIns="0" rIns="0" bIns="0" rtlCol="0" anchor="t"/>
          <a:lstStyle/>
          <a:p>
            <a:pPr indent="0" marL="0">
              <a:buNone/>
            </a:pPr>
            <a:r>
              <a:rPr lang="en-US" sz="1400" dirty="0">
                <a:solidFill>
                  <a:srgbClr val="1B2A41"/>
                </a:solidFill>
              </a:rPr>
              <a:t>Estimate the 1–5 star rating of a whole review.</a:t>
            </a:r>
            <a:endParaRPr lang="en-US" sz="1400" dirty="0"/>
          </a:p>
        </p:txBody>
      </p:sp>
      <p:sp>
        <p:nvSpPr>
          <p:cNvPr id="10" name="Card"/>
          <p:cNvSpPr/>
          <p:nvPr/>
        </p:nvSpPr>
        <p:spPr>
          <a:xfrm>
            <a:off x="3316529" y="1371600"/>
            <a:ext cx="26974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1" name="Icon circle"/>
          <p:cNvSpPr/>
          <p:nvPr/>
        </p:nvSpPr>
        <p:spPr>
          <a:xfrm>
            <a:off x="3545129" y="1600200"/>
            <a:ext cx="640080" cy="640080"/>
          </a:xfrm>
          <a:prstGeom prst="ellipse">
            <a:avLst/>
          </a:prstGeom>
          <a:solidFill>
            <a:srgbClr val="0E9AA7"/>
          </a:solidFill>
          <a:ln w="12700">
            <a:solidFill>
              <a:srgbClr val="0E9AA7"/>
            </a:solidFill>
            <a:prstDash val="solid"/>
          </a:ln>
        </p:spPr>
      </p:sp>
      <p:pic>
        <p:nvPicPr>
          <p:cNvPr id="12" name="Image 1" descr="FaLayerGroup">    </p:cNvPr>
          <p:cNvPicPr>
            <a:picLocks noChangeAspect="1"/>
          </p:cNvPicPr>
          <p:nvPr/>
        </p:nvPicPr>
        <p:blipFill>
          <a:blip r:embed="rId2"/>
          <a:stretch>
            <a:fillRect/>
          </a:stretch>
        </p:blipFill>
        <p:spPr>
          <a:xfrm>
            <a:off x="3705149" y="1760220"/>
            <a:ext cx="320040" cy="320040"/>
          </a:xfrm>
          <a:prstGeom prst="rect">
            <a:avLst/>
          </a:prstGeom>
        </p:spPr>
      </p:pic>
      <p:sp>
        <p:nvSpPr>
          <p:cNvPr id="13" name="Text 8"/>
          <p:cNvSpPr txBox="1"/>
          <p:nvPr/>
        </p:nvSpPr>
        <p:spPr>
          <a:xfrm>
            <a:off x="5145329" y="16002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02</a:t>
            </a:r>
            <a:endParaRPr lang="en-US" sz="2600" dirty="0"/>
          </a:p>
        </p:txBody>
      </p:sp>
      <p:sp>
        <p:nvSpPr>
          <p:cNvPr id="14" name="Text 9"/>
          <p:cNvSpPr txBox="1"/>
          <p:nvPr/>
        </p:nvSpPr>
        <p:spPr>
          <a:xfrm>
            <a:off x="3545129" y="2377440"/>
            <a:ext cx="2240280" cy="320040"/>
          </a:xfrm>
          <a:prstGeom prst="rect">
            <a:avLst/>
          </a:prstGeom>
          <a:noFill/>
          <a:ln/>
        </p:spPr>
        <p:txBody>
          <a:bodyPr wrap="square" lIns="0" tIns="0" rIns="0" bIns="0" rtlCol="0" anchor="t"/>
          <a:lstStyle/>
          <a:p>
            <a:pPr indent="0" marL="0">
              <a:buNone/>
            </a:pPr>
            <a:r>
              <a:rPr lang="en-US" sz="1700" b="1" dirty="0">
                <a:solidFill>
                  <a:srgbClr val="1F3A6E"/>
                </a:solidFill>
              </a:rPr>
              <a:t>Predict aspect ratings</a:t>
            </a:r>
            <a:endParaRPr lang="en-US" sz="1700" dirty="0"/>
          </a:p>
        </p:txBody>
      </p:sp>
      <p:sp>
        <p:nvSpPr>
          <p:cNvPr id="15" name="Text 10"/>
          <p:cNvSpPr txBox="1"/>
          <p:nvPr/>
        </p:nvSpPr>
        <p:spPr>
          <a:xfrm>
            <a:off x="3545129" y="2743200"/>
            <a:ext cx="2240280" cy="822960"/>
          </a:xfrm>
          <a:prstGeom prst="rect">
            <a:avLst/>
          </a:prstGeom>
          <a:noFill/>
          <a:ln/>
        </p:spPr>
        <p:txBody>
          <a:bodyPr wrap="square" lIns="0" tIns="0" rIns="0" bIns="0" rtlCol="0" anchor="t"/>
          <a:lstStyle/>
          <a:p>
            <a:pPr indent="0" marL="0">
              <a:buNone/>
            </a:pPr>
            <a:r>
              <a:rPr lang="en-US" sz="1400" dirty="0">
                <a:solidFill>
                  <a:srgbClr val="1B2A41"/>
                </a:solidFill>
              </a:rPr>
              <a:t>Rate service, rooms, location, value, cleanliness and business service.</a:t>
            </a:r>
            <a:endParaRPr lang="en-US" sz="1400" dirty="0"/>
          </a:p>
        </p:txBody>
      </p:sp>
      <p:sp>
        <p:nvSpPr>
          <p:cNvPr id="16" name="Card"/>
          <p:cNvSpPr/>
          <p:nvPr/>
        </p:nvSpPr>
        <p:spPr>
          <a:xfrm>
            <a:off x="6175858" y="1371600"/>
            <a:ext cx="26974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7" name="Icon circle"/>
          <p:cNvSpPr/>
          <p:nvPr/>
        </p:nvSpPr>
        <p:spPr>
          <a:xfrm>
            <a:off x="6404458" y="1600200"/>
            <a:ext cx="640080" cy="640080"/>
          </a:xfrm>
          <a:prstGeom prst="ellipse">
            <a:avLst/>
          </a:prstGeom>
          <a:solidFill>
            <a:srgbClr val="2EC4B6"/>
          </a:solidFill>
          <a:ln w="12700">
            <a:solidFill>
              <a:srgbClr val="2EC4B6"/>
            </a:solidFill>
            <a:prstDash val="solid"/>
          </a:ln>
        </p:spPr>
      </p:sp>
      <p:pic>
        <p:nvPicPr>
          <p:cNvPr id="18" name="Image 2" descr="FaSmileBeam">    </p:cNvPr>
          <p:cNvPicPr>
            <a:picLocks noChangeAspect="1"/>
          </p:cNvPicPr>
          <p:nvPr/>
        </p:nvPicPr>
        <p:blipFill>
          <a:blip r:embed="rId3"/>
          <a:stretch>
            <a:fillRect/>
          </a:stretch>
        </p:blipFill>
        <p:spPr>
          <a:xfrm>
            <a:off x="6564478" y="1760220"/>
            <a:ext cx="320040" cy="320040"/>
          </a:xfrm>
          <a:prstGeom prst="rect">
            <a:avLst/>
          </a:prstGeom>
        </p:spPr>
      </p:pic>
      <p:sp>
        <p:nvSpPr>
          <p:cNvPr id="19" name="Text 13"/>
          <p:cNvSpPr txBox="1"/>
          <p:nvPr/>
        </p:nvSpPr>
        <p:spPr>
          <a:xfrm>
            <a:off x="8004658" y="16002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03</a:t>
            </a:r>
            <a:endParaRPr lang="en-US" sz="2600" dirty="0"/>
          </a:p>
        </p:txBody>
      </p:sp>
      <p:sp>
        <p:nvSpPr>
          <p:cNvPr id="20" name="Text 14"/>
          <p:cNvSpPr txBox="1"/>
          <p:nvPr/>
        </p:nvSpPr>
        <p:spPr>
          <a:xfrm>
            <a:off x="6404458" y="2377440"/>
            <a:ext cx="2240280" cy="320040"/>
          </a:xfrm>
          <a:prstGeom prst="rect">
            <a:avLst/>
          </a:prstGeom>
          <a:noFill/>
          <a:ln/>
        </p:spPr>
        <p:txBody>
          <a:bodyPr wrap="square" lIns="0" tIns="0" rIns="0" bIns="0" rtlCol="0" anchor="t"/>
          <a:lstStyle/>
          <a:p>
            <a:pPr indent="0" marL="0">
              <a:buNone/>
            </a:pPr>
            <a:r>
              <a:rPr lang="en-US" sz="1700" b="1" dirty="0">
                <a:solidFill>
                  <a:srgbClr val="1F3A6E"/>
                </a:solidFill>
              </a:rPr>
              <a:t>Classify sentiment</a:t>
            </a:r>
            <a:endParaRPr lang="en-US" sz="1700" dirty="0"/>
          </a:p>
        </p:txBody>
      </p:sp>
      <p:sp>
        <p:nvSpPr>
          <p:cNvPr id="21" name="Text 15"/>
          <p:cNvSpPr txBox="1"/>
          <p:nvPr/>
        </p:nvSpPr>
        <p:spPr>
          <a:xfrm>
            <a:off x="6404458" y="2743200"/>
            <a:ext cx="2240280" cy="822960"/>
          </a:xfrm>
          <a:prstGeom prst="rect">
            <a:avLst/>
          </a:prstGeom>
          <a:noFill/>
          <a:ln/>
        </p:spPr>
        <p:txBody>
          <a:bodyPr wrap="square" lIns="0" tIns="0" rIns="0" bIns="0" rtlCol="0" anchor="t"/>
          <a:lstStyle/>
          <a:p>
            <a:pPr indent="0" marL="0">
              <a:buNone/>
            </a:pPr>
            <a:r>
              <a:rPr lang="en-US" sz="1400" dirty="0">
                <a:solidFill>
                  <a:srgbClr val="1B2A41"/>
                </a:solidFill>
              </a:rPr>
              <a:t>Map ratings to negative, neutral or positive.</a:t>
            </a:r>
            <a:endParaRPr lang="en-US" sz="1400" dirty="0"/>
          </a:p>
        </p:txBody>
      </p:sp>
      <p:sp>
        <p:nvSpPr>
          <p:cNvPr id="22" name="Card"/>
          <p:cNvSpPr/>
          <p:nvPr/>
        </p:nvSpPr>
        <p:spPr>
          <a:xfrm>
            <a:off x="9035186" y="1371600"/>
            <a:ext cx="26974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3" name="Icon circle"/>
          <p:cNvSpPr/>
          <p:nvPr/>
        </p:nvSpPr>
        <p:spPr>
          <a:xfrm>
            <a:off x="9263786" y="1600200"/>
            <a:ext cx="640080" cy="640080"/>
          </a:xfrm>
          <a:prstGeom prst="ellipse">
            <a:avLst/>
          </a:prstGeom>
          <a:solidFill>
            <a:srgbClr val="E8604C"/>
          </a:solidFill>
          <a:ln w="12700">
            <a:solidFill>
              <a:srgbClr val="E8604C"/>
            </a:solidFill>
            <a:prstDash val="solid"/>
          </a:ln>
        </p:spPr>
      </p:sp>
      <p:pic>
        <p:nvPicPr>
          <p:cNvPr id="24" name="Image 3" descr="FaBalanceScale">    </p:cNvPr>
          <p:cNvPicPr>
            <a:picLocks noChangeAspect="1"/>
          </p:cNvPicPr>
          <p:nvPr/>
        </p:nvPicPr>
        <p:blipFill>
          <a:blip r:embed="rId4"/>
          <a:stretch>
            <a:fillRect/>
          </a:stretch>
        </p:blipFill>
        <p:spPr>
          <a:xfrm>
            <a:off x="9423806" y="1760220"/>
            <a:ext cx="320040" cy="320040"/>
          </a:xfrm>
          <a:prstGeom prst="rect">
            <a:avLst/>
          </a:prstGeom>
        </p:spPr>
      </p:pic>
      <p:sp>
        <p:nvSpPr>
          <p:cNvPr id="25" name="Text 18"/>
          <p:cNvSpPr txBox="1"/>
          <p:nvPr/>
        </p:nvSpPr>
        <p:spPr>
          <a:xfrm>
            <a:off x="10863986" y="16002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04</a:t>
            </a:r>
            <a:endParaRPr lang="en-US" sz="2600" dirty="0"/>
          </a:p>
        </p:txBody>
      </p:sp>
      <p:sp>
        <p:nvSpPr>
          <p:cNvPr id="26" name="Text 19"/>
          <p:cNvSpPr txBox="1"/>
          <p:nvPr/>
        </p:nvSpPr>
        <p:spPr>
          <a:xfrm>
            <a:off x="9263786" y="2377440"/>
            <a:ext cx="2240280" cy="320040"/>
          </a:xfrm>
          <a:prstGeom prst="rect">
            <a:avLst/>
          </a:prstGeom>
          <a:noFill/>
          <a:ln/>
        </p:spPr>
        <p:txBody>
          <a:bodyPr wrap="square" lIns="0" tIns="0" rIns="0" bIns="0" rtlCol="0" anchor="t"/>
          <a:lstStyle/>
          <a:p>
            <a:pPr indent="0" marL="0">
              <a:buNone/>
            </a:pPr>
            <a:r>
              <a:rPr lang="en-US" sz="1700" b="1" dirty="0">
                <a:solidFill>
                  <a:srgbClr val="1F3A6E"/>
                </a:solidFill>
              </a:rPr>
              <a:t>Compare classical ML</a:t>
            </a:r>
            <a:endParaRPr lang="en-US" sz="1700" dirty="0"/>
          </a:p>
        </p:txBody>
      </p:sp>
      <p:sp>
        <p:nvSpPr>
          <p:cNvPr id="27" name="Text 20"/>
          <p:cNvSpPr txBox="1"/>
          <p:nvPr/>
        </p:nvSpPr>
        <p:spPr>
          <a:xfrm>
            <a:off x="9263786" y="2743200"/>
            <a:ext cx="2240280" cy="822960"/>
          </a:xfrm>
          <a:prstGeom prst="rect">
            <a:avLst/>
          </a:prstGeom>
          <a:noFill/>
          <a:ln/>
        </p:spPr>
        <p:txBody>
          <a:bodyPr wrap="square" lIns="0" tIns="0" rIns="0" bIns="0" rtlCol="0" anchor="t"/>
          <a:lstStyle/>
          <a:p>
            <a:pPr indent="0" marL="0">
              <a:buNone/>
            </a:pPr>
            <a:r>
              <a:rPr lang="en-US" sz="1400" dirty="0">
                <a:solidFill>
                  <a:srgbClr val="1B2A41"/>
                </a:solidFill>
              </a:rPr>
              <a:t>Naive Bayes, Linear SVM and Logistic Regression.</a:t>
            </a:r>
            <a:endParaRPr lang="en-US" sz="1400" dirty="0"/>
          </a:p>
        </p:txBody>
      </p:sp>
      <p:sp>
        <p:nvSpPr>
          <p:cNvPr id="28" name="Card"/>
          <p:cNvSpPr/>
          <p:nvPr/>
        </p:nvSpPr>
        <p:spPr>
          <a:xfrm>
            <a:off x="457200" y="3886200"/>
            <a:ext cx="36118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9" name="Icon circle"/>
          <p:cNvSpPr/>
          <p:nvPr/>
        </p:nvSpPr>
        <p:spPr>
          <a:xfrm>
            <a:off x="685800" y="4114800"/>
            <a:ext cx="640080" cy="640080"/>
          </a:xfrm>
          <a:prstGeom prst="ellipse">
            <a:avLst/>
          </a:prstGeom>
          <a:solidFill>
            <a:srgbClr val="1F3A6E"/>
          </a:solidFill>
          <a:ln w="12700">
            <a:solidFill>
              <a:srgbClr val="1F3A6E"/>
            </a:solidFill>
            <a:prstDash val="solid"/>
          </a:ln>
        </p:spPr>
      </p:sp>
      <p:pic>
        <p:nvPicPr>
          <p:cNvPr id="30" name="Image 4" descr="FaColumns">    </p:cNvPr>
          <p:cNvPicPr>
            <a:picLocks noChangeAspect="1"/>
          </p:cNvPicPr>
          <p:nvPr/>
        </p:nvPicPr>
        <p:blipFill>
          <a:blip r:embed="rId5"/>
          <a:stretch>
            <a:fillRect/>
          </a:stretch>
        </p:blipFill>
        <p:spPr>
          <a:xfrm>
            <a:off x="845820" y="4274820"/>
            <a:ext cx="320040" cy="320040"/>
          </a:xfrm>
          <a:prstGeom prst="rect">
            <a:avLst/>
          </a:prstGeom>
        </p:spPr>
      </p:pic>
      <p:sp>
        <p:nvSpPr>
          <p:cNvPr id="31" name="Text 23"/>
          <p:cNvSpPr txBox="1"/>
          <p:nvPr/>
        </p:nvSpPr>
        <p:spPr>
          <a:xfrm>
            <a:off x="3200400" y="41148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05</a:t>
            </a:r>
            <a:endParaRPr lang="en-US" sz="2600" dirty="0"/>
          </a:p>
        </p:txBody>
      </p:sp>
      <p:sp>
        <p:nvSpPr>
          <p:cNvPr id="32" name="Text 24"/>
          <p:cNvSpPr txBox="1"/>
          <p:nvPr/>
        </p:nvSpPr>
        <p:spPr>
          <a:xfrm>
            <a:off x="685800" y="4892040"/>
            <a:ext cx="3154680" cy="320040"/>
          </a:xfrm>
          <a:prstGeom prst="rect">
            <a:avLst/>
          </a:prstGeom>
          <a:noFill/>
          <a:ln/>
        </p:spPr>
        <p:txBody>
          <a:bodyPr wrap="square" lIns="0" tIns="0" rIns="0" bIns="0" rtlCol="0" anchor="t"/>
          <a:lstStyle/>
          <a:p>
            <a:pPr indent="0" marL="0">
              <a:buNone/>
            </a:pPr>
            <a:r>
              <a:rPr lang="en-US" sz="1700" b="1" dirty="0">
                <a:solidFill>
                  <a:srgbClr val="1F3A6E"/>
                </a:solidFill>
              </a:rPr>
              <a:t>Compare text processing</a:t>
            </a:r>
            <a:endParaRPr lang="en-US" sz="1700" dirty="0"/>
          </a:p>
        </p:txBody>
      </p:sp>
      <p:sp>
        <p:nvSpPr>
          <p:cNvPr id="33" name="Text 25"/>
          <p:cNvSpPr txBox="1"/>
          <p:nvPr/>
        </p:nvSpPr>
        <p:spPr>
          <a:xfrm>
            <a:off x="685800" y="5257800"/>
            <a:ext cx="3154680" cy="822960"/>
          </a:xfrm>
          <a:prstGeom prst="rect">
            <a:avLst/>
          </a:prstGeom>
          <a:noFill/>
          <a:ln/>
        </p:spPr>
        <p:txBody>
          <a:bodyPr wrap="square" lIns="0" tIns="0" rIns="0" bIns="0" rtlCol="0" anchor="t"/>
          <a:lstStyle/>
          <a:p>
            <a:pPr indent="0" marL="0">
              <a:buNone/>
            </a:pPr>
            <a:r>
              <a:rPr lang="en-US" sz="1400" dirty="0">
                <a:solidFill>
                  <a:srgbClr val="1B2A41"/>
                </a:solidFill>
              </a:rPr>
              <a:t>Full review versus aspect-specific clauses.</a:t>
            </a:r>
            <a:endParaRPr lang="en-US" sz="1400" dirty="0"/>
          </a:p>
        </p:txBody>
      </p:sp>
      <p:sp>
        <p:nvSpPr>
          <p:cNvPr id="34" name="Card"/>
          <p:cNvSpPr/>
          <p:nvPr/>
        </p:nvSpPr>
        <p:spPr>
          <a:xfrm>
            <a:off x="4288536" y="3886200"/>
            <a:ext cx="36118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5" name="Icon circle"/>
          <p:cNvSpPr/>
          <p:nvPr/>
        </p:nvSpPr>
        <p:spPr>
          <a:xfrm>
            <a:off x="4517136" y="4114800"/>
            <a:ext cx="640080" cy="640080"/>
          </a:xfrm>
          <a:prstGeom prst="ellipse">
            <a:avLst/>
          </a:prstGeom>
          <a:solidFill>
            <a:srgbClr val="0E9AA7"/>
          </a:solidFill>
          <a:ln w="12700">
            <a:solidFill>
              <a:srgbClr val="0E9AA7"/>
            </a:solidFill>
            <a:prstDash val="solid"/>
          </a:ln>
        </p:spPr>
      </p:sp>
      <p:pic>
        <p:nvPicPr>
          <p:cNvPr id="36" name="Image 5" descr="FaQuoteLeft">    </p:cNvPr>
          <p:cNvPicPr>
            <a:picLocks noChangeAspect="1"/>
          </p:cNvPicPr>
          <p:nvPr/>
        </p:nvPicPr>
        <p:blipFill>
          <a:blip r:embed="rId6"/>
          <a:stretch>
            <a:fillRect/>
          </a:stretch>
        </p:blipFill>
        <p:spPr>
          <a:xfrm>
            <a:off x="4677156" y="4274820"/>
            <a:ext cx="320040" cy="320040"/>
          </a:xfrm>
          <a:prstGeom prst="rect">
            <a:avLst/>
          </a:prstGeom>
        </p:spPr>
      </p:pic>
      <p:sp>
        <p:nvSpPr>
          <p:cNvPr id="37" name="Text 28"/>
          <p:cNvSpPr txBox="1"/>
          <p:nvPr/>
        </p:nvSpPr>
        <p:spPr>
          <a:xfrm>
            <a:off x="7031736" y="41148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06</a:t>
            </a:r>
            <a:endParaRPr lang="en-US" sz="2600" dirty="0"/>
          </a:p>
        </p:txBody>
      </p:sp>
      <p:sp>
        <p:nvSpPr>
          <p:cNvPr id="38" name="Text 29"/>
          <p:cNvSpPr txBox="1"/>
          <p:nvPr/>
        </p:nvSpPr>
        <p:spPr>
          <a:xfrm>
            <a:off x="4517136" y="4892040"/>
            <a:ext cx="3154680" cy="320040"/>
          </a:xfrm>
          <a:prstGeom prst="rect">
            <a:avLst/>
          </a:prstGeom>
          <a:noFill/>
          <a:ln/>
        </p:spPr>
        <p:txBody>
          <a:bodyPr wrap="square" lIns="0" tIns="0" rIns="0" bIns="0" rtlCol="0" anchor="t"/>
          <a:lstStyle/>
          <a:p>
            <a:pPr indent="0" marL="0">
              <a:buNone/>
            </a:pPr>
            <a:r>
              <a:rPr lang="en-US" sz="1700" b="1" dirty="0">
                <a:solidFill>
                  <a:srgbClr val="1F3A6E"/>
                </a:solidFill>
              </a:rPr>
              <a:t>Show textual evidence</a:t>
            </a:r>
            <a:endParaRPr lang="en-US" sz="1700" dirty="0"/>
          </a:p>
        </p:txBody>
      </p:sp>
      <p:sp>
        <p:nvSpPr>
          <p:cNvPr id="39" name="Text 30"/>
          <p:cNvSpPr txBox="1"/>
          <p:nvPr/>
        </p:nvSpPr>
        <p:spPr>
          <a:xfrm>
            <a:off x="4517136" y="5257800"/>
            <a:ext cx="3154680" cy="822960"/>
          </a:xfrm>
          <a:prstGeom prst="rect">
            <a:avLst/>
          </a:prstGeom>
          <a:noFill/>
          <a:ln/>
        </p:spPr>
        <p:txBody>
          <a:bodyPr wrap="square" lIns="0" tIns="0" rIns="0" bIns="0" rtlCol="0" anchor="t"/>
          <a:lstStyle/>
          <a:p>
            <a:pPr indent="0" marL="0">
              <a:buNone/>
            </a:pPr>
            <a:r>
              <a:rPr lang="en-US" sz="1400" dirty="0">
                <a:solidFill>
                  <a:srgbClr val="1B2A41"/>
                </a:solidFill>
              </a:rPr>
              <a:t>Display the text the model actually used for each aspect.</a:t>
            </a:r>
            <a:endParaRPr lang="en-US" sz="1400" dirty="0"/>
          </a:p>
        </p:txBody>
      </p:sp>
      <p:sp>
        <p:nvSpPr>
          <p:cNvPr id="40" name="Card"/>
          <p:cNvSpPr/>
          <p:nvPr/>
        </p:nvSpPr>
        <p:spPr>
          <a:xfrm>
            <a:off x="8119872" y="3886200"/>
            <a:ext cx="3611880" cy="2286000"/>
          </a:xfrm>
          <a:prstGeom prst="roundRect">
            <a:avLst>
              <a:gd name="adj" fmla="val 48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41" name="Icon circle"/>
          <p:cNvSpPr/>
          <p:nvPr/>
        </p:nvSpPr>
        <p:spPr>
          <a:xfrm>
            <a:off x="8348472" y="4114800"/>
            <a:ext cx="640080" cy="640080"/>
          </a:xfrm>
          <a:prstGeom prst="ellipse">
            <a:avLst/>
          </a:prstGeom>
          <a:solidFill>
            <a:srgbClr val="E8604C"/>
          </a:solidFill>
          <a:ln w="12700">
            <a:solidFill>
              <a:srgbClr val="E8604C"/>
            </a:solidFill>
            <a:prstDash val="solid"/>
          </a:ln>
        </p:spPr>
      </p:sp>
      <p:pic>
        <p:nvPicPr>
          <p:cNvPr id="42" name="Image 6" descr="FaQuestionCircle">    </p:cNvPr>
          <p:cNvPicPr>
            <a:picLocks noChangeAspect="1"/>
          </p:cNvPicPr>
          <p:nvPr/>
        </p:nvPicPr>
        <p:blipFill>
          <a:blip r:embed="rId7"/>
          <a:stretch>
            <a:fillRect/>
          </a:stretch>
        </p:blipFill>
        <p:spPr>
          <a:xfrm>
            <a:off x="8508492" y="4274820"/>
            <a:ext cx="320040" cy="320040"/>
          </a:xfrm>
          <a:prstGeom prst="rect">
            <a:avLst/>
          </a:prstGeom>
        </p:spPr>
      </p:pic>
      <p:sp>
        <p:nvSpPr>
          <p:cNvPr id="43" name="Text 33"/>
          <p:cNvSpPr txBox="1"/>
          <p:nvPr/>
        </p:nvSpPr>
        <p:spPr>
          <a:xfrm>
            <a:off x="10863072" y="4114800"/>
            <a:ext cx="640080" cy="457200"/>
          </a:xfrm>
          <a:prstGeom prst="rect">
            <a:avLst/>
          </a:prstGeom>
          <a:noFill/>
          <a:ln/>
        </p:spPr>
        <p:txBody>
          <a:bodyPr wrap="square" lIns="0" tIns="0" rIns="0" bIns="0" rtlCol="0" anchor="t"/>
          <a:lstStyle/>
          <a:p>
            <a:pPr algn="r" indent="0" marL="0">
              <a:buNone/>
            </a:pPr>
            <a:r>
              <a:rPr lang="en-US" sz="2600" b="1" dirty="0">
                <a:solidFill>
                  <a:srgbClr val="C9D3E3"/>
                </a:solidFill>
                <a:latin typeface="Cambria" pitchFamily="34" charset="0"/>
                <a:ea typeface="Cambria" pitchFamily="34" charset="-122"/>
                <a:cs typeface="Cambria" pitchFamily="34" charset="-120"/>
              </a:rPr>
              <a:t>07</a:t>
            </a:r>
            <a:endParaRPr lang="en-US" sz="2600" dirty="0"/>
          </a:p>
        </p:txBody>
      </p:sp>
      <p:sp>
        <p:nvSpPr>
          <p:cNvPr id="44" name="Text 34"/>
          <p:cNvSpPr txBox="1"/>
          <p:nvPr/>
        </p:nvSpPr>
        <p:spPr>
          <a:xfrm>
            <a:off x="8348472" y="4892040"/>
            <a:ext cx="3154680" cy="320040"/>
          </a:xfrm>
          <a:prstGeom prst="rect">
            <a:avLst/>
          </a:prstGeom>
          <a:noFill/>
          <a:ln/>
        </p:spPr>
        <p:txBody>
          <a:bodyPr wrap="square" lIns="0" tIns="0" rIns="0" bIns="0" rtlCol="0" anchor="t"/>
          <a:lstStyle/>
          <a:p>
            <a:pPr indent="0" marL="0">
              <a:buNone/>
            </a:pPr>
            <a:r>
              <a:rPr lang="en-US" sz="1700" b="1" dirty="0">
                <a:solidFill>
                  <a:srgbClr val="1F3A6E"/>
                </a:solidFill>
              </a:rPr>
              <a:t>Handle uncertainty</a:t>
            </a:r>
            <a:endParaRPr lang="en-US" sz="1700" dirty="0"/>
          </a:p>
        </p:txBody>
      </p:sp>
      <p:sp>
        <p:nvSpPr>
          <p:cNvPr id="45" name="Text 35"/>
          <p:cNvSpPr txBox="1"/>
          <p:nvPr/>
        </p:nvSpPr>
        <p:spPr>
          <a:xfrm>
            <a:off x="8348472" y="5257800"/>
            <a:ext cx="3154680" cy="822960"/>
          </a:xfrm>
          <a:prstGeom prst="rect">
            <a:avLst/>
          </a:prstGeom>
          <a:noFill/>
          <a:ln/>
        </p:spPr>
        <p:txBody>
          <a:bodyPr wrap="square" lIns="0" tIns="0" rIns="0" bIns="0" rtlCol="0" anchor="t"/>
          <a:lstStyle/>
          <a:p>
            <a:pPr indent="0" marL="0">
              <a:buNone/>
            </a:pPr>
            <a:r>
              <a:rPr lang="en-US" sz="1400" dirty="0">
                <a:solidFill>
                  <a:srgbClr val="1B2A41"/>
                </a:solidFill>
              </a:rPr>
              <a:t>Abstain when confidence falls below a validation-derived threshold.</a:t>
            </a:r>
            <a:endParaRPr lang="en-US" sz="14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Dataset and experimental setup</a:t>
            </a:r>
            <a:endParaRPr lang="en-US" sz="3000" dirty="0"/>
          </a:p>
        </p:txBody>
      </p:sp>
      <p:sp>
        <p:nvSpPr>
          <p:cNvPr id="4" name="Card"/>
          <p:cNvSpPr/>
          <p:nvPr/>
        </p:nvSpPr>
        <p:spPr>
          <a:xfrm>
            <a:off x="457200" y="1325880"/>
            <a:ext cx="4389120" cy="3611880"/>
          </a:xfrm>
          <a:prstGeom prst="roundRect">
            <a:avLst>
              <a:gd name="adj" fmla="val 3038"/>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5" name="Chart 0" descr=""/>
          <p:cNvGraphicFramePr/>
          <p:nvPr/>
        </p:nvGraphicFramePr>
        <p:xfrm>
          <a:off x="548640" y="1371600"/>
          <a:ext cx="42062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029200" y="1325880"/>
            <a:ext cx="6702552" cy="3611880"/>
          </a:xfrm>
          <a:prstGeom prst="roundRect">
            <a:avLst>
              <a:gd name="adj" fmla="val 3038"/>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7" name="Chart 1" descr=""/>
          <p:cNvGraphicFramePr/>
          <p:nvPr/>
        </p:nvGraphicFramePr>
        <p:xfrm>
          <a:off x="5120640" y="1371600"/>
          <a:ext cx="6519672" cy="3520440"/>
        </p:xfrm>
        <a:graphic xmlns:a="http://schemas.openxmlformats.org/drawingml/2006/main">
          <a:graphicData uri="http://schemas.openxmlformats.org/drawingml/2006/chart">
            <c:chart xmlns:c="http://schemas.openxmlformats.org/drawingml/2006/chart" r:id="rId2"/>
          </a:graphicData>
        </a:graphic>
      </p:graphicFrame>
      <p:sp>
        <p:nvSpPr>
          <p:cNvPr id="8" name="Card"/>
          <p:cNvSpPr/>
          <p:nvPr/>
        </p:nvSpPr>
        <p:spPr>
          <a:xfrm>
            <a:off x="457200" y="5120640"/>
            <a:ext cx="2560320" cy="1188720"/>
          </a:xfrm>
          <a:prstGeom prst="roundRect">
            <a:avLst>
              <a:gd name="adj" fmla="val 9231"/>
            </a:avLst>
          </a:prstGeom>
          <a:solidFill>
            <a:srgbClr val="F3F7FB"/>
          </a:solidFill>
          <a:ln w="12700">
            <a:solidFill>
              <a:srgbClr val="FFFFFF">
                <a:alpha val="0"/>
              </a:srgbClr>
            </a:solidFill>
            <a:prstDash val="solid"/>
          </a:ln>
        </p:spPr>
      </p:sp>
      <p:sp>
        <p:nvSpPr>
          <p:cNvPr id="9" name="Text 4"/>
          <p:cNvSpPr txBox="1"/>
          <p:nvPr/>
        </p:nvSpPr>
        <p:spPr>
          <a:xfrm>
            <a:off x="594360" y="5193792"/>
            <a:ext cx="2286000" cy="256032"/>
          </a:xfrm>
          <a:prstGeom prst="rect">
            <a:avLst/>
          </a:prstGeom>
          <a:noFill/>
          <a:ln/>
        </p:spPr>
        <p:txBody>
          <a:bodyPr wrap="square" lIns="0" tIns="0" rIns="0" bIns="0" rtlCol="0" anchor="t"/>
          <a:lstStyle/>
          <a:p>
            <a:pPr indent="0" marL="0">
              <a:buNone/>
            </a:pPr>
            <a:r>
              <a:rPr lang="en-US" sz="1300" b="1" dirty="0">
                <a:solidFill>
                  <a:srgbClr val="1F3A6E"/>
                </a:solidFill>
              </a:rPr>
              <a:t>Real data</a:t>
            </a:r>
            <a:endParaRPr lang="en-US" sz="1300" dirty="0"/>
          </a:p>
        </p:txBody>
      </p:sp>
      <p:sp>
        <p:nvSpPr>
          <p:cNvPr id="10" name="Text 5"/>
          <p:cNvSpPr txBox="1"/>
          <p:nvPr/>
        </p:nvSpPr>
        <p:spPr>
          <a:xfrm>
            <a:off x="594360" y="5468112"/>
            <a:ext cx="2286000" cy="822960"/>
          </a:xfrm>
          <a:prstGeom prst="rect">
            <a:avLst/>
          </a:prstGeom>
          <a:noFill/>
          <a:ln/>
        </p:spPr>
        <p:txBody>
          <a:bodyPr wrap="square" lIns="0" tIns="0" rIns="0" bIns="0" rtlCol="0" anchor="t"/>
          <a:lstStyle/>
          <a:p>
            <a:pPr indent="0" marL="0">
              <a:buNone/>
            </a:pPr>
            <a:r>
              <a:rPr lang="en-US" sz="1150" dirty="0">
                <a:solidFill>
                  <a:srgbClr val="1B2A41"/>
                </a:solidFill>
              </a:rPr>
              <a:t>ArguAna TripAdvisor annotated v2 · 2,100 reviews · 122 hotels</a:t>
            </a:r>
            <a:endParaRPr lang="en-US" sz="1150" dirty="0"/>
          </a:p>
        </p:txBody>
      </p:sp>
      <p:sp>
        <p:nvSpPr>
          <p:cNvPr id="11" name="Card"/>
          <p:cNvSpPr/>
          <p:nvPr/>
        </p:nvSpPr>
        <p:spPr>
          <a:xfrm>
            <a:off x="3200400" y="5120640"/>
            <a:ext cx="2286000" cy="1188720"/>
          </a:xfrm>
          <a:prstGeom prst="roundRect">
            <a:avLst>
              <a:gd name="adj" fmla="val 9231"/>
            </a:avLst>
          </a:prstGeom>
          <a:solidFill>
            <a:srgbClr val="F3F7FB"/>
          </a:solidFill>
          <a:ln w="12700">
            <a:solidFill>
              <a:srgbClr val="FFFFFF">
                <a:alpha val="0"/>
              </a:srgbClr>
            </a:solidFill>
            <a:prstDash val="solid"/>
          </a:ln>
        </p:spPr>
      </p:sp>
      <p:sp>
        <p:nvSpPr>
          <p:cNvPr id="12" name="Text 7"/>
          <p:cNvSpPr txBox="1"/>
          <p:nvPr/>
        </p:nvSpPr>
        <p:spPr>
          <a:xfrm>
            <a:off x="3337560" y="5193792"/>
            <a:ext cx="2011680" cy="256032"/>
          </a:xfrm>
          <a:prstGeom prst="rect">
            <a:avLst/>
          </a:prstGeom>
          <a:noFill/>
          <a:ln/>
        </p:spPr>
        <p:txBody>
          <a:bodyPr wrap="square" lIns="0" tIns="0" rIns="0" bIns="0" rtlCol="0" anchor="t"/>
          <a:lstStyle/>
          <a:p>
            <a:pPr indent="0" marL="0">
              <a:buNone/>
            </a:pPr>
            <a:r>
              <a:rPr lang="en-US" sz="1300" b="1" dirty="0">
                <a:solidFill>
                  <a:srgbClr val="1F3A6E"/>
                </a:solidFill>
              </a:rPr>
              <a:t>Hotel-disjoint</a:t>
            </a:r>
            <a:endParaRPr lang="en-US" sz="1300" dirty="0"/>
          </a:p>
        </p:txBody>
      </p:sp>
      <p:sp>
        <p:nvSpPr>
          <p:cNvPr id="13" name="Text 8"/>
          <p:cNvSpPr txBox="1"/>
          <p:nvPr/>
        </p:nvSpPr>
        <p:spPr>
          <a:xfrm>
            <a:off x="3337560" y="5468112"/>
            <a:ext cx="2011680" cy="822960"/>
          </a:xfrm>
          <a:prstGeom prst="rect">
            <a:avLst/>
          </a:prstGeom>
          <a:noFill/>
          <a:ln/>
        </p:spPr>
        <p:txBody>
          <a:bodyPr wrap="square" lIns="0" tIns="0" rIns="0" bIns="0" rtlCol="0" anchor="t"/>
          <a:lstStyle/>
          <a:p>
            <a:pPr indent="0" marL="0">
              <a:buNone/>
            </a:pPr>
            <a:r>
              <a:rPr lang="en-US" sz="1150" dirty="0">
                <a:solidFill>
                  <a:srgbClr val="1B2A41"/>
                </a:solidFill>
              </a:rPr>
              <a:t>No hotel appears in more than one of train, validation and test</a:t>
            </a:r>
            <a:endParaRPr lang="en-US" sz="1150" dirty="0"/>
          </a:p>
        </p:txBody>
      </p:sp>
      <p:sp>
        <p:nvSpPr>
          <p:cNvPr id="14" name="Card"/>
          <p:cNvSpPr/>
          <p:nvPr/>
        </p:nvSpPr>
        <p:spPr>
          <a:xfrm>
            <a:off x="5669280" y="5120640"/>
            <a:ext cx="3520440" cy="1188720"/>
          </a:xfrm>
          <a:prstGeom prst="roundRect">
            <a:avLst>
              <a:gd name="adj" fmla="val 9231"/>
            </a:avLst>
          </a:prstGeom>
          <a:solidFill>
            <a:srgbClr val="F3F7FB"/>
          </a:solidFill>
          <a:ln w="12700">
            <a:solidFill>
              <a:srgbClr val="FFFFFF">
                <a:alpha val="0"/>
              </a:srgbClr>
            </a:solidFill>
            <a:prstDash val="solid"/>
          </a:ln>
        </p:spPr>
      </p:sp>
      <p:sp>
        <p:nvSpPr>
          <p:cNvPr id="15" name="Text 10"/>
          <p:cNvSpPr txBox="1"/>
          <p:nvPr/>
        </p:nvSpPr>
        <p:spPr>
          <a:xfrm>
            <a:off x="5806440" y="5193792"/>
            <a:ext cx="3246120" cy="256032"/>
          </a:xfrm>
          <a:prstGeom prst="rect">
            <a:avLst/>
          </a:prstGeom>
          <a:noFill/>
          <a:ln/>
        </p:spPr>
        <p:txBody>
          <a:bodyPr wrap="square" lIns="0" tIns="0" rIns="0" bIns="0" rtlCol="0" anchor="t"/>
          <a:lstStyle/>
          <a:p>
            <a:pPr indent="0" marL="0">
              <a:buNone/>
            </a:pPr>
            <a:r>
              <a:rPr lang="en-US" sz="1300" b="1" dirty="0">
                <a:solidFill>
                  <a:srgbClr val="1F3A6E"/>
                </a:solidFill>
              </a:rPr>
              <a:t>Labels vary by aspect</a:t>
            </a:r>
            <a:endParaRPr lang="en-US" sz="1300" dirty="0"/>
          </a:p>
        </p:txBody>
      </p:sp>
      <p:sp>
        <p:nvSpPr>
          <p:cNvPr id="16" name="Text 11"/>
          <p:cNvSpPr txBox="1"/>
          <p:nvPr/>
        </p:nvSpPr>
        <p:spPr>
          <a:xfrm>
            <a:off x="5806440" y="5468112"/>
            <a:ext cx="3246120" cy="822960"/>
          </a:xfrm>
          <a:prstGeom prst="rect">
            <a:avLst/>
          </a:prstGeom>
          <a:noFill/>
          <a:ln/>
        </p:spPr>
        <p:txBody>
          <a:bodyPr wrap="square" lIns="0" tIns="0" rIns="0" bIns="0" rtlCol="0" anchor="t"/>
          <a:lstStyle/>
          <a:p>
            <a:pPr indent="0" marL="0">
              <a:buNone/>
            </a:pPr>
            <a:r>
              <a:rPr lang="en-US" sz="1150" dirty="0">
                <a:solidFill>
                  <a:srgbClr val="1B2A41"/>
                </a:solidFill>
              </a:rPr>
              <a:t>Overall 2,100 · Service 1,608 · Rooms 1,647 · Location 1,238 · Value 1,631 · Cleanliness 1,651 · Business 772. Sleep Quality: no usable real labels</a:t>
            </a:r>
            <a:endParaRPr lang="en-US" sz="1150" dirty="0"/>
          </a:p>
        </p:txBody>
      </p:sp>
      <p:sp>
        <p:nvSpPr>
          <p:cNvPr id="17" name="Card"/>
          <p:cNvSpPr/>
          <p:nvPr/>
        </p:nvSpPr>
        <p:spPr>
          <a:xfrm>
            <a:off x="9372600" y="5120640"/>
            <a:ext cx="2359152" cy="1188720"/>
          </a:xfrm>
          <a:prstGeom prst="roundRect">
            <a:avLst>
              <a:gd name="adj" fmla="val 9231"/>
            </a:avLst>
          </a:prstGeom>
          <a:solidFill>
            <a:srgbClr val="F3F7FB"/>
          </a:solidFill>
          <a:ln w="12700">
            <a:solidFill>
              <a:srgbClr val="FFFFFF">
                <a:alpha val="0"/>
              </a:srgbClr>
            </a:solidFill>
            <a:prstDash val="solid"/>
          </a:ln>
        </p:spPr>
      </p:sp>
      <p:sp>
        <p:nvSpPr>
          <p:cNvPr id="18" name="Text 13"/>
          <p:cNvSpPr txBox="1"/>
          <p:nvPr/>
        </p:nvSpPr>
        <p:spPr>
          <a:xfrm>
            <a:off x="9509760" y="5193792"/>
            <a:ext cx="2084832" cy="256032"/>
          </a:xfrm>
          <a:prstGeom prst="rect">
            <a:avLst/>
          </a:prstGeom>
          <a:noFill/>
          <a:ln/>
        </p:spPr>
        <p:txBody>
          <a:bodyPr wrap="square" lIns="0" tIns="0" rIns="0" bIns="0" rtlCol="0" anchor="t"/>
          <a:lstStyle/>
          <a:p>
            <a:pPr indent="0" marL="0">
              <a:buNone/>
            </a:pPr>
            <a:r>
              <a:rPr lang="en-US" sz="1300" b="1" dirty="0">
                <a:solidFill>
                  <a:srgbClr val="1F3A6E"/>
                </a:solidFill>
              </a:rPr>
              <a:t>Synthetic ≠ real</a:t>
            </a:r>
            <a:endParaRPr lang="en-US" sz="1300" dirty="0"/>
          </a:p>
        </p:txBody>
      </p:sp>
      <p:sp>
        <p:nvSpPr>
          <p:cNvPr id="19" name="Text 14"/>
          <p:cNvSpPr txBox="1"/>
          <p:nvPr/>
        </p:nvSpPr>
        <p:spPr>
          <a:xfrm>
            <a:off x="9509760" y="5468112"/>
            <a:ext cx="2084832" cy="822960"/>
          </a:xfrm>
          <a:prstGeom prst="rect">
            <a:avLst/>
          </a:prstGeom>
          <a:noFill/>
          <a:ln/>
        </p:spPr>
        <p:txBody>
          <a:bodyPr wrap="square" lIns="0" tIns="0" rIns="0" bIns="0" rtlCol="0" anchor="t"/>
          <a:lstStyle/>
          <a:p>
            <a:pPr indent="0" marL="0">
              <a:buNone/>
            </a:pPr>
            <a:r>
              <a:rPr lang="en-US" sz="1150" dirty="0">
                <a:solidFill>
                  <a:srgbClr val="1B2A41"/>
                </a:solidFill>
              </a:rPr>
              <a:t>320 synthetic reviews are demo-only; never combined with real-test results</a:t>
            </a:r>
            <a:endParaRPr lang="en-US" sz="115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System architecture</a:t>
            </a:r>
            <a:endParaRPr lang="en-US" sz="3000" dirty="0"/>
          </a:p>
        </p:txBody>
      </p:sp>
      <p:sp>
        <p:nvSpPr>
          <p:cNvPr id="4" name="Card"/>
          <p:cNvSpPr/>
          <p:nvPr/>
        </p:nvSpPr>
        <p:spPr>
          <a:xfrm>
            <a:off x="457200" y="137160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Icon circle"/>
          <p:cNvSpPr/>
          <p:nvPr/>
        </p:nvSpPr>
        <p:spPr>
          <a:xfrm>
            <a:off x="621792" y="1536192"/>
            <a:ext cx="502920" cy="502920"/>
          </a:xfrm>
          <a:prstGeom prst="ellipse">
            <a:avLst/>
          </a:prstGeom>
          <a:solidFill>
            <a:srgbClr val="1F3A6E"/>
          </a:solidFill>
          <a:ln w="12700">
            <a:solidFill>
              <a:srgbClr val="1F3A6E"/>
            </a:solidFill>
            <a:prstDash val="solid"/>
          </a:ln>
        </p:spPr>
      </p:sp>
      <p:pic>
        <p:nvPicPr>
          <p:cNvPr id="6" name="Image 0" descr="FaFileAlt">    </p:cNvPr>
          <p:cNvPicPr>
            <a:picLocks noChangeAspect="1"/>
          </p:cNvPicPr>
          <p:nvPr/>
        </p:nvPicPr>
        <p:blipFill>
          <a:blip r:embed="rId1"/>
          <a:stretch>
            <a:fillRect/>
          </a:stretch>
        </p:blipFill>
        <p:spPr>
          <a:xfrm>
            <a:off x="747522" y="1661922"/>
            <a:ext cx="251460" cy="251460"/>
          </a:xfrm>
          <a:prstGeom prst="rect">
            <a:avLst/>
          </a:prstGeom>
        </p:spPr>
      </p:pic>
      <p:sp>
        <p:nvSpPr>
          <p:cNvPr id="7" name="Text 3"/>
          <p:cNvSpPr txBox="1"/>
          <p:nvPr/>
        </p:nvSpPr>
        <p:spPr>
          <a:xfrm>
            <a:off x="1920240" y="153619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1</a:t>
            </a:r>
            <a:endParaRPr lang="en-US" sz="1800" dirty="0"/>
          </a:p>
        </p:txBody>
      </p:sp>
      <p:sp>
        <p:nvSpPr>
          <p:cNvPr id="8" name="Text 4"/>
          <p:cNvSpPr txBox="1"/>
          <p:nvPr/>
        </p:nvSpPr>
        <p:spPr>
          <a:xfrm>
            <a:off x="621792" y="214884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Review input</a:t>
            </a:r>
            <a:endParaRPr lang="en-US" sz="1450" dirty="0"/>
          </a:p>
        </p:txBody>
      </p:sp>
      <p:sp>
        <p:nvSpPr>
          <p:cNvPr id="9" name="Text 5"/>
          <p:cNvSpPr txBox="1"/>
          <p:nvPr/>
        </p:nvSpPr>
        <p:spPr>
          <a:xfrm>
            <a:off x="621792" y="2633472"/>
            <a:ext cx="1682496" cy="713232"/>
          </a:xfrm>
          <a:prstGeom prst="rect">
            <a:avLst/>
          </a:prstGeom>
          <a:noFill/>
          <a:ln/>
        </p:spPr>
        <p:txBody>
          <a:bodyPr wrap="square" lIns="0" tIns="0" rIns="0" bIns="0" rtlCol="0" anchor="t"/>
          <a:lstStyle/>
          <a:p>
            <a:pPr indent="0" marL="0">
              <a:buNone/>
            </a:pPr>
            <a:r>
              <a:rPr lang="en-US" sz="1200" dirty="0">
                <a:solidFill>
                  <a:srgbClr val="1B2A41"/>
                </a:solidFill>
              </a:rPr>
              <a:t>Raw hotel review text</a:t>
            </a:r>
            <a:endParaRPr lang="en-US" sz="1200" dirty="0"/>
          </a:p>
        </p:txBody>
      </p:sp>
      <p:sp>
        <p:nvSpPr>
          <p:cNvPr id="10" name="Arrow"/>
          <p:cNvSpPr/>
          <p:nvPr/>
        </p:nvSpPr>
        <p:spPr>
          <a:xfrm>
            <a:off x="2496312" y="2286000"/>
            <a:ext cx="219456" cy="274320"/>
          </a:xfrm>
          <a:prstGeom prst="rightArrow">
            <a:avLst/>
          </a:prstGeom>
          <a:solidFill>
            <a:srgbClr val="0E9AA7"/>
          </a:solidFill>
          <a:ln w="12700">
            <a:solidFill>
              <a:srgbClr val="0E9AA7"/>
            </a:solidFill>
            <a:prstDash val="solid"/>
          </a:ln>
        </p:spPr>
      </p:sp>
      <p:sp>
        <p:nvSpPr>
          <p:cNvPr id="11" name="Card"/>
          <p:cNvSpPr/>
          <p:nvPr/>
        </p:nvSpPr>
        <p:spPr>
          <a:xfrm>
            <a:off x="2743200" y="137160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2" name="Icon circle"/>
          <p:cNvSpPr/>
          <p:nvPr/>
        </p:nvSpPr>
        <p:spPr>
          <a:xfrm>
            <a:off x="2907792" y="1536192"/>
            <a:ext cx="502920" cy="502920"/>
          </a:xfrm>
          <a:prstGeom prst="ellipse">
            <a:avLst/>
          </a:prstGeom>
          <a:solidFill>
            <a:srgbClr val="1F3A6E"/>
          </a:solidFill>
          <a:ln w="12700">
            <a:solidFill>
              <a:srgbClr val="1F3A6E"/>
            </a:solidFill>
            <a:prstDash val="solid"/>
          </a:ln>
        </p:spPr>
      </p:sp>
      <p:pic>
        <p:nvPicPr>
          <p:cNvPr id="13" name="Image 1" descr="FaCut">    </p:cNvPr>
          <p:cNvPicPr>
            <a:picLocks noChangeAspect="1"/>
          </p:cNvPicPr>
          <p:nvPr/>
        </p:nvPicPr>
        <p:blipFill>
          <a:blip r:embed="rId2"/>
          <a:stretch>
            <a:fillRect/>
          </a:stretch>
        </p:blipFill>
        <p:spPr>
          <a:xfrm>
            <a:off x="3033522" y="1661922"/>
            <a:ext cx="251460" cy="251460"/>
          </a:xfrm>
          <a:prstGeom prst="rect">
            <a:avLst/>
          </a:prstGeom>
        </p:spPr>
      </p:pic>
      <p:sp>
        <p:nvSpPr>
          <p:cNvPr id="14" name="Text 9"/>
          <p:cNvSpPr txBox="1"/>
          <p:nvPr/>
        </p:nvSpPr>
        <p:spPr>
          <a:xfrm>
            <a:off x="4206240" y="153619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2</a:t>
            </a:r>
            <a:endParaRPr lang="en-US" sz="1800" dirty="0"/>
          </a:p>
        </p:txBody>
      </p:sp>
      <p:sp>
        <p:nvSpPr>
          <p:cNvPr id="15" name="Text 10"/>
          <p:cNvSpPr txBox="1"/>
          <p:nvPr/>
        </p:nvSpPr>
        <p:spPr>
          <a:xfrm>
            <a:off x="2907792" y="214884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Text segmentation</a:t>
            </a:r>
            <a:endParaRPr lang="en-US" sz="1450" dirty="0"/>
          </a:p>
        </p:txBody>
      </p:sp>
      <p:sp>
        <p:nvSpPr>
          <p:cNvPr id="16" name="Text 11"/>
          <p:cNvSpPr txBox="1"/>
          <p:nvPr/>
        </p:nvSpPr>
        <p:spPr>
          <a:xfrm>
            <a:off x="2907792" y="2633472"/>
            <a:ext cx="1682496" cy="713232"/>
          </a:xfrm>
          <a:prstGeom prst="rect">
            <a:avLst/>
          </a:prstGeom>
          <a:noFill/>
          <a:ln/>
        </p:spPr>
        <p:txBody>
          <a:bodyPr wrap="square" lIns="0" tIns="0" rIns="0" bIns="0" rtlCol="0" anchor="t"/>
          <a:lstStyle/>
          <a:p>
            <a:pPr indent="0" marL="0">
              <a:buNone/>
            </a:pPr>
            <a:r>
              <a:rPr lang="en-US" sz="1200" dirty="0">
                <a:solidFill>
                  <a:srgbClr val="1B2A41"/>
                </a:solidFill>
              </a:rPr>
              <a:t>Split into sentences and clauses</a:t>
            </a:r>
            <a:endParaRPr lang="en-US" sz="1200" dirty="0"/>
          </a:p>
        </p:txBody>
      </p:sp>
      <p:sp>
        <p:nvSpPr>
          <p:cNvPr id="17" name="Arrow"/>
          <p:cNvSpPr/>
          <p:nvPr/>
        </p:nvSpPr>
        <p:spPr>
          <a:xfrm>
            <a:off x="4782312" y="2286000"/>
            <a:ext cx="219456" cy="274320"/>
          </a:xfrm>
          <a:prstGeom prst="rightArrow">
            <a:avLst/>
          </a:prstGeom>
          <a:solidFill>
            <a:srgbClr val="0E9AA7"/>
          </a:solidFill>
          <a:ln w="12700">
            <a:solidFill>
              <a:srgbClr val="0E9AA7"/>
            </a:solidFill>
            <a:prstDash val="solid"/>
          </a:ln>
        </p:spPr>
      </p:sp>
      <p:sp>
        <p:nvSpPr>
          <p:cNvPr id="18" name="Card"/>
          <p:cNvSpPr/>
          <p:nvPr/>
        </p:nvSpPr>
        <p:spPr>
          <a:xfrm>
            <a:off x="5029200" y="137160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9" name="Icon circle"/>
          <p:cNvSpPr/>
          <p:nvPr/>
        </p:nvSpPr>
        <p:spPr>
          <a:xfrm>
            <a:off x="5193792" y="1536192"/>
            <a:ext cx="502920" cy="502920"/>
          </a:xfrm>
          <a:prstGeom prst="ellipse">
            <a:avLst/>
          </a:prstGeom>
          <a:solidFill>
            <a:srgbClr val="1F3A6E"/>
          </a:solidFill>
          <a:ln w="12700">
            <a:solidFill>
              <a:srgbClr val="1F3A6E"/>
            </a:solidFill>
            <a:prstDash val="solid"/>
          </a:ln>
        </p:spPr>
      </p:sp>
      <p:pic>
        <p:nvPicPr>
          <p:cNvPr id="20" name="Image 2" descr="FaSearch">    </p:cNvPr>
          <p:cNvPicPr>
            <a:picLocks noChangeAspect="1"/>
          </p:cNvPicPr>
          <p:nvPr/>
        </p:nvPicPr>
        <p:blipFill>
          <a:blip r:embed="rId3"/>
          <a:stretch>
            <a:fillRect/>
          </a:stretch>
        </p:blipFill>
        <p:spPr>
          <a:xfrm>
            <a:off x="5319522" y="1661922"/>
            <a:ext cx="251460" cy="251460"/>
          </a:xfrm>
          <a:prstGeom prst="rect">
            <a:avLst/>
          </a:prstGeom>
        </p:spPr>
      </p:pic>
      <p:sp>
        <p:nvSpPr>
          <p:cNvPr id="21" name="Text 15"/>
          <p:cNvSpPr txBox="1"/>
          <p:nvPr/>
        </p:nvSpPr>
        <p:spPr>
          <a:xfrm>
            <a:off x="6492240" y="153619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3</a:t>
            </a:r>
            <a:endParaRPr lang="en-US" sz="1800" dirty="0"/>
          </a:p>
        </p:txBody>
      </p:sp>
      <p:sp>
        <p:nvSpPr>
          <p:cNvPr id="22" name="Text 16"/>
          <p:cNvSpPr txBox="1"/>
          <p:nvPr/>
        </p:nvSpPr>
        <p:spPr>
          <a:xfrm>
            <a:off x="5193792" y="214884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Aspect mention detection</a:t>
            </a:r>
            <a:endParaRPr lang="en-US" sz="1450" dirty="0"/>
          </a:p>
        </p:txBody>
      </p:sp>
      <p:sp>
        <p:nvSpPr>
          <p:cNvPr id="23" name="Text 17"/>
          <p:cNvSpPr txBox="1"/>
          <p:nvPr/>
        </p:nvSpPr>
        <p:spPr>
          <a:xfrm>
            <a:off x="5193792" y="2633472"/>
            <a:ext cx="1682496" cy="713232"/>
          </a:xfrm>
          <a:prstGeom prst="rect">
            <a:avLst/>
          </a:prstGeom>
          <a:noFill/>
          <a:ln/>
        </p:spPr>
        <p:txBody>
          <a:bodyPr wrap="square" lIns="0" tIns="0" rIns="0" bIns="0" rtlCol="0" anchor="t"/>
          <a:lstStyle/>
          <a:p>
            <a:pPr indent="0" marL="0">
              <a:buNone/>
            </a:pPr>
            <a:r>
              <a:rPr lang="en-US" sz="1200" dirty="0">
                <a:solidFill>
                  <a:srgbClr val="1B2A41"/>
                </a:solidFill>
              </a:rPr>
              <a:t>Rules find aspect words and keep the evidence clause</a:t>
            </a:r>
            <a:endParaRPr lang="en-US" sz="1200" dirty="0"/>
          </a:p>
        </p:txBody>
      </p:sp>
      <p:sp>
        <p:nvSpPr>
          <p:cNvPr id="24" name="Arrow"/>
          <p:cNvSpPr/>
          <p:nvPr/>
        </p:nvSpPr>
        <p:spPr>
          <a:xfrm>
            <a:off x="7068312" y="2286000"/>
            <a:ext cx="219456" cy="274320"/>
          </a:xfrm>
          <a:prstGeom prst="rightArrow">
            <a:avLst/>
          </a:prstGeom>
          <a:solidFill>
            <a:srgbClr val="0E9AA7"/>
          </a:solidFill>
          <a:ln w="12700">
            <a:solidFill>
              <a:srgbClr val="0E9AA7"/>
            </a:solidFill>
            <a:prstDash val="solid"/>
          </a:ln>
        </p:spPr>
      </p:sp>
      <p:sp>
        <p:nvSpPr>
          <p:cNvPr id="25" name="Card"/>
          <p:cNvSpPr/>
          <p:nvPr/>
        </p:nvSpPr>
        <p:spPr>
          <a:xfrm>
            <a:off x="7315200" y="137160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6" name="Icon circle"/>
          <p:cNvSpPr/>
          <p:nvPr/>
        </p:nvSpPr>
        <p:spPr>
          <a:xfrm>
            <a:off x="7479792" y="1536192"/>
            <a:ext cx="502920" cy="502920"/>
          </a:xfrm>
          <a:prstGeom prst="ellipse">
            <a:avLst/>
          </a:prstGeom>
          <a:solidFill>
            <a:srgbClr val="1F3A6E"/>
          </a:solidFill>
          <a:ln w="12700">
            <a:solidFill>
              <a:srgbClr val="1F3A6E"/>
            </a:solidFill>
            <a:prstDash val="solid"/>
          </a:ln>
        </p:spPr>
      </p:sp>
      <p:pic>
        <p:nvPicPr>
          <p:cNvPr id="27" name="Image 3" descr="FaRandom">    </p:cNvPr>
          <p:cNvPicPr>
            <a:picLocks noChangeAspect="1"/>
          </p:cNvPicPr>
          <p:nvPr/>
        </p:nvPicPr>
        <p:blipFill>
          <a:blip r:embed="rId4"/>
          <a:stretch>
            <a:fillRect/>
          </a:stretch>
        </p:blipFill>
        <p:spPr>
          <a:xfrm>
            <a:off x="7605522" y="1661922"/>
            <a:ext cx="251460" cy="251460"/>
          </a:xfrm>
          <a:prstGeom prst="rect">
            <a:avLst/>
          </a:prstGeom>
        </p:spPr>
      </p:pic>
      <p:sp>
        <p:nvSpPr>
          <p:cNvPr id="28" name="Text 21"/>
          <p:cNvSpPr txBox="1"/>
          <p:nvPr/>
        </p:nvSpPr>
        <p:spPr>
          <a:xfrm>
            <a:off x="8778240" y="153619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4</a:t>
            </a:r>
            <a:endParaRPr lang="en-US" sz="1800" dirty="0"/>
          </a:p>
        </p:txBody>
      </p:sp>
      <p:sp>
        <p:nvSpPr>
          <p:cNvPr id="29" name="Text 22"/>
          <p:cNvSpPr txBox="1"/>
          <p:nvPr/>
        </p:nvSpPr>
        <p:spPr>
          <a:xfrm>
            <a:off x="7479792" y="214884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Text routing</a:t>
            </a:r>
            <a:endParaRPr lang="en-US" sz="1450" dirty="0"/>
          </a:p>
        </p:txBody>
      </p:sp>
      <p:sp>
        <p:nvSpPr>
          <p:cNvPr id="30" name="Text 23"/>
          <p:cNvSpPr txBox="1"/>
          <p:nvPr/>
        </p:nvSpPr>
        <p:spPr>
          <a:xfrm>
            <a:off x="7479792" y="2633472"/>
            <a:ext cx="1682496" cy="713232"/>
          </a:xfrm>
          <a:prstGeom prst="rect">
            <a:avLst/>
          </a:prstGeom>
          <a:noFill/>
          <a:ln/>
        </p:spPr>
        <p:txBody>
          <a:bodyPr wrap="square" lIns="0" tIns="0" rIns="0" bIns="0" rtlCol="0" anchor="t"/>
          <a:lstStyle/>
          <a:p>
            <a:pPr indent="0" marL="0">
              <a:buNone/>
            </a:pPr>
            <a:r>
              <a:rPr lang="en-US" sz="1200" dirty="0">
                <a:solidFill>
                  <a:srgbClr val="1B2A41"/>
                </a:solidFill>
              </a:rPr>
              <a:t>Full review, or the aspect clause only (fallback if unclear)</a:t>
            </a:r>
            <a:endParaRPr lang="en-US" sz="1200" dirty="0"/>
          </a:p>
        </p:txBody>
      </p:sp>
      <p:sp>
        <p:nvSpPr>
          <p:cNvPr id="31" name="Arrow"/>
          <p:cNvSpPr/>
          <p:nvPr/>
        </p:nvSpPr>
        <p:spPr>
          <a:xfrm>
            <a:off x="9354312" y="2286000"/>
            <a:ext cx="219456" cy="274320"/>
          </a:xfrm>
          <a:prstGeom prst="rightArrow">
            <a:avLst/>
          </a:prstGeom>
          <a:solidFill>
            <a:srgbClr val="0E9AA7"/>
          </a:solidFill>
          <a:ln w="12700">
            <a:solidFill>
              <a:srgbClr val="0E9AA7"/>
            </a:solidFill>
            <a:prstDash val="solid"/>
          </a:ln>
        </p:spPr>
      </p:sp>
      <p:sp>
        <p:nvSpPr>
          <p:cNvPr id="32" name="Card"/>
          <p:cNvSpPr/>
          <p:nvPr/>
        </p:nvSpPr>
        <p:spPr>
          <a:xfrm>
            <a:off x="9601200" y="137160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3" name="Icon circle"/>
          <p:cNvSpPr/>
          <p:nvPr/>
        </p:nvSpPr>
        <p:spPr>
          <a:xfrm>
            <a:off x="9765792" y="1536192"/>
            <a:ext cx="502920" cy="502920"/>
          </a:xfrm>
          <a:prstGeom prst="ellipse">
            <a:avLst/>
          </a:prstGeom>
          <a:solidFill>
            <a:srgbClr val="1F3A6E"/>
          </a:solidFill>
          <a:ln w="12700">
            <a:solidFill>
              <a:srgbClr val="1F3A6E"/>
            </a:solidFill>
            <a:prstDash val="solid"/>
          </a:ln>
        </p:spPr>
      </p:sp>
      <p:pic>
        <p:nvPicPr>
          <p:cNvPr id="34" name="Image 4" descr="FaCalculator">    </p:cNvPr>
          <p:cNvPicPr>
            <a:picLocks noChangeAspect="1"/>
          </p:cNvPicPr>
          <p:nvPr/>
        </p:nvPicPr>
        <p:blipFill>
          <a:blip r:embed="rId5"/>
          <a:stretch>
            <a:fillRect/>
          </a:stretch>
        </p:blipFill>
        <p:spPr>
          <a:xfrm>
            <a:off x="9891522" y="1661922"/>
            <a:ext cx="251460" cy="251460"/>
          </a:xfrm>
          <a:prstGeom prst="rect">
            <a:avLst/>
          </a:prstGeom>
        </p:spPr>
      </p:pic>
      <p:sp>
        <p:nvSpPr>
          <p:cNvPr id="35" name="Text 27"/>
          <p:cNvSpPr txBox="1"/>
          <p:nvPr/>
        </p:nvSpPr>
        <p:spPr>
          <a:xfrm>
            <a:off x="11064240" y="153619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5</a:t>
            </a:r>
            <a:endParaRPr lang="en-US" sz="1800" dirty="0"/>
          </a:p>
        </p:txBody>
      </p:sp>
      <p:sp>
        <p:nvSpPr>
          <p:cNvPr id="36" name="Text 28"/>
          <p:cNvSpPr txBox="1"/>
          <p:nvPr/>
        </p:nvSpPr>
        <p:spPr>
          <a:xfrm>
            <a:off x="9765792" y="214884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Count / TF-IDF</a:t>
            </a:r>
            <a:endParaRPr lang="en-US" sz="1450" dirty="0"/>
          </a:p>
        </p:txBody>
      </p:sp>
      <p:sp>
        <p:nvSpPr>
          <p:cNvPr id="37" name="Text 29"/>
          <p:cNvSpPr txBox="1"/>
          <p:nvPr/>
        </p:nvSpPr>
        <p:spPr>
          <a:xfrm>
            <a:off x="9765792" y="2633472"/>
            <a:ext cx="1682496" cy="713232"/>
          </a:xfrm>
          <a:prstGeom prst="rect">
            <a:avLst/>
          </a:prstGeom>
          <a:noFill/>
          <a:ln/>
        </p:spPr>
        <p:txBody>
          <a:bodyPr wrap="square" lIns="0" tIns="0" rIns="0" bIns="0" rtlCol="0" anchor="t"/>
          <a:lstStyle/>
          <a:p>
            <a:pPr indent="0" marL="0">
              <a:buNone/>
            </a:pPr>
            <a:r>
              <a:rPr lang="en-US" sz="1200" dirty="0">
                <a:solidFill>
                  <a:srgbClr val="1B2A41"/>
                </a:solidFill>
              </a:rPr>
              <a:t>Turn words and 2-word phrases into numbers</a:t>
            </a:r>
            <a:endParaRPr lang="en-US" sz="1200" dirty="0"/>
          </a:p>
        </p:txBody>
      </p:sp>
      <p:sp>
        <p:nvSpPr>
          <p:cNvPr id="38" name="Card"/>
          <p:cNvSpPr/>
          <p:nvPr/>
        </p:nvSpPr>
        <p:spPr>
          <a:xfrm>
            <a:off x="457200" y="402336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9" name="Icon circle"/>
          <p:cNvSpPr/>
          <p:nvPr/>
        </p:nvSpPr>
        <p:spPr>
          <a:xfrm>
            <a:off x="621792" y="4187952"/>
            <a:ext cx="502920" cy="502920"/>
          </a:xfrm>
          <a:prstGeom prst="ellipse">
            <a:avLst/>
          </a:prstGeom>
          <a:solidFill>
            <a:srgbClr val="0E9AA7"/>
          </a:solidFill>
          <a:ln w="12700">
            <a:solidFill>
              <a:srgbClr val="0E9AA7"/>
            </a:solidFill>
            <a:prstDash val="solid"/>
          </a:ln>
        </p:spPr>
      </p:sp>
      <p:pic>
        <p:nvPicPr>
          <p:cNvPr id="40" name="Image 5" descr="FaProjectDiagram">    </p:cNvPr>
          <p:cNvPicPr>
            <a:picLocks noChangeAspect="1"/>
          </p:cNvPicPr>
          <p:nvPr/>
        </p:nvPicPr>
        <p:blipFill>
          <a:blip r:embed="rId6"/>
          <a:stretch>
            <a:fillRect/>
          </a:stretch>
        </p:blipFill>
        <p:spPr>
          <a:xfrm>
            <a:off x="747522" y="4313682"/>
            <a:ext cx="251460" cy="251460"/>
          </a:xfrm>
          <a:prstGeom prst="rect">
            <a:avLst/>
          </a:prstGeom>
        </p:spPr>
      </p:pic>
      <p:sp>
        <p:nvSpPr>
          <p:cNvPr id="41" name="Text 32"/>
          <p:cNvSpPr txBox="1"/>
          <p:nvPr/>
        </p:nvSpPr>
        <p:spPr>
          <a:xfrm>
            <a:off x="1920240" y="418795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6</a:t>
            </a:r>
            <a:endParaRPr lang="en-US" sz="1800" dirty="0"/>
          </a:p>
        </p:txBody>
      </p:sp>
      <p:sp>
        <p:nvSpPr>
          <p:cNvPr id="42" name="Text 33"/>
          <p:cNvSpPr txBox="1"/>
          <p:nvPr/>
        </p:nvSpPr>
        <p:spPr>
          <a:xfrm>
            <a:off x="621792" y="480060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ML classifier</a:t>
            </a:r>
            <a:endParaRPr lang="en-US" sz="1450" dirty="0"/>
          </a:p>
        </p:txBody>
      </p:sp>
      <p:sp>
        <p:nvSpPr>
          <p:cNvPr id="43" name="Text 34"/>
          <p:cNvSpPr txBox="1"/>
          <p:nvPr/>
        </p:nvSpPr>
        <p:spPr>
          <a:xfrm>
            <a:off x="621792" y="5285232"/>
            <a:ext cx="1682496" cy="713232"/>
          </a:xfrm>
          <a:prstGeom prst="rect">
            <a:avLst/>
          </a:prstGeom>
          <a:noFill/>
          <a:ln/>
        </p:spPr>
        <p:txBody>
          <a:bodyPr wrap="square" lIns="0" tIns="0" rIns="0" bIns="0" rtlCol="0" anchor="t"/>
          <a:lstStyle/>
          <a:p>
            <a:pPr indent="0" marL="0">
              <a:buNone/>
            </a:pPr>
            <a:r>
              <a:rPr lang="en-US" sz="1200" dirty="0">
                <a:solidFill>
                  <a:srgbClr val="1B2A41"/>
                </a:solidFill>
              </a:rPr>
              <a:t>Naive Bayes, Linear SVM or Logistic Regression, chosen per target</a:t>
            </a:r>
            <a:endParaRPr lang="en-US" sz="1200" dirty="0"/>
          </a:p>
        </p:txBody>
      </p:sp>
      <p:sp>
        <p:nvSpPr>
          <p:cNvPr id="44" name="Arrow"/>
          <p:cNvSpPr/>
          <p:nvPr/>
        </p:nvSpPr>
        <p:spPr>
          <a:xfrm>
            <a:off x="2496312" y="4937760"/>
            <a:ext cx="219456" cy="274320"/>
          </a:xfrm>
          <a:prstGeom prst="rightArrow">
            <a:avLst/>
          </a:prstGeom>
          <a:solidFill>
            <a:srgbClr val="0E9AA7"/>
          </a:solidFill>
          <a:ln w="12700">
            <a:solidFill>
              <a:srgbClr val="0E9AA7"/>
            </a:solidFill>
            <a:prstDash val="solid"/>
          </a:ln>
        </p:spPr>
      </p:sp>
      <p:sp>
        <p:nvSpPr>
          <p:cNvPr id="45" name="Card"/>
          <p:cNvSpPr/>
          <p:nvPr/>
        </p:nvSpPr>
        <p:spPr>
          <a:xfrm>
            <a:off x="2743200" y="402336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46" name="Icon circle"/>
          <p:cNvSpPr/>
          <p:nvPr/>
        </p:nvSpPr>
        <p:spPr>
          <a:xfrm>
            <a:off x="2907792" y="4187952"/>
            <a:ext cx="502920" cy="502920"/>
          </a:xfrm>
          <a:prstGeom prst="ellipse">
            <a:avLst/>
          </a:prstGeom>
          <a:solidFill>
            <a:srgbClr val="0E9AA7"/>
          </a:solidFill>
          <a:ln w="12700">
            <a:solidFill>
              <a:srgbClr val="0E9AA7"/>
            </a:solidFill>
            <a:prstDash val="solid"/>
          </a:ln>
        </p:spPr>
      </p:sp>
      <p:pic>
        <p:nvPicPr>
          <p:cNvPr id="47" name="Image 6" descr="FaStar">    </p:cNvPr>
          <p:cNvPicPr>
            <a:picLocks noChangeAspect="1"/>
          </p:cNvPicPr>
          <p:nvPr/>
        </p:nvPicPr>
        <p:blipFill>
          <a:blip r:embed="rId7"/>
          <a:stretch>
            <a:fillRect/>
          </a:stretch>
        </p:blipFill>
        <p:spPr>
          <a:xfrm>
            <a:off x="3033522" y="4313682"/>
            <a:ext cx="251460" cy="251460"/>
          </a:xfrm>
          <a:prstGeom prst="rect">
            <a:avLst/>
          </a:prstGeom>
        </p:spPr>
      </p:pic>
      <p:sp>
        <p:nvSpPr>
          <p:cNvPr id="48" name="Text 38"/>
          <p:cNvSpPr txBox="1"/>
          <p:nvPr/>
        </p:nvSpPr>
        <p:spPr>
          <a:xfrm>
            <a:off x="4206240" y="418795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7</a:t>
            </a:r>
            <a:endParaRPr lang="en-US" sz="1800" dirty="0"/>
          </a:p>
        </p:txBody>
      </p:sp>
      <p:sp>
        <p:nvSpPr>
          <p:cNvPr id="49" name="Text 39"/>
          <p:cNvSpPr txBox="1"/>
          <p:nvPr/>
        </p:nvSpPr>
        <p:spPr>
          <a:xfrm>
            <a:off x="2907792" y="480060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Star rating</a:t>
            </a:r>
            <a:endParaRPr lang="en-US" sz="1450" dirty="0"/>
          </a:p>
        </p:txBody>
      </p:sp>
      <p:sp>
        <p:nvSpPr>
          <p:cNvPr id="50" name="Text 40"/>
          <p:cNvSpPr txBox="1"/>
          <p:nvPr/>
        </p:nvSpPr>
        <p:spPr>
          <a:xfrm>
            <a:off x="2907792" y="5285232"/>
            <a:ext cx="1682496" cy="713232"/>
          </a:xfrm>
          <a:prstGeom prst="rect">
            <a:avLst/>
          </a:prstGeom>
          <a:noFill/>
          <a:ln/>
        </p:spPr>
        <p:txBody>
          <a:bodyPr wrap="square" lIns="0" tIns="0" rIns="0" bIns="0" rtlCol="0" anchor="t"/>
          <a:lstStyle/>
          <a:p>
            <a:pPr indent="0" marL="0">
              <a:buNone/>
            </a:pPr>
            <a:r>
              <a:rPr lang="en-US" sz="1200" dirty="0">
                <a:solidFill>
                  <a:srgbClr val="1B2A41"/>
                </a:solidFill>
              </a:rPr>
              <a:t>Predict 1–5 stars</a:t>
            </a:r>
            <a:endParaRPr lang="en-US" sz="1200" dirty="0"/>
          </a:p>
        </p:txBody>
      </p:sp>
      <p:sp>
        <p:nvSpPr>
          <p:cNvPr id="51" name="Arrow"/>
          <p:cNvSpPr/>
          <p:nvPr/>
        </p:nvSpPr>
        <p:spPr>
          <a:xfrm>
            <a:off x="4782312" y="4937760"/>
            <a:ext cx="219456" cy="274320"/>
          </a:xfrm>
          <a:prstGeom prst="rightArrow">
            <a:avLst/>
          </a:prstGeom>
          <a:solidFill>
            <a:srgbClr val="0E9AA7"/>
          </a:solidFill>
          <a:ln w="12700">
            <a:solidFill>
              <a:srgbClr val="0E9AA7"/>
            </a:solidFill>
            <a:prstDash val="solid"/>
          </a:ln>
        </p:spPr>
      </p:sp>
      <p:sp>
        <p:nvSpPr>
          <p:cNvPr id="52" name="Card"/>
          <p:cNvSpPr/>
          <p:nvPr/>
        </p:nvSpPr>
        <p:spPr>
          <a:xfrm>
            <a:off x="5029200" y="402336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3" name="Icon circle"/>
          <p:cNvSpPr/>
          <p:nvPr/>
        </p:nvSpPr>
        <p:spPr>
          <a:xfrm>
            <a:off x="5193792" y="4187952"/>
            <a:ext cx="502920" cy="502920"/>
          </a:xfrm>
          <a:prstGeom prst="ellipse">
            <a:avLst/>
          </a:prstGeom>
          <a:solidFill>
            <a:srgbClr val="0E9AA7"/>
          </a:solidFill>
          <a:ln w="12700">
            <a:solidFill>
              <a:srgbClr val="0E9AA7"/>
            </a:solidFill>
            <a:prstDash val="solid"/>
          </a:ln>
        </p:spPr>
      </p:sp>
      <p:pic>
        <p:nvPicPr>
          <p:cNvPr id="54" name="Image 7" descr="FaSmile">    </p:cNvPr>
          <p:cNvPicPr>
            <a:picLocks noChangeAspect="1"/>
          </p:cNvPicPr>
          <p:nvPr/>
        </p:nvPicPr>
        <p:blipFill>
          <a:blip r:embed="rId8"/>
          <a:stretch>
            <a:fillRect/>
          </a:stretch>
        </p:blipFill>
        <p:spPr>
          <a:xfrm>
            <a:off x="5319522" y="4313682"/>
            <a:ext cx="251460" cy="251460"/>
          </a:xfrm>
          <a:prstGeom prst="rect">
            <a:avLst/>
          </a:prstGeom>
        </p:spPr>
      </p:pic>
      <p:sp>
        <p:nvSpPr>
          <p:cNvPr id="55" name="Text 44"/>
          <p:cNvSpPr txBox="1"/>
          <p:nvPr/>
        </p:nvSpPr>
        <p:spPr>
          <a:xfrm>
            <a:off x="6492240" y="418795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8</a:t>
            </a:r>
            <a:endParaRPr lang="en-US" sz="1800" dirty="0"/>
          </a:p>
        </p:txBody>
      </p:sp>
      <p:sp>
        <p:nvSpPr>
          <p:cNvPr id="56" name="Text 45"/>
          <p:cNvSpPr txBox="1"/>
          <p:nvPr/>
        </p:nvSpPr>
        <p:spPr>
          <a:xfrm>
            <a:off x="5193792" y="480060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Polarity</a:t>
            </a:r>
            <a:endParaRPr lang="en-US" sz="1450" dirty="0"/>
          </a:p>
        </p:txBody>
      </p:sp>
      <p:sp>
        <p:nvSpPr>
          <p:cNvPr id="57" name="Text 46"/>
          <p:cNvSpPr txBox="1"/>
          <p:nvPr/>
        </p:nvSpPr>
        <p:spPr>
          <a:xfrm>
            <a:off x="5193792" y="5285232"/>
            <a:ext cx="1682496" cy="713232"/>
          </a:xfrm>
          <a:prstGeom prst="rect">
            <a:avLst/>
          </a:prstGeom>
          <a:noFill/>
          <a:ln/>
        </p:spPr>
        <p:txBody>
          <a:bodyPr wrap="square" lIns="0" tIns="0" rIns="0" bIns="0" rtlCol="0" anchor="t"/>
          <a:lstStyle/>
          <a:p>
            <a:pPr indent="0" marL="0">
              <a:buNone/>
            </a:pPr>
            <a:r>
              <a:rPr lang="en-US" sz="1200" dirty="0">
                <a:solidFill>
                  <a:srgbClr val="1B2A41"/>
                </a:solidFill>
              </a:rPr>
              <a:t>1–2 negative · 3 neutral · 4–5 positive</a:t>
            </a:r>
            <a:endParaRPr lang="en-US" sz="1200" dirty="0"/>
          </a:p>
        </p:txBody>
      </p:sp>
      <p:sp>
        <p:nvSpPr>
          <p:cNvPr id="58" name="Arrow"/>
          <p:cNvSpPr/>
          <p:nvPr/>
        </p:nvSpPr>
        <p:spPr>
          <a:xfrm>
            <a:off x="7068312" y="4937760"/>
            <a:ext cx="219456" cy="274320"/>
          </a:xfrm>
          <a:prstGeom prst="rightArrow">
            <a:avLst/>
          </a:prstGeom>
          <a:solidFill>
            <a:srgbClr val="0E9AA7"/>
          </a:solidFill>
          <a:ln w="12700">
            <a:solidFill>
              <a:srgbClr val="0E9AA7"/>
            </a:solidFill>
            <a:prstDash val="solid"/>
          </a:ln>
        </p:spPr>
      </p:sp>
      <p:sp>
        <p:nvSpPr>
          <p:cNvPr id="59" name="Card"/>
          <p:cNvSpPr/>
          <p:nvPr/>
        </p:nvSpPr>
        <p:spPr>
          <a:xfrm>
            <a:off x="7315200" y="402336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60" name="Icon circle"/>
          <p:cNvSpPr/>
          <p:nvPr/>
        </p:nvSpPr>
        <p:spPr>
          <a:xfrm>
            <a:off x="7479792" y="4187952"/>
            <a:ext cx="502920" cy="502920"/>
          </a:xfrm>
          <a:prstGeom prst="ellipse">
            <a:avLst/>
          </a:prstGeom>
          <a:solidFill>
            <a:srgbClr val="E8604C"/>
          </a:solidFill>
          <a:ln w="12700">
            <a:solidFill>
              <a:srgbClr val="E8604C"/>
            </a:solidFill>
            <a:prstDash val="solid"/>
          </a:ln>
        </p:spPr>
      </p:sp>
      <p:pic>
        <p:nvPicPr>
          <p:cNvPr id="61" name="Image 8" descr="FaShieldAlt">    </p:cNvPr>
          <p:cNvPicPr>
            <a:picLocks noChangeAspect="1"/>
          </p:cNvPicPr>
          <p:nvPr/>
        </p:nvPicPr>
        <p:blipFill>
          <a:blip r:embed="rId9"/>
          <a:stretch>
            <a:fillRect/>
          </a:stretch>
        </p:blipFill>
        <p:spPr>
          <a:xfrm>
            <a:off x="7605522" y="4313682"/>
            <a:ext cx="251460" cy="251460"/>
          </a:xfrm>
          <a:prstGeom prst="rect">
            <a:avLst/>
          </a:prstGeom>
        </p:spPr>
      </p:pic>
      <p:sp>
        <p:nvSpPr>
          <p:cNvPr id="62" name="Text 50"/>
          <p:cNvSpPr txBox="1"/>
          <p:nvPr/>
        </p:nvSpPr>
        <p:spPr>
          <a:xfrm>
            <a:off x="8778240" y="418795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9</a:t>
            </a:r>
            <a:endParaRPr lang="en-US" sz="1800" dirty="0"/>
          </a:p>
        </p:txBody>
      </p:sp>
      <p:sp>
        <p:nvSpPr>
          <p:cNvPr id="63" name="Text 51"/>
          <p:cNvSpPr txBox="1"/>
          <p:nvPr/>
        </p:nvSpPr>
        <p:spPr>
          <a:xfrm>
            <a:off x="7479792" y="480060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Confidence and abstention</a:t>
            </a:r>
            <a:endParaRPr lang="en-US" sz="1450" dirty="0"/>
          </a:p>
        </p:txBody>
      </p:sp>
      <p:sp>
        <p:nvSpPr>
          <p:cNvPr id="64" name="Text 52"/>
          <p:cNvSpPr txBox="1"/>
          <p:nvPr/>
        </p:nvSpPr>
        <p:spPr>
          <a:xfrm>
            <a:off x="7479792" y="5285232"/>
            <a:ext cx="1682496" cy="713232"/>
          </a:xfrm>
          <a:prstGeom prst="rect">
            <a:avLst/>
          </a:prstGeom>
          <a:noFill/>
          <a:ln/>
        </p:spPr>
        <p:txBody>
          <a:bodyPr wrap="square" lIns="0" tIns="0" rIns="0" bIns="0" rtlCol="0" anchor="t"/>
          <a:lstStyle/>
          <a:p>
            <a:pPr indent="0" marL="0">
              <a:buNone/>
            </a:pPr>
            <a:r>
              <a:rPr lang="en-US" sz="1200" dirty="0">
                <a:solidFill>
                  <a:srgbClr val="1B2A41"/>
                </a:solidFill>
              </a:rPr>
              <a:t>Below the threshold → “uncertain”</a:t>
            </a:r>
            <a:endParaRPr lang="en-US" sz="1200" dirty="0"/>
          </a:p>
        </p:txBody>
      </p:sp>
      <p:sp>
        <p:nvSpPr>
          <p:cNvPr id="65" name="Arrow"/>
          <p:cNvSpPr/>
          <p:nvPr/>
        </p:nvSpPr>
        <p:spPr>
          <a:xfrm>
            <a:off x="9354312" y="4937760"/>
            <a:ext cx="219456" cy="274320"/>
          </a:xfrm>
          <a:prstGeom prst="rightArrow">
            <a:avLst/>
          </a:prstGeom>
          <a:solidFill>
            <a:srgbClr val="0E9AA7"/>
          </a:solidFill>
          <a:ln w="12700">
            <a:solidFill>
              <a:srgbClr val="0E9AA7"/>
            </a:solidFill>
            <a:prstDash val="solid"/>
          </a:ln>
        </p:spPr>
      </p:sp>
      <p:sp>
        <p:nvSpPr>
          <p:cNvPr id="66" name="Card"/>
          <p:cNvSpPr/>
          <p:nvPr/>
        </p:nvSpPr>
        <p:spPr>
          <a:xfrm>
            <a:off x="9601200" y="4023360"/>
            <a:ext cx="20116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67" name="Icon circle"/>
          <p:cNvSpPr/>
          <p:nvPr/>
        </p:nvSpPr>
        <p:spPr>
          <a:xfrm>
            <a:off x="9765792" y="4187952"/>
            <a:ext cx="502920" cy="502920"/>
          </a:xfrm>
          <a:prstGeom prst="ellipse">
            <a:avLst/>
          </a:prstGeom>
          <a:solidFill>
            <a:srgbClr val="E8604C"/>
          </a:solidFill>
          <a:ln w="12700">
            <a:solidFill>
              <a:srgbClr val="E8604C"/>
            </a:solidFill>
            <a:prstDash val="solid"/>
          </a:ln>
        </p:spPr>
      </p:sp>
      <p:pic>
        <p:nvPicPr>
          <p:cNvPr id="68" name="Image 9" descr="FaDesktop">    </p:cNvPr>
          <p:cNvPicPr>
            <a:picLocks noChangeAspect="1"/>
          </p:cNvPicPr>
          <p:nvPr/>
        </p:nvPicPr>
        <p:blipFill>
          <a:blip r:embed="rId10"/>
          <a:stretch>
            <a:fillRect/>
          </a:stretch>
        </p:blipFill>
        <p:spPr>
          <a:xfrm>
            <a:off x="9891522" y="4313682"/>
            <a:ext cx="251460" cy="251460"/>
          </a:xfrm>
          <a:prstGeom prst="rect">
            <a:avLst/>
          </a:prstGeom>
        </p:spPr>
      </p:pic>
      <p:sp>
        <p:nvSpPr>
          <p:cNvPr id="69" name="Text 56"/>
          <p:cNvSpPr txBox="1"/>
          <p:nvPr/>
        </p:nvSpPr>
        <p:spPr>
          <a:xfrm>
            <a:off x="11064240" y="4187952"/>
            <a:ext cx="365760" cy="365760"/>
          </a:xfrm>
          <a:prstGeom prst="rect">
            <a:avLst/>
          </a:prstGeom>
          <a:noFill/>
          <a:ln/>
        </p:spPr>
        <p:txBody>
          <a:bodyPr wrap="square" lIns="0" tIns="0" rIns="0" bIns="0" rtlCol="0" anchor="t"/>
          <a:lstStyle/>
          <a:p>
            <a:pPr algn="r" indent="0" marL="0">
              <a:buNone/>
            </a:pPr>
            <a:r>
              <a:rPr lang="en-US" sz="1800" b="1" dirty="0">
                <a:solidFill>
                  <a:srgbClr val="C9D3E3"/>
                </a:solidFill>
                <a:latin typeface="Cambria" pitchFamily="34" charset="0"/>
                <a:ea typeface="Cambria" pitchFamily="34" charset="-122"/>
                <a:cs typeface="Cambria" pitchFamily="34" charset="-120"/>
              </a:rPr>
              <a:t>10</a:t>
            </a:r>
            <a:endParaRPr lang="en-US" sz="1800" dirty="0"/>
          </a:p>
        </p:txBody>
      </p:sp>
      <p:sp>
        <p:nvSpPr>
          <p:cNvPr id="70" name="Text 57"/>
          <p:cNvSpPr txBox="1"/>
          <p:nvPr/>
        </p:nvSpPr>
        <p:spPr>
          <a:xfrm>
            <a:off x="9765792" y="4800600"/>
            <a:ext cx="1682496" cy="457200"/>
          </a:xfrm>
          <a:prstGeom prst="rect">
            <a:avLst/>
          </a:prstGeom>
          <a:noFill/>
          <a:ln/>
        </p:spPr>
        <p:txBody>
          <a:bodyPr wrap="square" lIns="0" tIns="0" rIns="0" bIns="0" rtlCol="0" anchor="t"/>
          <a:lstStyle/>
          <a:p>
            <a:pPr indent="0" marL="0">
              <a:buNone/>
            </a:pPr>
            <a:r>
              <a:rPr lang="en-US" sz="1450" b="1" dirty="0">
                <a:solidFill>
                  <a:srgbClr val="1F3A6E"/>
                </a:solidFill>
              </a:rPr>
              <a:t>Results dashboard</a:t>
            </a:r>
            <a:endParaRPr lang="en-US" sz="1450" dirty="0"/>
          </a:p>
        </p:txBody>
      </p:sp>
      <p:sp>
        <p:nvSpPr>
          <p:cNvPr id="71" name="Text 58"/>
          <p:cNvSpPr txBox="1"/>
          <p:nvPr/>
        </p:nvSpPr>
        <p:spPr>
          <a:xfrm>
            <a:off x="9765792" y="5285232"/>
            <a:ext cx="1682496" cy="713232"/>
          </a:xfrm>
          <a:prstGeom prst="rect">
            <a:avLst/>
          </a:prstGeom>
          <a:noFill/>
          <a:ln/>
        </p:spPr>
        <p:txBody>
          <a:bodyPr wrap="square" lIns="0" tIns="0" rIns="0" bIns="0" rtlCol="0" anchor="t"/>
          <a:lstStyle/>
          <a:p>
            <a:pPr indent="0" marL="0">
              <a:buNone/>
            </a:pPr>
            <a:r>
              <a:rPr lang="en-US" sz="1200" dirty="0">
                <a:solidFill>
                  <a:srgbClr val="1B2A41"/>
                </a:solidFill>
              </a:rPr>
              <a:t>Aspect, evidence, rating, polarity, confidence, status</a:t>
            </a:r>
            <a:endParaRPr lang="en-US" sz="1200" dirty="0"/>
          </a:p>
        </p:txBody>
      </p:sp>
      <p:sp>
        <p:nvSpPr>
          <p:cNvPr id="72" name="Connector"/>
          <p:cNvSpPr/>
          <p:nvPr/>
        </p:nvSpPr>
        <p:spPr>
          <a:xfrm>
            <a:off x="10607040" y="3383280"/>
            <a:ext cx="0" cy="320040"/>
          </a:xfrm>
          <a:prstGeom prst="line">
            <a:avLst/>
          </a:prstGeom>
          <a:noFill/>
          <a:ln w="28575">
            <a:solidFill>
              <a:srgbClr val="0E9AA7"/>
            </a:solidFill>
            <a:prstDash val="solid"/>
          </a:ln>
        </p:spPr>
      </p:sp>
      <p:sp>
        <p:nvSpPr>
          <p:cNvPr id="73" name="Connector"/>
          <p:cNvSpPr/>
          <p:nvPr/>
        </p:nvSpPr>
        <p:spPr>
          <a:xfrm>
            <a:off x="1463040" y="3703320"/>
            <a:ext cx="9144000" cy="0"/>
          </a:xfrm>
          <a:prstGeom prst="line">
            <a:avLst/>
          </a:prstGeom>
          <a:noFill/>
          <a:ln w="28575">
            <a:solidFill>
              <a:srgbClr val="0E9AA7"/>
            </a:solidFill>
            <a:prstDash val="solid"/>
          </a:ln>
        </p:spPr>
      </p:sp>
      <p:sp>
        <p:nvSpPr>
          <p:cNvPr id="74" name="Connector"/>
          <p:cNvSpPr/>
          <p:nvPr/>
        </p:nvSpPr>
        <p:spPr>
          <a:xfrm>
            <a:off x="1463040" y="3703320"/>
            <a:ext cx="0" cy="301752"/>
          </a:xfrm>
          <a:prstGeom prst="line">
            <a:avLst/>
          </a:prstGeom>
          <a:noFill/>
          <a:ln w="28575">
            <a:solidFill>
              <a:srgbClr val="0E9AA7"/>
            </a:solidFill>
            <a:prstDash val="solid"/>
            <a:tailEnd type="triangle"/>
          </a:ln>
        </p:spPr>
      </p:sp>
      <p:sp>
        <p:nvSpPr>
          <p:cNvPr id="75" name="Text 62"/>
          <p:cNvSpPr txBox="1"/>
          <p:nvPr/>
        </p:nvSpPr>
        <p:spPr>
          <a:xfrm>
            <a:off x="457200" y="6172200"/>
            <a:ext cx="11274552" cy="256032"/>
          </a:xfrm>
          <a:prstGeom prst="rect">
            <a:avLst/>
          </a:prstGeom>
          <a:noFill/>
          <a:ln/>
        </p:spPr>
        <p:txBody>
          <a:bodyPr wrap="square" lIns="0" tIns="0" rIns="0" bIns="0" rtlCol="0" anchor="t"/>
          <a:lstStyle/>
          <a:p>
            <a:pPr indent="0" marL="0">
              <a:buNone/>
            </a:pPr>
            <a:r>
              <a:rPr lang="en-US" sz="1200" i="1" dirty="0">
                <a:solidFill>
                  <a:srgbClr val="5B6B84"/>
                </a:solidFill>
              </a:rPr>
              <a:t>Overall always uses the full review. Location and Cleanliness use aspect-specific text; the other targets use the full review (chosen on validation data).</a:t>
            </a:r>
            <a:endParaRPr lang="en-US" sz="12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Machine-learning models and selection</a:t>
            </a:r>
            <a:endParaRPr lang="en-US" sz="3000" dirty="0"/>
          </a:p>
        </p:txBody>
      </p:sp>
      <p:sp>
        <p:nvSpPr>
          <p:cNvPr id="4" name="Card"/>
          <p:cNvSpPr/>
          <p:nvPr/>
        </p:nvSpPr>
        <p:spPr>
          <a:xfrm>
            <a:off x="457200" y="1371600"/>
            <a:ext cx="3611880" cy="1874520"/>
          </a:xfrm>
          <a:prstGeom prst="roundRect">
            <a:avLst>
              <a:gd name="adj" fmla="val 5854"/>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Icon circle"/>
          <p:cNvSpPr/>
          <p:nvPr/>
        </p:nvSpPr>
        <p:spPr>
          <a:xfrm>
            <a:off x="640080" y="1508760"/>
            <a:ext cx="502920" cy="502920"/>
          </a:xfrm>
          <a:prstGeom prst="ellipse">
            <a:avLst/>
          </a:prstGeom>
          <a:solidFill>
            <a:srgbClr val="1F3A6E"/>
          </a:solidFill>
          <a:ln w="12700">
            <a:solidFill>
              <a:srgbClr val="1F3A6E"/>
            </a:solidFill>
            <a:prstDash val="solid"/>
          </a:ln>
        </p:spPr>
      </p:sp>
      <p:pic>
        <p:nvPicPr>
          <p:cNvPr id="6" name="Image 0" descr="FaPercent">    </p:cNvPr>
          <p:cNvPicPr>
            <a:picLocks noChangeAspect="1"/>
          </p:cNvPicPr>
          <p:nvPr/>
        </p:nvPicPr>
        <p:blipFill>
          <a:blip r:embed="rId1"/>
          <a:stretch>
            <a:fillRect/>
          </a:stretch>
        </p:blipFill>
        <p:spPr>
          <a:xfrm>
            <a:off x="765810" y="1634490"/>
            <a:ext cx="251460" cy="251460"/>
          </a:xfrm>
          <a:prstGeom prst="rect">
            <a:avLst/>
          </a:prstGeom>
        </p:spPr>
      </p:pic>
      <p:sp>
        <p:nvSpPr>
          <p:cNvPr id="7" name="Text 3"/>
          <p:cNvSpPr txBox="1"/>
          <p:nvPr/>
        </p:nvSpPr>
        <p:spPr>
          <a:xfrm>
            <a:off x="1280160" y="1536192"/>
            <a:ext cx="2697480" cy="457200"/>
          </a:xfrm>
          <a:prstGeom prst="rect">
            <a:avLst/>
          </a:prstGeom>
          <a:noFill/>
          <a:ln/>
        </p:spPr>
        <p:txBody>
          <a:bodyPr wrap="square" lIns="0" tIns="0" rIns="0" bIns="0" rtlCol="0" anchor="ctr"/>
          <a:lstStyle/>
          <a:p>
            <a:pPr indent="0" marL="0">
              <a:buNone/>
            </a:pPr>
            <a:r>
              <a:rPr lang="en-US" sz="1500" b="1" dirty="0">
                <a:solidFill>
                  <a:srgbClr val="1F3A6E"/>
                </a:solidFill>
              </a:rPr>
              <a:t>Multinomial Naive Bayes</a:t>
            </a:r>
            <a:endParaRPr lang="en-US" sz="1500" dirty="0"/>
          </a:p>
        </p:txBody>
      </p:sp>
      <p:sp>
        <p:nvSpPr>
          <p:cNvPr id="8" name="Text 4"/>
          <p:cNvSpPr txBox="1"/>
          <p:nvPr/>
        </p:nvSpPr>
        <p:spPr>
          <a:xfrm>
            <a:off x="640080" y="2148840"/>
            <a:ext cx="3246120" cy="274320"/>
          </a:xfrm>
          <a:prstGeom prst="rect">
            <a:avLst/>
          </a:prstGeom>
          <a:noFill/>
          <a:ln/>
        </p:spPr>
        <p:txBody>
          <a:bodyPr wrap="square" lIns="0" tIns="0" rIns="0" bIns="0" rtlCol="0" anchor="t"/>
          <a:lstStyle/>
          <a:p>
            <a:pPr indent="0" marL="0">
              <a:buNone/>
            </a:pPr>
            <a:r>
              <a:rPr lang="en-US" sz="1200" b="1" dirty="0">
                <a:solidFill>
                  <a:srgbClr val="1F3A6E"/>
                </a:solidFill>
              </a:rPr>
              <a:t>TF-IDF · 1–2-word phrases · α = 0.5</a:t>
            </a:r>
            <a:endParaRPr lang="en-US" sz="1200" dirty="0"/>
          </a:p>
        </p:txBody>
      </p:sp>
      <p:sp>
        <p:nvSpPr>
          <p:cNvPr id="9" name="Text 5"/>
          <p:cNvSpPr txBox="1"/>
          <p:nvPr/>
        </p:nvSpPr>
        <p:spPr>
          <a:xfrm>
            <a:off x="640080" y="2468880"/>
            <a:ext cx="3246120" cy="731520"/>
          </a:xfrm>
          <a:prstGeom prst="rect">
            <a:avLst/>
          </a:prstGeom>
          <a:noFill/>
          <a:ln/>
        </p:spPr>
        <p:txBody>
          <a:bodyPr wrap="square" lIns="0" tIns="0" rIns="0" bIns="0" rtlCol="0" anchor="t"/>
          <a:lstStyle/>
          <a:p>
            <a:pPr indent="0" marL="0">
              <a:buNone/>
            </a:pPr>
            <a:r>
              <a:rPr lang="en-US" sz="1300" dirty="0">
                <a:solidFill>
                  <a:srgbClr val="1B2A41"/>
                </a:solidFill>
              </a:rPr>
              <a:t>Probabilistic and fast; learns how likely each word is in each rating class.</a:t>
            </a:r>
            <a:endParaRPr lang="en-US" sz="1300" dirty="0"/>
          </a:p>
        </p:txBody>
      </p:sp>
      <p:sp>
        <p:nvSpPr>
          <p:cNvPr id="10" name="Card"/>
          <p:cNvSpPr/>
          <p:nvPr/>
        </p:nvSpPr>
        <p:spPr>
          <a:xfrm>
            <a:off x="4288536" y="1371600"/>
            <a:ext cx="3611880" cy="1874520"/>
          </a:xfrm>
          <a:prstGeom prst="roundRect">
            <a:avLst>
              <a:gd name="adj" fmla="val 5854"/>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1" name="Icon circle"/>
          <p:cNvSpPr/>
          <p:nvPr/>
        </p:nvSpPr>
        <p:spPr>
          <a:xfrm>
            <a:off x="4471416" y="1508760"/>
            <a:ext cx="502920" cy="502920"/>
          </a:xfrm>
          <a:prstGeom prst="ellipse">
            <a:avLst/>
          </a:prstGeom>
          <a:solidFill>
            <a:srgbClr val="0E9AA7"/>
          </a:solidFill>
          <a:ln w="12700">
            <a:solidFill>
              <a:srgbClr val="0E9AA7"/>
            </a:solidFill>
            <a:prstDash val="solid"/>
          </a:ln>
        </p:spPr>
      </p:sp>
      <p:pic>
        <p:nvPicPr>
          <p:cNvPr id="12" name="Image 1" descr="FaChartLine">    </p:cNvPr>
          <p:cNvPicPr>
            <a:picLocks noChangeAspect="1"/>
          </p:cNvPicPr>
          <p:nvPr/>
        </p:nvPicPr>
        <p:blipFill>
          <a:blip r:embed="rId2"/>
          <a:stretch>
            <a:fillRect/>
          </a:stretch>
        </p:blipFill>
        <p:spPr>
          <a:xfrm>
            <a:off x="4597146" y="1634490"/>
            <a:ext cx="251460" cy="251460"/>
          </a:xfrm>
          <a:prstGeom prst="rect">
            <a:avLst/>
          </a:prstGeom>
        </p:spPr>
      </p:pic>
      <p:sp>
        <p:nvSpPr>
          <p:cNvPr id="13" name="Text 8"/>
          <p:cNvSpPr txBox="1"/>
          <p:nvPr/>
        </p:nvSpPr>
        <p:spPr>
          <a:xfrm>
            <a:off x="5111496" y="1536192"/>
            <a:ext cx="2697480" cy="457200"/>
          </a:xfrm>
          <a:prstGeom prst="rect">
            <a:avLst/>
          </a:prstGeom>
          <a:noFill/>
          <a:ln/>
        </p:spPr>
        <p:txBody>
          <a:bodyPr wrap="square" lIns="0" tIns="0" rIns="0" bIns="0" rtlCol="0" anchor="ctr"/>
          <a:lstStyle/>
          <a:p>
            <a:pPr indent="0" marL="0">
              <a:buNone/>
            </a:pPr>
            <a:r>
              <a:rPr lang="en-US" sz="1500" b="1" dirty="0">
                <a:solidFill>
                  <a:srgbClr val="1F3A6E"/>
                </a:solidFill>
              </a:rPr>
              <a:t>Linear Support Vector Machine</a:t>
            </a:r>
            <a:endParaRPr lang="en-US" sz="1500" dirty="0"/>
          </a:p>
        </p:txBody>
      </p:sp>
      <p:sp>
        <p:nvSpPr>
          <p:cNvPr id="14" name="Text 9"/>
          <p:cNvSpPr txBox="1"/>
          <p:nvPr/>
        </p:nvSpPr>
        <p:spPr>
          <a:xfrm>
            <a:off x="4471416" y="2148840"/>
            <a:ext cx="3246120" cy="274320"/>
          </a:xfrm>
          <a:prstGeom prst="rect">
            <a:avLst/>
          </a:prstGeom>
          <a:noFill/>
          <a:ln/>
        </p:spPr>
        <p:txBody>
          <a:bodyPr wrap="square" lIns="0" tIns="0" rIns="0" bIns="0" rtlCol="0" anchor="t"/>
          <a:lstStyle/>
          <a:p>
            <a:pPr indent="0" marL="0">
              <a:buNone/>
            </a:pPr>
            <a:r>
              <a:rPr lang="en-US" sz="1200" b="1" dirty="0">
                <a:solidFill>
                  <a:srgbClr val="0B7F8A"/>
                </a:solidFill>
              </a:rPr>
              <a:t>Count vectors · C = 0.1 · balanced classes</a:t>
            </a:r>
            <a:endParaRPr lang="en-US" sz="1200" dirty="0"/>
          </a:p>
        </p:txBody>
      </p:sp>
      <p:sp>
        <p:nvSpPr>
          <p:cNvPr id="15" name="Text 10"/>
          <p:cNvSpPr txBox="1"/>
          <p:nvPr/>
        </p:nvSpPr>
        <p:spPr>
          <a:xfrm>
            <a:off x="4471416" y="2468880"/>
            <a:ext cx="3246120" cy="731520"/>
          </a:xfrm>
          <a:prstGeom prst="rect">
            <a:avLst/>
          </a:prstGeom>
          <a:noFill/>
          <a:ln/>
        </p:spPr>
        <p:txBody>
          <a:bodyPr wrap="square" lIns="0" tIns="0" rIns="0" bIns="0" rtlCol="0" anchor="t"/>
          <a:lstStyle/>
          <a:p>
            <a:pPr indent="0" marL="0">
              <a:buNone/>
            </a:pPr>
            <a:r>
              <a:rPr lang="en-US" sz="1300" dirty="0">
                <a:solidFill>
                  <a:srgbClr val="1B2A41"/>
                </a:solidFill>
              </a:rPr>
              <a:t>Finds the widest margin between classes; probabilities via sigmoid calibration.</a:t>
            </a:r>
            <a:endParaRPr lang="en-US" sz="1300" dirty="0"/>
          </a:p>
        </p:txBody>
      </p:sp>
      <p:sp>
        <p:nvSpPr>
          <p:cNvPr id="16" name="Card"/>
          <p:cNvSpPr/>
          <p:nvPr/>
        </p:nvSpPr>
        <p:spPr>
          <a:xfrm>
            <a:off x="8119872" y="1371600"/>
            <a:ext cx="3611880" cy="1874520"/>
          </a:xfrm>
          <a:prstGeom prst="roundRect">
            <a:avLst>
              <a:gd name="adj" fmla="val 5854"/>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7" name="Icon circle"/>
          <p:cNvSpPr/>
          <p:nvPr/>
        </p:nvSpPr>
        <p:spPr>
          <a:xfrm>
            <a:off x="8302752" y="1508760"/>
            <a:ext cx="502920" cy="502920"/>
          </a:xfrm>
          <a:prstGeom prst="ellipse">
            <a:avLst/>
          </a:prstGeom>
          <a:solidFill>
            <a:srgbClr val="E8604C"/>
          </a:solidFill>
          <a:ln w="12700">
            <a:solidFill>
              <a:srgbClr val="E8604C"/>
            </a:solidFill>
            <a:prstDash val="solid"/>
          </a:ln>
        </p:spPr>
      </p:sp>
      <p:pic>
        <p:nvPicPr>
          <p:cNvPr id="18" name="Image 2" descr="FaBalanceScale">    </p:cNvPr>
          <p:cNvPicPr>
            <a:picLocks noChangeAspect="1"/>
          </p:cNvPicPr>
          <p:nvPr/>
        </p:nvPicPr>
        <p:blipFill>
          <a:blip r:embed="rId3"/>
          <a:stretch>
            <a:fillRect/>
          </a:stretch>
        </p:blipFill>
        <p:spPr>
          <a:xfrm>
            <a:off x="8428482" y="1634490"/>
            <a:ext cx="251460" cy="251460"/>
          </a:xfrm>
          <a:prstGeom prst="rect">
            <a:avLst/>
          </a:prstGeom>
        </p:spPr>
      </p:pic>
      <p:sp>
        <p:nvSpPr>
          <p:cNvPr id="19" name="Text 13"/>
          <p:cNvSpPr txBox="1"/>
          <p:nvPr/>
        </p:nvSpPr>
        <p:spPr>
          <a:xfrm>
            <a:off x="8942832" y="1536192"/>
            <a:ext cx="2697480" cy="457200"/>
          </a:xfrm>
          <a:prstGeom prst="rect">
            <a:avLst/>
          </a:prstGeom>
          <a:noFill/>
          <a:ln/>
        </p:spPr>
        <p:txBody>
          <a:bodyPr wrap="square" lIns="0" tIns="0" rIns="0" bIns="0" rtlCol="0" anchor="ctr"/>
          <a:lstStyle/>
          <a:p>
            <a:pPr indent="0" marL="0">
              <a:buNone/>
            </a:pPr>
            <a:r>
              <a:rPr lang="en-US" sz="1500" b="1" dirty="0">
                <a:solidFill>
                  <a:srgbClr val="1F3A6E"/>
                </a:solidFill>
              </a:rPr>
              <a:t>Logistic Regression</a:t>
            </a:r>
            <a:endParaRPr lang="en-US" sz="1500" dirty="0"/>
          </a:p>
        </p:txBody>
      </p:sp>
      <p:sp>
        <p:nvSpPr>
          <p:cNvPr id="20" name="Text 14"/>
          <p:cNvSpPr txBox="1"/>
          <p:nvPr/>
        </p:nvSpPr>
        <p:spPr>
          <a:xfrm>
            <a:off x="8302752" y="2148840"/>
            <a:ext cx="3246120" cy="274320"/>
          </a:xfrm>
          <a:prstGeom prst="rect">
            <a:avLst/>
          </a:prstGeom>
          <a:noFill/>
          <a:ln/>
        </p:spPr>
        <p:txBody>
          <a:bodyPr wrap="square" lIns="0" tIns="0" rIns="0" bIns="0" rtlCol="0" anchor="t"/>
          <a:lstStyle/>
          <a:p>
            <a:pPr indent="0" marL="0">
              <a:buNone/>
            </a:pPr>
            <a:r>
              <a:rPr lang="en-US" sz="1200" b="1" dirty="0">
                <a:solidFill>
                  <a:srgbClr val="C4402D"/>
                </a:solidFill>
              </a:rPr>
              <a:t>TF-IDF · C = 4 · balanced classes</a:t>
            </a:r>
            <a:endParaRPr lang="en-US" sz="1200" dirty="0"/>
          </a:p>
        </p:txBody>
      </p:sp>
      <p:sp>
        <p:nvSpPr>
          <p:cNvPr id="21" name="Text 15"/>
          <p:cNvSpPr txBox="1"/>
          <p:nvPr/>
        </p:nvSpPr>
        <p:spPr>
          <a:xfrm>
            <a:off x="8302752" y="2468880"/>
            <a:ext cx="3246120" cy="731520"/>
          </a:xfrm>
          <a:prstGeom prst="rect">
            <a:avLst/>
          </a:prstGeom>
          <a:noFill/>
          <a:ln/>
        </p:spPr>
        <p:txBody>
          <a:bodyPr wrap="square" lIns="0" tIns="0" rIns="0" bIns="0" rtlCol="0" anchor="t"/>
          <a:lstStyle/>
          <a:p>
            <a:pPr indent="0" marL="0">
              <a:buNone/>
            </a:pPr>
            <a:r>
              <a:rPr lang="en-US" sz="1300" dirty="0">
                <a:solidFill>
                  <a:srgbClr val="1B2A41"/>
                </a:solidFill>
              </a:rPr>
              <a:t>Learns a weight for each word or phrase to estimate class probabilities.</a:t>
            </a:r>
            <a:endParaRPr lang="en-US" sz="1300" dirty="0"/>
          </a:p>
        </p:txBody>
      </p:sp>
      <p:sp>
        <p:nvSpPr>
          <p:cNvPr id="22" name="Card"/>
          <p:cNvSpPr/>
          <p:nvPr/>
        </p:nvSpPr>
        <p:spPr>
          <a:xfrm>
            <a:off x="457200" y="3429000"/>
            <a:ext cx="5120640" cy="2880360"/>
          </a:xfrm>
          <a:prstGeom prst="roundRect">
            <a:avLst>
              <a:gd name="adj" fmla="val 381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3" name="Text 17"/>
          <p:cNvSpPr txBox="1"/>
          <p:nvPr/>
        </p:nvSpPr>
        <p:spPr>
          <a:xfrm>
            <a:off x="658368" y="3538728"/>
            <a:ext cx="4754880" cy="274320"/>
          </a:xfrm>
          <a:prstGeom prst="rect">
            <a:avLst/>
          </a:prstGeom>
          <a:noFill/>
          <a:ln/>
        </p:spPr>
        <p:txBody>
          <a:bodyPr wrap="square" lIns="0" tIns="0" rIns="0" bIns="0" rtlCol="0" anchor="t"/>
          <a:lstStyle/>
          <a:p>
            <a:pPr indent="0" marL="0">
              <a:buNone/>
            </a:pPr>
            <a:r>
              <a:rPr lang="en-US" sz="1500" b="1" dirty="0">
                <a:solidFill>
                  <a:srgbClr val="1F3A6E"/>
                </a:solidFill>
              </a:rPr>
              <a:t>Count vectors vs TF-IDF</a:t>
            </a:r>
            <a:endParaRPr lang="en-US" sz="1500" dirty="0"/>
          </a:p>
        </p:txBody>
      </p:sp>
      <p:sp>
        <p:nvSpPr>
          <p:cNvPr id="24" name="Text 18"/>
          <p:cNvSpPr txBox="1"/>
          <p:nvPr/>
        </p:nvSpPr>
        <p:spPr>
          <a:xfrm>
            <a:off x="658368" y="3840480"/>
            <a:ext cx="4754880" cy="274320"/>
          </a:xfrm>
          <a:prstGeom prst="rect">
            <a:avLst/>
          </a:prstGeom>
          <a:noFill/>
          <a:ln/>
        </p:spPr>
        <p:txBody>
          <a:bodyPr wrap="square" lIns="0" tIns="0" rIns="0" bIns="0" rtlCol="0" anchor="t"/>
          <a:lstStyle/>
          <a:p>
            <a:pPr indent="0" marL="0">
              <a:buNone/>
            </a:pPr>
            <a:r>
              <a:rPr lang="en-US" sz="1300" dirty="0">
                <a:solidFill>
                  <a:srgbClr val="5B6B84"/>
                </a:solidFill>
              </a:rPr>
              <a:t>Review: </a:t>
            </a:r>
            <a:pPr indent="0" marL="0">
              <a:buNone/>
            </a:pPr>
            <a:r>
              <a:rPr lang="en-US" sz="1300" b="1" i="1" dirty="0">
                <a:solidFill>
                  <a:srgbClr val="1B2A41"/>
                </a:solidFill>
              </a:rPr>
              <a:t>“great room, dirty room”</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 y="4206240"/>
          <a:ext cx="4718304" cy="914400"/>
        </p:xfrm>
        <a:graphic>
          <a:graphicData uri="http://schemas.openxmlformats.org/drawingml/2006/table">
            <a:tbl>
              <a:tblPr/>
              <a:tblGrid>
                <a:gridCol w="822960"/>
                <a:gridCol w="731520"/>
                <a:gridCol w="3163824"/>
              </a:tblGrid>
              <a:tr h="329184">
                <a:tc>
                  <a:txBody>
                    <a:bodyPr/>
                    <a:lstStyle/>
                    <a:p>
                      <a:pPr indent="0" marL="0">
                        <a:buNone/>
                      </a:pPr>
                      <a:r>
                        <a:rPr lang="en-US" sz="1200" b="1" dirty="0">
                          <a:solidFill>
                            <a:srgbClr val="FFFFFF"/>
                          </a:solidFill>
                        </a:rPr>
                        <a:t>Word</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c>
                  <a:txBody>
                    <a:bodyPr/>
                    <a:lstStyle/>
                    <a:p>
                      <a:pPr algn="ctr" indent="0" marL="0">
                        <a:buNone/>
                      </a:pPr>
                      <a:r>
                        <a:rPr lang="en-US" sz="1200" b="1" dirty="0">
                          <a:solidFill>
                            <a:srgbClr val="FFFFFF"/>
                          </a:solidFill>
                        </a:rPr>
                        <a:t>Count</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c>
                  <a:txBody>
                    <a:bodyPr/>
                    <a:lstStyle/>
                    <a:p>
                      <a:pPr indent="0" marL="0">
                        <a:buNone/>
                      </a:pPr>
                      <a:r>
                        <a:rPr lang="en-US" sz="1200" b="1" dirty="0">
                          <a:solidFill>
                            <a:srgbClr val="FFFFFF"/>
                          </a:solidFill>
                        </a:rPr>
                        <a:t>TF-IDF idea</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r>
              <a:tr h="329184">
                <a:tc>
                  <a:txBody>
                    <a:bodyPr/>
                    <a:lstStyle/>
                    <a:p>
                      <a:pPr indent="0" marL="0">
                        <a:buNone/>
                      </a:pPr>
                      <a:r>
                        <a:rPr lang="en-US" sz="1200" dirty="0">
                          <a:solidFill>
                            <a:srgbClr val="1B2A41"/>
                          </a:solidFill>
                        </a:rPr>
                        <a:t>room</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200" dirty="0">
                          <a:solidFill>
                            <a:srgbClr val="1B2A41"/>
                          </a:solidFill>
                        </a:rPr>
                        <a:t>2</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200" dirty="0">
                          <a:solidFill>
                            <a:srgbClr val="1B2A41"/>
                          </a:solidFill>
                        </a:rPr>
                        <a:t>Common in hotel reviews → down-weighted</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329184">
                <a:tc>
                  <a:txBody>
                    <a:bodyPr/>
                    <a:lstStyle/>
                    <a:p>
                      <a:pPr indent="0" marL="0">
                        <a:buNone/>
                      </a:pPr>
                      <a:r>
                        <a:rPr lang="en-US" sz="1200" dirty="0">
                          <a:solidFill>
                            <a:srgbClr val="1B2A41"/>
                          </a:solidFill>
                        </a:rPr>
                        <a:t>dirty</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200" dirty="0">
                          <a:solidFill>
                            <a:srgbClr val="1B2A41"/>
                          </a:solidFill>
                        </a:rPr>
                        <a:t>1</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200" dirty="0">
                          <a:solidFill>
                            <a:srgbClr val="1B2A41"/>
                          </a:solidFill>
                        </a:rPr>
                        <a:t>Rarer and informative → up-weighted</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329184">
                <a:tc>
                  <a:txBody>
                    <a:bodyPr/>
                    <a:lstStyle/>
                    <a:p>
                      <a:pPr indent="0" marL="0">
                        <a:buNone/>
                      </a:pPr>
                      <a:r>
                        <a:rPr lang="en-US" sz="1200" dirty="0">
                          <a:solidFill>
                            <a:srgbClr val="1B2A41"/>
                          </a:solidFill>
                        </a:rPr>
                        <a:t>great</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200" dirty="0">
                          <a:solidFill>
                            <a:srgbClr val="1B2A41"/>
                          </a:solidFill>
                        </a:rPr>
                        <a:t>1</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200" dirty="0">
                          <a:solidFill>
                            <a:srgbClr val="1B2A41"/>
                          </a:solidFill>
                        </a:rPr>
                        <a:t>Moderate weight</a:t>
                      </a:r>
                      <a:endParaRPr lang="en-US" sz="1200" dirty="0"/>
                    </a:p>
                  </a:txBody>
                  <a:tcPr marL="73152" marR="73152"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bl>
          </a:graphicData>
        </a:graphic>
      </p:graphicFrame>
      <p:sp>
        <p:nvSpPr>
          <p:cNvPr id="26" name="Text 19"/>
          <p:cNvSpPr txBox="1"/>
          <p:nvPr/>
        </p:nvSpPr>
        <p:spPr>
          <a:xfrm>
            <a:off x="658368" y="5623560"/>
            <a:ext cx="4754880" cy="594360"/>
          </a:xfrm>
          <a:prstGeom prst="rect">
            <a:avLst/>
          </a:prstGeom>
          <a:noFill/>
          <a:ln/>
        </p:spPr>
        <p:txBody>
          <a:bodyPr wrap="square" lIns="0" tIns="0" rIns="0" bIns="0" rtlCol="0" anchor="t"/>
          <a:lstStyle/>
          <a:p>
            <a:pPr indent="0" marL="0">
              <a:buNone/>
            </a:pPr>
            <a:r>
              <a:rPr lang="en-US" sz="1200" dirty="0">
                <a:solidFill>
                  <a:srgbClr val="5B6B84"/>
                </a:solidFill>
              </a:rPr>
              <a:t>Count vectors record how often a word appears. TF-IDF also scales each word by how rare it is across all reviews.</a:t>
            </a:r>
            <a:endParaRPr lang="en-US" sz="1200" dirty="0"/>
          </a:p>
        </p:txBody>
      </p:sp>
      <p:sp>
        <p:nvSpPr>
          <p:cNvPr id="27" name="Card"/>
          <p:cNvSpPr/>
          <p:nvPr/>
        </p:nvSpPr>
        <p:spPr>
          <a:xfrm>
            <a:off x="5760720" y="3429000"/>
            <a:ext cx="5971032" cy="2880360"/>
          </a:xfrm>
          <a:prstGeom prst="roundRect">
            <a:avLst>
              <a:gd name="adj" fmla="val 381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8" name="Text 21"/>
          <p:cNvSpPr txBox="1"/>
          <p:nvPr/>
        </p:nvSpPr>
        <p:spPr>
          <a:xfrm>
            <a:off x="5961888" y="3538728"/>
            <a:ext cx="5577840" cy="274320"/>
          </a:xfrm>
          <a:prstGeom prst="rect">
            <a:avLst/>
          </a:prstGeom>
          <a:noFill/>
          <a:ln/>
        </p:spPr>
        <p:txBody>
          <a:bodyPr wrap="square" lIns="0" tIns="0" rIns="0" bIns="0" rtlCol="0" anchor="t"/>
          <a:lstStyle/>
          <a:p>
            <a:pPr indent="0" marL="0">
              <a:buNone/>
            </a:pPr>
            <a:r>
              <a:rPr lang="en-US" sz="1500" b="1" dirty="0">
                <a:solidFill>
                  <a:srgbClr val="1F3A6E"/>
                </a:solidFill>
              </a:rPr>
              <a:t>Selected configuration per target (real data)</a:t>
            </a:r>
            <a:endParaRPr lang="en-US" sz="15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961888" y="3886200"/>
          <a:ext cx="5577840" cy="914400"/>
        </p:xfrm>
        <a:graphic>
          <a:graphicData uri="http://schemas.openxmlformats.org/drawingml/2006/table">
            <a:tbl>
              <a:tblPr/>
              <a:tblGrid>
                <a:gridCol w="1325880"/>
                <a:gridCol w="2240280"/>
                <a:gridCol w="1280160"/>
                <a:gridCol w="731520"/>
              </a:tblGrid>
              <a:tr h="246888">
                <a:tc>
                  <a:txBody>
                    <a:bodyPr/>
                    <a:lstStyle/>
                    <a:p>
                      <a:pPr algn="l" indent="0" marL="0">
                        <a:buNone/>
                      </a:pPr>
                      <a:r>
                        <a:rPr lang="en-US" sz="1150" b="1" dirty="0">
                          <a:solidFill>
                            <a:srgbClr val="FFFFFF"/>
                          </a:solidFill>
                        </a:rPr>
                        <a:t>Target</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c>
                  <a:txBody>
                    <a:bodyPr/>
                    <a:lstStyle/>
                    <a:p>
                      <a:pPr algn="l" indent="0" marL="0">
                        <a:buNone/>
                      </a:pPr>
                      <a:r>
                        <a:rPr lang="en-US" sz="1150" b="1" dirty="0">
                          <a:solidFill>
                            <a:srgbClr val="FFFFFF"/>
                          </a:solidFill>
                        </a:rPr>
                        <a:t>Model</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c>
                  <a:txBody>
                    <a:bodyPr/>
                    <a:lstStyle/>
                    <a:p>
                      <a:pPr algn="l" indent="0" marL="0">
                        <a:buNone/>
                      </a:pPr>
                      <a:r>
                        <a:rPr lang="en-US" sz="1150" b="1" dirty="0">
                          <a:solidFill>
                            <a:srgbClr val="FFFFFF"/>
                          </a:solidFill>
                        </a:rPr>
                        <a:t>Text</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c>
                  <a:txBody>
                    <a:bodyPr/>
                    <a:lstStyle/>
                    <a:p>
                      <a:pPr algn="ctr" indent="0" marL="0">
                        <a:buNone/>
                      </a:pPr>
                      <a:r>
                        <a:rPr lang="en-US" sz="1150" b="1" dirty="0">
                          <a:solidFill>
                            <a:srgbClr val="FFFFFF"/>
                          </a:solidFill>
                        </a:rPr>
                        <a:t>Val. F1</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solidFill>
                      <a:srgbClr val="1F3A6E"/>
                    </a:solidFill>
                  </a:tcPr>
                </a:tc>
              </a:tr>
              <a:tr h="246888">
                <a:tc>
                  <a:txBody>
                    <a:bodyPr/>
                    <a:lstStyle/>
                    <a:p>
                      <a:pPr indent="0" marL="0">
                        <a:buNone/>
                      </a:pPr>
                      <a:r>
                        <a:rPr lang="en-US" sz="1150" dirty="0">
                          <a:solidFill>
                            <a:srgbClr val="1B2A41"/>
                          </a:solidFill>
                        </a:rPr>
                        <a:t>Overall</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Naive Bayes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Full review</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0.666</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Service</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Logistic Regression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Full review</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0.635</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Rooms</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Logistic Regression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Full review</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0.588</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Location</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Logistic Regression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b="1" dirty="0">
                          <a:solidFill>
                            <a:srgbClr val="0B7F8A"/>
                          </a:solidFill>
                        </a:rPr>
                        <a:t>Aspect clause</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0.413</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Value</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Naive Bayes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Full review</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0.600</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Cleanliness</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Logistic Regression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b="1" dirty="0">
                          <a:solidFill>
                            <a:srgbClr val="0B7F8A"/>
                          </a:solidFill>
                        </a:rPr>
                        <a:t>Aspect clause</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0.567</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r h="246888">
                <a:tc>
                  <a:txBody>
                    <a:bodyPr/>
                    <a:lstStyle/>
                    <a:p>
                      <a:pPr indent="0" marL="0">
                        <a:buNone/>
                      </a:pPr>
                      <a:r>
                        <a:rPr lang="en-US" sz="1150" dirty="0">
                          <a:solidFill>
                            <a:srgbClr val="1B2A41"/>
                          </a:solidFill>
                        </a:rPr>
                        <a:t>Business Service</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Logistic Regression (TF-IDF)</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indent="0" marL="0">
                        <a:buNone/>
                      </a:pPr>
                      <a:r>
                        <a:rPr lang="en-US" sz="1150" dirty="0">
                          <a:solidFill>
                            <a:srgbClr val="1B2A41"/>
                          </a:solidFill>
                        </a:rPr>
                        <a:t>Full review</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c>
                  <a:txBody>
                    <a:bodyPr/>
                    <a:lstStyle/>
                    <a:p>
                      <a:pPr algn="ctr" indent="0" marL="0">
                        <a:buNone/>
                      </a:pPr>
                      <a:r>
                        <a:rPr lang="en-US" sz="1150" dirty="0">
                          <a:solidFill>
                            <a:srgbClr val="1B2A41"/>
                          </a:solidFill>
                        </a:rPr>
                        <a:t>0.548</a:t>
                      </a:r>
                      <a:endParaRPr lang="en-US" sz="1150" dirty="0"/>
                    </a:p>
                  </a:txBody>
                  <a:tcPr marL="64008" marR="64008" marT="0" marB="0" anchor="ctr">
                    <a:lnL w="9525" cap="flat" cmpd="sng" algn="ctr">
                      <a:solidFill>
                        <a:srgbClr val="D5DDEA"/>
                      </a:solidFill>
                      <a:prstDash val="solid"/>
                      <a:round/>
                      <a:headEnd type="none" w="med" len="med"/>
                      <a:tailEnd type="none" w="med" len="med"/>
                    </a:lnL>
                    <a:lnR w="9525" cap="flat" cmpd="sng" algn="ctr">
                      <a:solidFill>
                        <a:srgbClr val="D5DDEA"/>
                      </a:solidFill>
                      <a:prstDash val="solid"/>
                      <a:round/>
                      <a:headEnd type="none" w="med" len="med"/>
                      <a:tailEnd type="none" w="med" len="med"/>
                    </a:lnR>
                    <a:lnT w="9525" cap="flat" cmpd="sng" algn="ctr">
                      <a:solidFill>
                        <a:srgbClr val="D5DDEA"/>
                      </a:solidFill>
                      <a:prstDash val="solid"/>
                      <a:round/>
                      <a:headEnd type="none" w="med" len="med"/>
                      <a:tailEnd type="none" w="med" len="med"/>
                    </a:lnT>
                    <a:lnB w="9525" cap="flat" cmpd="sng" algn="ctr">
                      <a:solidFill>
                        <a:srgbClr val="D5DDEA"/>
                      </a:solidFill>
                      <a:prstDash val="solid"/>
                      <a:round/>
                      <a:headEnd type="none" w="med" len="med"/>
                      <a:tailEnd type="none" w="med" len="med"/>
                    </a:lnB>
                  </a:tcPr>
                </a:tc>
              </a:tr>
            </a:tbl>
          </a:graphicData>
        </a:graphic>
      </p:graphicFrame>
      <p:sp>
        <p:nvSpPr>
          <p:cNvPr id="30" name="Text 22"/>
          <p:cNvSpPr txBox="1"/>
          <p:nvPr/>
        </p:nvSpPr>
        <p:spPr>
          <a:xfrm>
            <a:off x="5961888" y="5943600"/>
            <a:ext cx="5577840" cy="347472"/>
          </a:xfrm>
          <a:prstGeom prst="rect">
            <a:avLst/>
          </a:prstGeom>
          <a:noFill/>
          <a:ln/>
        </p:spPr>
        <p:txBody>
          <a:bodyPr wrap="square" lIns="0" tIns="0" rIns="0" bIns="0" rtlCol="0" anchor="t"/>
          <a:lstStyle/>
          <a:p>
            <a:pPr indent="0" marL="0">
              <a:buNone/>
            </a:pPr>
            <a:r>
              <a:rPr lang="en-US" sz="1100" dirty="0">
                <a:solidFill>
                  <a:srgbClr val="5B6B84"/>
                </a:solidFill>
              </a:rPr>
              <a:t>Chosen on validation polarity macro-F1 (ties → star accuracy, full review, model name). Linear SVM competed on every target but won none on real data.</a:t>
            </a:r>
            <a:endParaRPr lang="en-US" sz="11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Full-review vs aspect-specific processing</a:t>
            </a:r>
            <a:endParaRPr lang="en-US" sz="3000" dirty="0"/>
          </a:p>
        </p:txBody>
      </p:sp>
      <p:sp>
        <p:nvSpPr>
          <p:cNvPr id="4" name="Card"/>
          <p:cNvSpPr/>
          <p:nvPr/>
        </p:nvSpPr>
        <p:spPr>
          <a:xfrm>
            <a:off x="457200" y="1371600"/>
            <a:ext cx="5532120" cy="2743200"/>
          </a:xfrm>
          <a:prstGeom prst="roundRect">
            <a:avLst>
              <a:gd name="adj" fmla="val 4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Pill"/>
          <p:cNvSpPr/>
          <p:nvPr/>
        </p:nvSpPr>
        <p:spPr>
          <a:xfrm>
            <a:off x="658368" y="1508760"/>
            <a:ext cx="2286000" cy="310896"/>
          </a:xfrm>
          <a:prstGeom prst="roundRect">
            <a:avLst>
              <a:gd name="adj" fmla="val 50000"/>
            </a:avLst>
          </a:prstGeom>
          <a:solidFill>
            <a:srgbClr val="1F3A6E"/>
          </a:solidFill>
          <a:ln w="12700">
            <a:solidFill>
              <a:srgbClr val="1F3A6E"/>
            </a:solidFill>
            <a:prstDash val="solid"/>
          </a:ln>
        </p:spPr>
      </p:sp>
      <p:sp>
        <p:nvSpPr>
          <p:cNvPr id="6" name="Text 3"/>
          <p:cNvSpPr txBox="1"/>
          <p:nvPr/>
        </p:nvSpPr>
        <p:spPr>
          <a:xfrm>
            <a:off x="658368" y="1508760"/>
            <a:ext cx="2286000" cy="310896"/>
          </a:xfrm>
          <a:prstGeom prst="rect">
            <a:avLst/>
          </a:prstGeom>
          <a:noFill/>
          <a:ln/>
        </p:spPr>
        <p:txBody>
          <a:bodyPr wrap="square" lIns="0" tIns="0" rIns="0" bIns="0" rtlCol="0" anchor="ctr"/>
          <a:lstStyle/>
          <a:p>
            <a:pPr algn="ctr" indent="0" marL="0">
              <a:buNone/>
            </a:pPr>
            <a:r>
              <a:rPr lang="en-US" sz="1200" b="1" dirty="0">
                <a:solidFill>
                  <a:srgbClr val="FFFFFF"/>
                </a:solidFill>
              </a:rPr>
              <a:t>Full-review processing</a:t>
            </a:r>
            <a:endParaRPr lang="en-US" sz="1200" dirty="0"/>
          </a:p>
        </p:txBody>
      </p:sp>
      <p:sp>
        <p:nvSpPr>
          <p:cNvPr id="7" name="Text 4"/>
          <p:cNvSpPr txBox="1"/>
          <p:nvPr/>
        </p:nvSpPr>
        <p:spPr>
          <a:xfrm>
            <a:off x="685800" y="1965960"/>
            <a:ext cx="5074920" cy="868680"/>
          </a:xfrm>
          <a:prstGeom prst="rect">
            <a:avLst/>
          </a:prstGeom>
          <a:noFill/>
          <a:ln/>
        </p:spPr>
        <p:txBody>
          <a:bodyPr wrap="square" lIns="0" tIns="0" rIns="0" bIns="0" rtlCol="0" anchor="t"/>
          <a:lstStyle/>
          <a:p>
            <a:pPr indent="0" marL="0">
              <a:buNone/>
            </a:pPr>
            <a:r>
              <a:rPr lang="en-US" sz="1600" b="1" dirty="0">
                <a:solidFill>
                  <a:srgbClr val="0B7F8A"/>
                </a:solidFill>
                <a:latin typeface="Cambria" pitchFamily="34" charset="0"/>
                <a:ea typeface="Cambria" pitchFamily="34" charset="-122"/>
                <a:cs typeface="Cambria" pitchFamily="34" charset="-120"/>
              </a:rPr>
              <a:t>The staff were friendly and helpful. </a:t>
            </a:r>
            <a:pPr indent="0" marL="0">
              <a:buNone/>
            </a:pPr>
            <a:r>
              <a:rPr lang="en-US" sz="1600" b="1" dirty="0">
                <a:solidFill>
                  <a:srgbClr val="C4402D"/>
                </a:solidFill>
                <a:latin typeface="Cambria" pitchFamily="34" charset="0"/>
                <a:ea typeface="Cambria" pitchFamily="34" charset="-122"/>
                <a:cs typeface="Cambria" pitchFamily="34" charset="-120"/>
              </a:rPr>
              <a:t>The room was dirty, </a:t>
            </a:r>
            <a:pPr indent="0" marL="0">
              <a:buNone/>
            </a:pPr>
            <a:r>
              <a:rPr lang="en-US" sz="1600" b="1" dirty="0">
                <a:solidFill>
                  <a:srgbClr val="0B7F8A"/>
                </a:solidFill>
                <a:latin typeface="Cambria" pitchFamily="34" charset="0"/>
                <a:ea typeface="Cambria" pitchFamily="34" charset="-122"/>
                <a:cs typeface="Cambria" pitchFamily="34" charset="-120"/>
              </a:rPr>
              <a:t>but the location was close to the station.</a:t>
            </a:r>
            <a:endParaRPr lang="en-US" sz="1600" dirty="0"/>
          </a:p>
        </p:txBody>
      </p:sp>
      <p:sp>
        <p:nvSpPr>
          <p:cNvPr id="8" name="Text 5"/>
          <p:cNvSpPr txBox="1"/>
          <p:nvPr/>
        </p:nvSpPr>
        <p:spPr>
          <a:xfrm>
            <a:off x="685800" y="2926080"/>
            <a:ext cx="5074920" cy="274320"/>
          </a:xfrm>
          <a:prstGeom prst="rect">
            <a:avLst/>
          </a:prstGeom>
          <a:noFill/>
          <a:ln/>
        </p:spPr>
        <p:txBody>
          <a:bodyPr wrap="square" lIns="0" tIns="0" rIns="0" bIns="0" rtlCol="0" anchor="t"/>
          <a:lstStyle/>
          <a:p>
            <a:pPr indent="0" marL="0">
              <a:buNone/>
            </a:pPr>
            <a:r>
              <a:rPr lang="en-US" sz="1300" b="1" dirty="0">
                <a:solidFill>
                  <a:srgbClr val="1F3A6E"/>
                </a:solidFill>
              </a:rPr>
              <a:t>Every clause reaches the model, whatever aspect is being rated.</a:t>
            </a:r>
            <a:endParaRPr lang="en-US" sz="1300" dirty="0"/>
          </a:p>
        </p:txBody>
      </p:sp>
      <p:sp>
        <p:nvSpPr>
          <p:cNvPr id="9" name="Text 6"/>
          <p:cNvSpPr txBox="1"/>
          <p:nvPr/>
        </p:nvSpPr>
        <p:spPr>
          <a:xfrm>
            <a:off x="685800" y="3291840"/>
            <a:ext cx="5074920" cy="640080"/>
          </a:xfrm>
          <a:prstGeom prst="rect">
            <a:avLst/>
          </a:prstGeom>
          <a:noFill/>
          <a:ln/>
        </p:spPr>
        <p:txBody>
          <a:bodyPr wrap="square" lIns="0" tIns="0" rIns="0" bIns="0" rtlCol="0" anchor="t"/>
          <a:lstStyle/>
          <a:p>
            <a:pPr indent="0" marL="0">
              <a:buNone/>
            </a:pPr>
            <a:r>
              <a:rPr lang="en-US" sz="1300" dirty="0">
                <a:solidFill>
                  <a:srgbClr val="1B2A41"/>
                </a:solidFill>
              </a:rPr>
              <a:t>Risk: praise for staff or a complaint about the room can bleed into the Location prediction.</a:t>
            </a:r>
            <a:endParaRPr lang="en-US" sz="1300" dirty="0"/>
          </a:p>
        </p:txBody>
      </p:sp>
      <p:sp>
        <p:nvSpPr>
          <p:cNvPr id="10" name="VS"/>
          <p:cNvSpPr/>
          <p:nvPr/>
        </p:nvSpPr>
        <p:spPr>
          <a:xfrm>
            <a:off x="5897880" y="2514600"/>
            <a:ext cx="411480" cy="411480"/>
          </a:xfrm>
          <a:prstGeom prst="ellipse">
            <a:avLst/>
          </a:prstGeom>
          <a:solidFill>
            <a:srgbClr val="E8604C"/>
          </a:solidFill>
          <a:ln w="25400">
            <a:solidFill>
              <a:srgbClr val="FFFFFF"/>
            </a:solidFill>
            <a:prstDash val="solid"/>
          </a:ln>
        </p:spPr>
      </p:sp>
      <p:sp>
        <p:nvSpPr>
          <p:cNvPr id="11" name="Text 8"/>
          <p:cNvSpPr txBox="1"/>
          <p:nvPr/>
        </p:nvSpPr>
        <p:spPr>
          <a:xfrm>
            <a:off x="5897880" y="25146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vs</a:t>
            </a:r>
            <a:endParaRPr lang="en-US" sz="1200" dirty="0"/>
          </a:p>
        </p:txBody>
      </p:sp>
      <p:sp>
        <p:nvSpPr>
          <p:cNvPr id="12" name="Card"/>
          <p:cNvSpPr/>
          <p:nvPr/>
        </p:nvSpPr>
        <p:spPr>
          <a:xfrm>
            <a:off x="6199632" y="1371600"/>
            <a:ext cx="5532120" cy="2743200"/>
          </a:xfrm>
          <a:prstGeom prst="roundRect">
            <a:avLst>
              <a:gd name="adj" fmla="val 4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3" name="Pill"/>
          <p:cNvSpPr/>
          <p:nvPr/>
        </p:nvSpPr>
        <p:spPr>
          <a:xfrm>
            <a:off x="6400800" y="1508760"/>
            <a:ext cx="2560320" cy="310896"/>
          </a:xfrm>
          <a:prstGeom prst="roundRect">
            <a:avLst>
              <a:gd name="adj" fmla="val 50000"/>
            </a:avLst>
          </a:prstGeom>
          <a:solidFill>
            <a:srgbClr val="0E9AA7"/>
          </a:solidFill>
          <a:ln w="12700">
            <a:solidFill>
              <a:srgbClr val="0E9AA7"/>
            </a:solidFill>
            <a:prstDash val="solid"/>
          </a:ln>
        </p:spPr>
      </p:sp>
      <p:sp>
        <p:nvSpPr>
          <p:cNvPr id="14" name="Text 11"/>
          <p:cNvSpPr txBox="1"/>
          <p:nvPr/>
        </p:nvSpPr>
        <p:spPr>
          <a:xfrm>
            <a:off x="6400800" y="1508760"/>
            <a:ext cx="2560320" cy="310896"/>
          </a:xfrm>
          <a:prstGeom prst="rect">
            <a:avLst/>
          </a:prstGeom>
          <a:noFill/>
          <a:ln/>
        </p:spPr>
        <p:txBody>
          <a:bodyPr wrap="square" lIns="0" tIns="0" rIns="0" bIns="0" rtlCol="0" anchor="ctr"/>
          <a:lstStyle/>
          <a:p>
            <a:pPr algn="ctr" indent="0" marL="0">
              <a:buNone/>
            </a:pPr>
            <a:r>
              <a:rPr lang="en-US" sz="1200" b="1" dirty="0">
                <a:solidFill>
                  <a:srgbClr val="FFFFFF"/>
                </a:solidFill>
              </a:rPr>
              <a:t>Aspect-specific processing</a:t>
            </a:r>
            <a:endParaRPr lang="en-US" sz="1200" dirty="0"/>
          </a:p>
        </p:txBody>
      </p:sp>
      <p:sp>
        <p:nvSpPr>
          <p:cNvPr id="15" name="Text 12"/>
          <p:cNvSpPr txBox="1"/>
          <p:nvPr/>
        </p:nvSpPr>
        <p:spPr>
          <a:xfrm>
            <a:off x="6428232" y="1965960"/>
            <a:ext cx="5074920" cy="868680"/>
          </a:xfrm>
          <a:prstGeom prst="rect">
            <a:avLst/>
          </a:prstGeom>
          <a:noFill/>
          <a:ln/>
        </p:spPr>
        <p:txBody>
          <a:bodyPr wrap="square" lIns="0" tIns="0" rIns="0" bIns="0" rtlCol="0" anchor="t"/>
          <a:lstStyle/>
          <a:p>
            <a:pPr indent="0" marL="0">
              <a:buNone/>
            </a:pPr>
            <a:r>
              <a:rPr lang="en-US" sz="1600" dirty="0">
                <a:solidFill>
                  <a:srgbClr val="A8B3C5"/>
                </a:solidFill>
                <a:latin typeface="Cambria" pitchFamily="34" charset="0"/>
                <a:ea typeface="Cambria" pitchFamily="34" charset="-122"/>
                <a:cs typeface="Cambria" pitchFamily="34" charset="-120"/>
              </a:rPr>
              <a:t>The staff were friendly and helpful. The room was dirty, </a:t>
            </a:r>
            <a:pPr indent="0" marL="0">
              <a:buNone/>
            </a:pPr>
            <a:r>
              <a:rPr lang="en-US" sz="1600" b="1" dirty="0">
                <a:solidFill>
                  <a:srgbClr val="0B7F8A"/>
                </a:solidFill>
                <a:highlight>
                  <a:srgbClr val="CFEFEC"/>
                </a:highlight>
                <a:latin typeface="Cambria" pitchFamily="34" charset="0"/>
                <a:ea typeface="Cambria" pitchFamily="34" charset="-122"/>
                <a:cs typeface="Cambria" pitchFamily="34" charset="-120"/>
              </a:rPr>
              <a:t>but the location was close to the station.</a:t>
            </a:r>
            <a:endParaRPr lang="en-US" sz="1600" dirty="0"/>
          </a:p>
        </p:txBody>
      </p:sp>
      <p:sp>
        <p:nvSpPr>
          <p:cNvPr id="16" name="Text 13"/>
          <p:cNvSpPr txBox="1"/>
          <p:nvPr/>
        </p:nvSpPr>
        <p:spPr>
          <a:xfrm>
            <a:off x="6428232" y="2926080"/>
            <a:ext cx="5074920" cy="274320"/>
          </a:xfrm>
          <a:prstGeom prst="rect">
            <a:avLst/>
          </a:prstGeom>
          <a:noFill/>
          <a:ln/>
        </p:spPr>
        <p:txBody>
          <a:bodyPr wrap="square" lIns="0" tIns="0" rIns="0" bIns="0" rtlCol="0" anchor="t"/>
          <a:lstStyle/>
          <a:p>
            <a:pPr indent="0" marL="0">
              <a:buNone/>
            </a:pPr>
            <a:r>
              <a:rPr lang="en-US" sz="1300" b="1" dirty="0">
                <a:solidFill>
                  <a:srgbClr val="1F3A6E"/>
                </a:solidFill>
              </a:rPr>
              <a:t>Location → </a:t>
            </a:r>
            <a:pPr indent="0" marL="0">
              <a:buNone/>
            </a:pPr>
            <a:r>
              <a:rPr lang="en-US" sz="1300" i="1" dirty="0">
                <a:solidFill>
                  <a:srgbClr val="1B2A41"/>
                </a:solidFill>
              </a:rPr>
              <a:t>“the location was close to the station.”</a:t>
            </a:r>
            <a:endParaRPr lang="en-US" sz="1300" dirty="0"/>
          </a:p>
        </p:txBody>
      </p:sp>
      <p:sp>
        <p:nvSpPr>
          <p:cNvPr id="17" name="Text 14"/>
          <p:cNvSpPr txBox="1"/>
          <p:nvPr/>
        </p:nvSpPr>
        <p:spPr>
          <a:xfrm>
            <a:off x="6428232" y="3246120"/>
            <a:ext cx="5074920" cy="274320"/>
          </a:xfrm>
          <a:prstGeom prst="rect">
            <a:avLst/>
          </a:prstGeom>
          <a:noFill/>
          <a:ln/>
        </p:spPr>
        <p:txBody>
          <a:bodyPr wrap="square" lIns="0" tIns="0" rIns="0" bIns="0" rtlCol="0" anchor="t"/>
          <a:lstStyle/>
          <a:p>
            <a:pPr indent="0" marL="0">
              <a:buNone/>
            </a:pPr>
            <a:r>
              <a:rPr lang="en-US" sz="1300" b="1" dirty="0">
                <a:solidFill>
                  <a:srgbClr val="1F3A6E"/>
                </a:solidFill>
              </a:rPr>
              <a:t>Cleanliness → </a:t>
            </a:r>
            <a:pPr indent="0" marL="0">
              <a:buNone/>
            </a:pPr>
            <a:r>
              <a:rPr lang="en-US" sz="1300" i="1" dirty="0">
                <a:solidFill>
                  <a:srgbClr val="1B2A41"/>
                </a:solidFill>
              </a:rPr>
              <a:t>“The room was dirty”</a:t>
            </a:r>
            <a:endParaRPr lang="en-US" sz="1300" dirty="0"/>
          </a:p>
        </p:txBody>
      </p:sp>
      <p:sp>
        <p:nvSpPr>
          <p:cNvPr id="18" name="Text 15"/>
          <p:cNvSpPr txBox="1"/>
          <p:nvPr/>
        </p:nvSpPr>
        <p:spPr>
          <a:xfrm>
            <a:off x="6428232" y="3657600"/>
            <a:ext cx="5074920" cy="274320"/>
          </a:xfrm>
          <a:prstGeom prst="rect">
            <a:avLst/>
          </a:prstGeom>
          <a:noFill/>
          <a:ln/>
        </p:spPr>
        <p:txBody>
          <a:bodyPr wrap="square" lIns="0" tIns="0" rIns="0" bIns="0" rtlCol="0" anchor="t"/>
          <a:lstStyle/>
          <a:p>
            <a:pPr indent="0" marL="0">
              <a:buNone/>
            </a:pPr>
            <a:r>
              <a:rPr lang="en-US" sz="1100" dirty="0">
                <a:solidFill>
                  <a:srgbClr val="5B6B84"/>
                </a:solidFill>
              </a:rPr>
              <a:t>Evidence shown as extracted by the app for this demo review.</a:t>
            </a:r>
            <a:endParaRPr lang="en-US" sz="1100" dirty="0"/>
          </a:p>
        </p:txBody>
      </p:sp>
      <p:sp>
        <p:nvSpPr>
          <p:cNvPr id="19" name="Card"/>
          <p:cNvSpPr/>
          <p:nvPr/>
        </p:nvSpPr>
        <p:spPr>
          <a:xfrm>
            <a:off x="457200" y="4297680"/>
            <a:ext cx="365760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0" name="Text 17"/>
          <p:cNvSpPr txBox="1"/>
          <p:nvPr/>
        </p:nvSpPr>
        <p:spPr>
          <a:xfrm>
            <a:off x="640080" y="4407408"/>
            <a:ext cx="3291840" cy="274320"/>
          </a:xfrm>
          <a:prstGeom prst="rect">
            <a:avLst/>
          </a:prstGeom>
          <a:noFill/>
          <a:ln/>
        </p:spPr>
        <p:txBody>
          <a:bodyPr wrap="square" lIns="0" tIns="0" rIns="0" bIns="0" rtlCol="0" anchor="t"/>
          <a:lstStyle/>
          <a:p>
            <a:pPr indent="0" marL="0">
              <a:buNone/>
            </a:pPr>
            <a:r>
              <a:rPr lang="en-US" sz="1400" b="1" dirty="0">
                <a:solidFill>
                  <a:srgbClr val="1F3A6E"/>
                </a:solidFill>
              </a:rPr>
              <a:t>Who uses which?</a:t>
            </a:r>
            <a:endParaRPr lang="en-US" sz="1400" dirty="0"/>
          </a:p>
        </p:txBody>
      </p:sp>
      <p:sp>
        <p:nvSpPr>
          <p:cNvPr id="21" name="Text 18"/>
          <p:cNvSpPr txBox="1"/>
          <p:nvPr/>
        </p:nvSpPr>
        <p:spPr>
          <a:xfrm>
            <a:off x="640080" y="4709160"/>
            <a:ext cx="3291840" cy="1554480"/>
          </a:xfrm>
          <a:prstGeom prst="rect">
            <a:avLst/>
          </a:prstGeom>
          <a:noFill/>
          <a:ln/>
        </p:spPr>
        <p:txBody>
          <a:bodyPr wrap="square" lIns="0" tIns="0" rIns="0" bIns="0" rtlCol="0" anchor="t"/>
          <a:lstStyle/>
          <a:p>
            <a:pPr indent="0" marL="0">
              <a:spcAft>
                <a:spcPts val="500"/>
              </a:spcAft>
              <a:buNone/>
            </a:pPr>
            <a:r>
              <a:rPr lang="en-US" sz="1250" b="1" dirty="0">
                <a:solidFill>
                  <a:srgbClr val="0B7F8A"/>
                </a:solidFill>
              </a:rPr>
              <a:t>Aspect clause: </a:t>
            </a:r>
            <a:pPr indent="0" marL="0">
              <a:spcAft>
                <a:spcPts val="500"/>
              </a:spcAft>
              <a:buNone/>
            </a:pPr>
            <a:r>
              <a:rPr lang="en-US" sz="1250" dirty="0">
                <a:solidFill>
                  <a:srgbClr val="1B2A41"/>
                </a:solidFill>
              </a:rPr>
              <a:t>Location, Cleanliness</a:t>
            </a:r>
            <a:endParaRPr lang="en-US" sz="1250" dirty="0"/>
          </a:p>
          <a:p>
            <a:pPr indent="0" marL="0">
              <a:spcAft>
                <a:spcPts val="500"/>
              </a:spcAft>
              <a:buNone/>
            </a:pPr>
            <a:r>
              <a:rPr lang="en-US" sz="1250" b="1" dirty="0">
                <a:solidFill>
                  <a:srgbClr val="1F3A6E"/>
                </a:solidFill>
              </a:rPr>
              <a:t>Full review: </a:t>
            </a:r>
            <a:pPr indent="0" marL="0">
              <a:spcAft>
                <a:spcPts val="500"/>
              </a:spcAft>
              <a:buNone/>
            </a:pPr>
            <a:r>
              <a:rPr lang="en-US" sz="1250" dirty="0">
                <a:solidFill>
                  <a:srgbClr val="1B2A41"/>
                </a:solidFill>
              </a:rPr>
              <a:t>Overall, Service, Rooms, Value, Business Service</a:t>
            </a:r>
            <a:endParaRPr lang="en-US" sz="1250" dirty="0"/>
          </a:p>
          <a:p>
            <a:pPr indent="0" marL="0">
              <a:spcAft>
                <a:spcPts val="500"/>
              </a:spcAft>
              <a:buNone/>
            </a:pPr>
            <a:r>
              <a:rPr lang="en-US" sz="1250" b="1" dirty="0">
                <a:solidFill>
                  <a:srgbClr val="C4402D"/>
                </a:solidFill>
              </a:rPr>
              <a:t>Fallback: </a:t>
            </a:r>
            <a:pPr indent="0" marL="0">
              <a:spcAft>
                <a:spcPts val="500"/>
              </a:spcAft>
              <a:buNone/>
            </a:pPr>
            <a:r>
              <a:rPr lang="en-US" sz="1250" dirty="0">
                <a:solidFill>
                  <a:srgbClr val="1B2A41"/>
                </a:solidFill>
              </a:rPr>
              <a:t>ambiguous routing or no explicit mention → whole review (e.g. 243 of 794 labelled Location training reviews).</a:t>
            </a:r>
            <a:endParaRPr lang="en-US" sz="1250" dirty="0"/>
          </a:p>
        </p:txBody>
      </p:sp>
      <p:sp>
        <p:nvSpPr>
          <p:cNvPr id="22" name="Card"/>
          <p:cNvSpPr/>
          <p:nvPr/>
        </p:nvSpPr>
        <p:spPr>
          <a:xfrm>
            <a:off x="4297680" y="4297680"/>
            <a:ext cx="374904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23" name="Chart 0" descr=""/>
          <p:cNvGraphicFramePr/>
          <p:nvPr/>
        </p:nvGraphicFramePr>
        <p:xfrm>
          <a:off x="4343400" y="4315968"/>
          <a:ext cx="3657600" cy="1965960"/>
        </p:xfrm>
        <a:graphic xmlns:a="http://schemas.openxmlformats.org/drawingml/2006/main">
          <a:graphicData uri="http://schemas.openxmlformats.org/drawingml/2006/chart">
            <c:chart xmlns:c="http://schemas.openxmlformats.org/drawingml/2006/chart" r:id="rId1"/>
          </a:graphicData>
        </a:graphic>
      </p:graphicFrame>
      <p:sp>
        <p:nvSpPr>
          <p:cNvPr id="24" name="Card"/>
          <p:cNvSpPr/>
          <p:nvPr/>
        </p:nvSpPr>
        <p:spPr>
          <a:xfrm>
            <a:off x="8229600" y="4297680"/>
            <a:ext cx="3502152" cy="2011680"/>
          </a:xfrm>
          <a:prstGeom prst="roundRect">
            <a:avLst>
              <a:gd name="adj" fmla="val 5455"/>
            </a:avLst>
          </a:prstGeom>
          <a:solidFill>
            <a:srgbClr val="FDF1DC"/>
          </a:solidFill>
          <a:ln w="12700">
            <a:solidFill>
              <a:srgbClr val="FFFFFF">
                <a:alpha val="0"/>
              </a:srgbClr>
            </a:solidFill>
            <a:prstDash val="solid"/>
          </a:ln>
        </p:spPr>
      </p:sp>
      <p:sp>
        <p:nvSpPr>
          <p:cNvPr id="25" name="Text 21"/>
          <p:cNvSpPr txBox="1"/>
          <p:nvPr/>
        </p:nvSpPr>
        <p:spPr>
          <a:xfrm>
            <a:off x="8412480" y="4407408"/>
            <a:ext cx="3154680" cy="274320"/>
          </a:xfrm>
          <a:prstGeom prst="rect">
            <a:avLst/>
          </a:prstGeom>
          <a:noFill/>
          <a:ln/>
        </p:spPr>
        <p:txBody>
          <a:bodyPr wrap="square" lIns="0" tIns="0" rIns="0" bIns="0" rtlCol="0" anchor="t"/>
          <a:lstStyle/>
          <a:p>
            <a:pPr indent="0" marL="0">
              <a:buNone/>
            </a:pPr>
            <a:r>
              <a:rPr lang="en-US" sz="1400" b="1" dirty="0">
                <a:solidFill>
                  <a:srgbClr val="8A5A00"/>
                </a:solidFill>
              </a:rPr>
              <a:t>Not always better</a:t>
            </a:r>
            <a:endParaRPr lang="en-US" sz="1400" dirty="0"/>
          </a:p>
        </p:txBody>
      </p:sp>
      <p:sp>
        <p:nvSpPr>
          <p:cNvPr id="26" name="Text 22"/>
          <p:cNvSpPr txBox="1"/>
          <p:nvPr/>
        </p:nvSpPr>
        <p:spPr>
          <a:xfrm>
            <a:off x="8412480" y="4709160"/>
            <a:ext cx="3154680" cy="1554480"/>
          </a:xfrm>
          <a:prstGeom prst="rect">
            <a:avLst/>
          </a:prstGeom>
          <a:noFill/>
          <a:ln/>
        </p:spPr>
        <p:txBody>
          <a:bodyPr wrap="square" lIns="0" tIns="0" rIns="0" bIns="0" rtlCol="0" anchor="t"/>
          <a:lstStyle/>
          <a:p>
            <a:pPr indent="0" marL="0">
              <a:buNone/>
            </a:pPr>
            <a:r>
              <a:rPr lang="en-US" sz="1250" dirty="0">
                <a:solidFill>
                  <a:srgbClr val="1B2A41"/>
                </a:solidFill>
              </a:rPr>
              <a:t>Cleanliness macro-F1 rose (0.539 → 0.566) but Location fell (0.423 → 0.383). Hotel-level bootstrap intervals for both changes include zero, so no improvement is claimed.</a:t>
            </a:r>
            <a:endParaRPr lang="en-US" sz="125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How we measure performance</a:t>
            </a:r>
            <a:endParaRPr lang="en-US" sz="3000" dirty="0"/>
          </a:p>
        </p:txBody>
      </p:sp>
      <p:sp>
        <p:nvSpPr>
          <p:cNvPr id="4" name="Pill"/>
          <p:cNvSpPr/>
          <p:nvPr/>
        </p:nvSpPr>
        <p:spPr>
          <a:xfrm>
            <a:off x="457200" y="1325880"/>
            <a:ext cx="5669280" cy="310896"/>
          </a:xfrm>
          <a:prstGeom prst="roundRect">
            <a:avLst>
              <a:gd name="adj" fmla="val 50000"/>
            </a:avLst>
          </a:prstGeom>
          <a:solidFill>
            <a:srgbClr val="0E9AA7"/>
          </a:solidFill>
          <a:ln w="12700">
            <a:solidFill>
              <a:srgbClr val="0E9AA7"/>
            </a:solidFill>
            <a:prstDash val="solid"/>
          </a:ln>
        </p:spPr>
      </p:sp>
      <p:sp>
        <p:nvSpPr>
          <p:cNvPr id="5" name="Text 2"/>
          <p:cNvSpPr txBox="1"/>
          <p:nvPr/>
        </p:nvSpPr>
        <p:spPr>
          <a:xfrm>
            <a:off x="457200" y="1325880"/>
            <a:ext cx="5669280" cy="310896"/>
          </a:xfrm>
          <a:prstGeom prst="rect">
            <a:avLst/>
          </a:prstGeom>
          <a:noFill/>
          <a:ln/>
        </p:spPr>
        <p:txBody>
          <a:bodyPr wrap="square" lIns="0" tIns="0" rIns="0" bIns="0" rtlCol="0" anchor="ctr"/>
          <a:lstStyle/>
          <a:p>
            <a:pPr algn="ctr" indent="0" marL="0">
              <a:buNone/>
            </a:pPr>
            <a:r>
              <a:rPr lang="en-US" sz="1200" b="1" dirty="0">
                <a:solidFill>
                  <a:srgbClr val="FFFFFF"/>
                </a:solidFill>
              </a:rPr>
              <a:t>POLARITY METRICS  ·  3 classes: negative / neutral / positive</a:t>
            </a:r>
            <a:endParaRPr lang="en-US" sz="1200" dirty="0"/>
          </a:p>
        </p:txBody>
      </p:sp>
      <p:sp>
        <p:nvSpPr>
          <p:cNvPr id="6" name="Card"/>
          <p:cNvSpPr/>
          <p:nvPr/>
        </p:nvSpPr>
        <p:spPr>
          <a:xfrm>
            <a:off x="457200" y="1737360"/>
            <a:ext cx="26974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7" name="Text 4"/>
          <p:cNvSpPr txBox="1"/>
          <p:nvPr/>
        </p:nvSpPr>
        <p:spPr>
          <a:xfrm>
            <a:off x="621792" y="1828800"/>
            <a:ext cx="2377440" cy="292608"/>
          </a:xfrm>
          <a:prstGeom prst="rect">
            <a:avLst/>
          </a:prstGeom>
          <a:noFill/>
          <a:ln/>
        </p:spPr>
        <p:txBody>
          <a:bodyPr wrap="square" lIns="0" tIns="0" rIns="0" bIns="0" rtlCol="0" anchor="t"/>
          <a:lstStyle/>
          <a:p>
            <a:pPr indent="0" marL="0">
              <a:buNone/>
            </a:pPr>
            <a:r>
              <a:rPr lang="en-US" sz="1600" b="1" dirty="0">
                <a:solidFill>
                  <a:srgbClr val="0B7F8A"/>
                </a:solidFill>
              </a:rPr>
              <a:t>Accuracy</a:t>
            </a:r>
            <a:endParaRPr lang="en-US" sz="1600" dirty="0"/>
          </a:p>
        </p:txBody>
      </p:sp>
      <p:sp>
        <p:nvSpPr>
          <p:cNvPr id="8" name="Text 5"/>
          <p:cNvSpPr txBox="1"/>
          <p:nvPr/>
        </p:nvSpPr>
        <p:spPr>
          <a:xfrm>
            <a:off x="621792" y="2157984"/>
            <a:ext cx="2377440" cy="713232"/>
          </a:xfrm>
          <a:prstGeom prst="rect">
            <a:avLst/>
          </a:prstGeom>
          <a:noFill/>
          <a:ln/>
        </p:spPr>
        <p:txBody>
          <a:bodyPr wrap="square" lIns="0" tIns="0" rIns="0" bIns="0" rtlCol="0" anchor="t"/>
          <a:lstStyle/>
          <a:p>
            <a:pPr indent="0" marL="0">
              <a:buNone/>
            </a:pPr>
            <a:r>
              <a:rPr lang="en-US" sz="1250" dirty="0">
                <a:solidFill>
                  <a:srgbClr val="1B2A41"/>
                </a:solidFill>
              </a:rPr>
              <a:t>Share of reviews whose polarity is predicted correctly.</a:t>
            </a:r>
            <a:endParaRPr lang="en-US" sz="1250" dirty="0"/>
          </a:p>
        </p:txBody>
      </p:sp>
      <p:sp>
        <p:nvSpPr>
          <p:cNvPr id="9" name="Example box"/>
          <p:cNvSpPr/>
          <p:nvPr/>
        </p:nvSpPr>
        <p:spPr>
          <a:xfrm>
            <a:off x="594360" y="3017520"/>
            <a:ext cx="2423160" cy="594360"/>
          </a:xfrm>
          <a:prstGeom prst="roundRect">
            <a:avLst>
              <a:gd name="adj" fmla="val 12308"/>
            </a:avLst>
          </a:prstGeom>
          <a:solidFill>
            <a:srgbClr val="E1F4F3"/>
          </a:solidFill>
          <a:ln w="12700">
            <a:solidFill>
              <a:srgbClr val="E1F4F3"/>
            </a:solidFill>
            <a:prstDash val="solid"/>
          </a:ln>
        </p:spPr>
      </p:sp>
      <p:sp>
        <p:nvSpPr>
          <p:cNvPr id="10" name="Text 7"/>
          <p:cNvSpPr txBox="1"/>
          <p:nvPr/>
        </p:nvSpPr>
        <p:spPr>
          <a:xfrm>
            <a:off x="658368" y="3017520"/>
            <a:ext cx="2286000" cy="594360"/>
          </a:xfrm>
          <a:prstGeom prst="rect">
            <a:avLst/>
          </a:prstGeom>
          <a:noFill/>
          <a:ln/>
        </p:spPr>
        <p:txBody>
          <a:bodyPr wrap="square" lIns="0" tIns="0" rIns="0" bIns="0" rtlCol="0" anchor="ctr"/>
          <a:lstStyle/>
          <a:p>
            <a:pPr indent="0" marL="0">
              <a:buNone/>
            </a:pPr>
            <a:r>
              <a:rPr lang="en-US" sz="1150" b="1" dirty="0">
                <a:solidFill>
                  <a:srgbClr val="1F3A6E"/>
                </a:solidFill>
              </a:rPr>
              <a:t>(136 + 40 + 100) / 370 = 74.6%</a:t>
            </a:r>
            <a:endParaRPr lang="en-US" sz="1150" dirty="0"/>
          </a:p>
        </p:txBody>
      </p:sp>
      <p:sp>
        <p:nvSpPr>
          <p:cNvPr id="11" name="Card"/>
          <p:cNvSpPr/>
          <p:nvPr/>
        </p:nvSpPr>
        <p:spPr>
          <a:xfrm>
            <a:off x="3305556" y="1737360"/>
            <a:ext cx="26974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2" name="Text 9"/>
          <p:cNvSpPr txBox="1"/>
          <p:nvPr/>
        </p:nvSpPr>
        <p:spPr>
          <a:xfrm>
            <a:off x="3470148" y="1828800"/>
            <a:ext cx="2377440" cy="292608"/>
          </a:xfrm>
          <a:prstGeom prst="rect">
            <a:avLst/>
          </a:prstGeom>
          <a:noFill/>
          <a:ln/>
        </p:spPr>
        <p:txBody>
          <a:bodyPr wrap="square" lIns="0" tIns="0" rIns="0" bIns="0" rtlCol="0" anchor="t"/>
          <a:lstStyle/>
          <a:p>
            <a:pPr indent="0" marL="0">
              <a:buNone/>
            </a:pPr>
            <a:r>
              <a:rPr lang="en-US" sz="1600" b="1" dirty="0">
                <a:solidFill>
                  <a:srgbClr val="0B7F8A"/>
                </a:solidFill>
              </a:rPr>
              <a:t>Precision</a:t>
            </a:r>
            <a:endParaRPr lang="en-US" sz="1600" dirty="0"/>
          </a:p>
        </p:txBody>
      </p:sp>
      <p:sp>
        <p:nvSpPr>
          <p:cNvPr id="13" name="Text 10"/>
          <p:cNvSpPr txBox="1"/>
          <p:nvPr/>
        </p:nvSpPr>
        <p:spPr>
          <a:xfrm>
            <a:off x="3470148" y="2157984"/>
            <a:ext cx="2377440" cy="713232"/>
          </a:xfrm>
          <a:prstGeom prst="rect">
            <a:avLst/>
          </a:prstGeom>
          <a:noFill/>
          <a:ln/>
        </p:spPr>
        <p:txBody>
          <a:bodyPr wrap="square" lIns="0" tIns="0" rIns="0" bIns="0" rtlCol="0" anchor="t"/>
          <a:lstStyle/>
          <a:p>
            <a:pPr indent="0" marL="0">
              <a:buNone/>
            </a:pPr>
            <a:r>
              <a:rPr lang="en-US" sz="1250" dirty="0">
                <a:solidFill>
                  <a:srgbClr val="1B2A41"/>
                </a:solidFill>
              </a:rPr>
              <a:t>Of reviews predicted as a class, how many truly belong to it.</a:t>
            </a:r>
            <a:endParaRPr lang="en-US" sz="1250" dirty="0"/>
          </a:p>
        </p:txBody>
      </p:sp>
      <p:sp>
        <p:nvSpPr>
          <p:cNvPr id="14" name="Example box"/>
          <p:cNvSpPr/>
          <p:nvPr/>
        </p:nvSpPr>
        <p:spPr>
          <a:xfrm>
            <a:off x="3442716" y="3017520"/>
            <a:ext cx="2423160" cy="594360"/>
          </a:xfrm>
          <a:prstGeom prst="roundRect">
            <a:avLst>
              <a:gd name="adj" fmla="val 12308"/>
            </a:avLst>
          </a:prstGeom>
          <a:solidFill>
            <a:srgbClr val="E1F4F3"/>
          </a:solidFill>
          <a:ln w="12700">
            <a:solidFill>
              <a:srgbClr val="E1F4F3"/>
            </a:solidFill>
            <a:prstDash val="solid"/>
          </a:ln>
        </p:spPr>
      </p:sp>
      <p:sp>
        <p:nvSpPr>
          <p:cNvPr id="15" name="Text 12"/>
          <p:cNvSpPr txBox="1"/>
          <p:nvPr/>
        </p:nvSpPr>
        <p:spPr>
          <a:xfrm>
            <a:off x="3506724" y="3017520"/>
            <a:ext cx="2286000" cy="594360"/>
          </a:xfrm>
          <a:prstGeom prst="rect">
            <a:avLst/>
          </a:prstGeom>
          <a:noFill/>
          <a:ln/>
        </p:spPr>
        <p:txBody>
          <a:bodyPr wrap="square" lIns="0" tIns="0" rIns="0" bIns="0" rtlCol="0" anchor="ctr"/>
          <a:lstStyle/>
          <a:p>
            <a:pPr indent="0" marL="0">
              <a:buNone/>
            </a:pPr>
            <a:r>
              <a:rPr lang="en-US" sz="1150" b="1" dirty="0">
                <a:solidFill>
                  <a:srgbClr val="1F3A6E"/>
                </a:solidFill>
              </a:rPr>
              <a:t>Negative: 136 of 164 predicted = 82.9%</a:t>
            </a:r>
            <a:endParaRPr lang="en-US" sz="1150" dirty="0"/>
          </a:p>
        </p:txBody>
      </p:sp>
      <p:sp>
        <p:nvSpPr>
          <p:cNvPr id="16" name="Card"/>
          <p:cNvSpPr/>
          <p:nvPr/>
        </p:nvSpPr>
        <p:spPr>
          <a:xfrm>
            <a:off x="6153912" y="1737360"/>
            <a:ext cx="26974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7" name="Text 14"/>
          <p:cNvSpPr txBox="1"/>
          <p:nvPr/>
        </p:nvSpPr>
        <p:spPr>
          <a:xfrm>
            <a:off x="6318504" y="1828800"/>
            <a:ext cx="2377440" cy="292608"/>
          </a:xfrm>
          <a:prstGeom prst="rect">
            <a:avLst/>
          </a:prstGeom>
          <a:noFill/>
          <a:ln/>
        </p:spPr>
        <p:txBody>
          <a:bodyPr wrap="square" lIns="0" tIns="0" rIns="0" bIns="0" rtlCol="0" anchor="t"/>
          <a:lstStyle/>
          <a:p>
            <a:pPr indent="0" marL="0">
              <a:buNone/>
            </a:pPr>
            <a:r>
              <a:rPr lang="en-US" sz="1600" b="1" dirty="0">
                <a:solidFill>
                  <a:srgbClr val="0B7F8A"/>
                </a:solidFill>
              </a:rPr>
              <a:t>Recall</a:t>
            </a:r>
            <a:endParaRPr lang="en-US" sz="1600" dirty="0"/>
          </a:p>
        </p:txBody>
      </p:sp>
      <p:sp>
        <p:nvSpPr>
          <p:cNvPr id="18" name="Text 15"/>
          <p:cNvSpPr txBox="1"/>
          <p:nvPr/>
        </p:nvSpPr>
        <p:spPr>
          <a:xfrm>
            <a:off x="6318504" y="2157984"/>
            <a:ext cx="2377440" cy="713232"/>
          </a:xfrm>
          <a:prstGeom prst="rect">
            <a:avLst/>
          </a:prstGeom>
          <a:noFill/>
          <a:ln/>
        </p:spPr>
        <p:txBody>
          <a:bodyPr wrap="square" lIns="0" tIns="0" rIns="0" bIns="0" rtlCol="0" anchor="t"/>
          <a:lstStyle/>
          <a:p>
            <a:pPr indent="0" marL="0">
              <a:buNone/>
            </a:pPr>
            <a:r>
              <a:rPr lang="en-US" sz="1250" dirty="0">
                <a:solidFill>
                  <a:srgbClr val="1B2A41"/>
                </a:solidFill>
              </a:rPr>
              <a:t>Of reviews truly in a class, how many were found.</a:t>
            </a:r>
            <a:endParaRPr lang="en-US" sz="1250" dirty="0"/>
          </a:p>
        </p:txBody>
      </p:sp>
      <p:sp>
        <p:nvSpPr>
          <p:cNvPr id="19" name="Example box"/>
          <p:cNvSpPr/>
          <p:nvPr/>
        </p:nvSpPr>
        <p:spPr>
          <a:xfrm>
            <a:off x="6291072" y="3017520"/>
            <a:ext cx="2423160" cy="594360"/>
          </a:xfrm>
          <a:prstGeom prst="roundRect">
            <a:avLst>
              <a:gd name="adj" fmla="val 12308"/>
            </a:avLst>
          </a:prstGeom>
          <a:solidFill>
            <a:srgbClr val="E1F4F3"/>
          </a:solidFill>
          <a:ln w="12700">
            <a:solidFill>
              <a:srgbClr val="E1F4F3"/>
            </a:solidFill>
            <a:prstDash val="solid"/>
          </a:ln>
        </p:spPr>
      </p:sp>
      <p:sp>
        <p:nvSpPr>
          <p:cNvPr id="20" name="Text 17"/>
          <p:cNvSpPr txBox="1"/>
          <p:nvPr/>
        </p:nvSpPr>
        <p:spPr>
          <a:xfrm>
            <a:off x="6355080" y="3017520"/>
            <a:ext cx="2286000" cy="594360"/>
          </a:xfrm>
          <a:prstGeom prst="rect">
            <a:avLst/>
          </a:prstGeom>
          <a:noFill/>
          <a:ln/>
        </p:spPr>
        <p:txBody>
          <a:bodyPr wrap="square" lIns="0" tIns="0" rIns="0" bIns="0" rtlCol="0" anchor="ctr"/>
          <a:lstStyle/>
          <a:p>
            <a:pPr indent="0" marL="0">
              <a:buNone/>
            </a:pPr>
            <a:r>
              <a:rPr lang="en-US" sz="1150" b="1" dirty="0">
                <a:solidFill>
                  <a:srgbClr val="1F3A6E"/>
                </a:solidFill>
              </a:rPr>
              <a:t>Negative: 136 of 170 true = 80.0%</a:t>
            </a:r>
            <a:endParaRPr lang="en-US" sz="1150" dirty="0"/>
          </a:p>
        </p:txBody>
      </p:sp>
      <p:sp>
        <p:nvSpPr>
          <p:cNvPr id="21" name="Card"/>
          <p:cNvSpPr/>
          <p:nvPr/>
        </p:nvSpPr>
        <p:spPr>
          <a:xfrm>
            <a:off x="9002268" y="1737360"/>
            <a:ext cx="2697480" cy="2011680"/>
          </a:xfrm>
          <a:prstGeom prst="roundRect">
            <a:avLst>
              <a:gd name="adj" fmla="val 5455"/>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2" name="Text 19"/>
          <p:cNvSpPr txBox="1"/>
          <p:nvPr/>
        </p:nvSpPr>
        <p:spPr>
          <a:xfrm>
            <a:off x="9166860" y="1828800"/>
            <a:ext cx="2377440" cy="292608"/>
          </a:xfrm>
          <a:prstGeom prst="rect">
            <a:avLst/>
          </a:prstGeom>
          <a:noFill/>
          <a:ln/>
        </p:spPr>
        <p:txBody>
          <a:bodyPr wrap="square" lIns="0" tIns="0" rIns="0" bIns="0" rtlCol="0" anchor="t"/>
          <a:lstStyle/>
          <a:p>
            <a:pPr indent="0" marL="0">
              <a:buNone/>
            </a:pPr>
            <a:r>
              <a:rPr lang="en-US" sz="1600" b="1" dirty="0">
                <a:solidFill>
                  <a:srgbClr val="0B7F8A"/>
                </a:solidFill>
              </a:rPr>
              <a:t>Macro-F1</a:t>
            </a:r>
            <a:endParaRPr lang="en-US" sz="1600" dirty="0"/>
          </a:p>
        </p:txBody>
      </p:sp>
      <p:sp>
        <p:nvSpPr>
          <p:cNvPr id="23" name="Text 20"/>
          <p:cNvSpPr txBox="1"/>
          <p:nvPr/>
        </p:nvSpPr>
        <p:spPr>
          <a:xfrm>
            <a:off x="9166860" y="2157984"/>
            <a:ext cx="2377440" cy="713232"/>
          </a:xfrm>
          <a:prstGeom prst="rect">
            <a:avLst/>
          </a:prstGeom>
          <a:noFill/>
          <a:ln/>
        </p:spPr>
        <p:txBody>
          <a:bodyPr wrap="square" lIns="0" tIns="0" rIns="0" bIns="0" rtlCol="0" anchor="t"/>
          <a:lstStyle/>
          <a:p>
            <a:pPr indent="0" marL="0">
              <a:buNone/>
            </a:pPr>
            <a:r>
              <a:rPr lang="en-US" sz="1250" dirty="0">
                <a:solidFill>
                  <a:srgbClr val="1B2A41"/>
                </a:solidFill>
              </a:rPr>
              <a:t>Per-class F1 (balance of precision and recall), averaged equally.</a:t>
            </a:r>
            <a:endParaRPr lang="en-US" sz="1250" dirty="0"/>
          </a:p>
        </p:txBody>
      </p:sp>
      <p:sp>
        <p:nvSpPr>
          <p:cNvPr id="24" name="Example box"/>
          <p:cNvSpPr/>
          <p:nvPr/>
        </p:nvSpPr>
        <p:spPr>
          <a:xfrm>
            <a:off x="9139428" y="3017520"/>
            <a:ext cx="2423160" cy="594360"/>
          </a:xfrm>
          <a:prstGeom prst="roundRect">
            <a:avLst>
              <a:gd name="adj" fmla="val 12308"/>
            </a:avLst>
          </a:prstGeom>
          <a:solidFill>
            <a:srgbClr val="E1F4F3"/>
          </a:solidFill>
          <a:ln w="12700">
            <a:solidFill>
              <a:srgbClr val="E1F4F3"/>
            </a:solidFill>
            <a:prstDash val="solid"/>
          </a:ln>
        </p:spPr>
      </p:sp>
      <p:sp>
        <p:nvSpPr>
          <p:cNvPr id="25" name="Text 22"/>
          <p:cNvSpPr txBox="1"/>
          <p:nvPr/>
        </p:nvSpPr>
        <p:spPr>
          <a:xfrm>
            <a:off x="9203436" y="3017520"/>
            <a:ext cx="2286000" cy="594360"/>
          </a:xfrm>
          <a:prstGeom prst="rect">
            <a:avLst/>
          </a:prstGeom>
          <a:noFill/>
          <a:ln/>
        </p:spPr>
        <p:txBody>
          <a:bodyPr wrap="square" lIns="0" tIns="0" rIns="0" bIns="0" rtlCol="0" anchor="ctr"/>
          <a:lstStyle/>
          <a:p>
            <a:pPr indent="0" marL="0">
              <a:buNone/>
            </a:pPr>
            <a:r>
              <a:rPr lang="en-US" sz="1150" b="1" dirty="0">
                <a:solidFill>
                  <a:srgbClr val="1F3A6E"/>
                </a:solidFill>
              </a:rPr>
              <a:t>Mean of 3 class F1 scores = 0.709</a:t>
            </a:r>
            <a:endParaRPr lang="en-US" sz="1150" dirty="0"/>
          </a:p>
        </p:txBody>
      </p:sp>
      <p:sp>
        <p:nvSpPr>
          <p:cNvPr id="26" name="Pill"/>
          <p:cNvSpPr/>
          <p:nvPr/>
        </p:nvSpPr>
        <p:spPr>
          <a:xfrm>
            <a:off x="457200" y="3931920"/>
            <a:ext cx="4206240" cy="310896"/>
          </a:xfrm>
          <a:prstGeom prst="roundRect">
            <a:avLst>
              <a:gd name="adj" fmla="val 50000"/>
            </a:avLst>
          </a:prstGeom>
          <a:solidFill>
            <a:srgbClr val="E8604C"/>
          </a:solidFill>
          <a:ln w="12700">
            <a:solidFill>
              <a:srgbClr val="E8604C"/>
            </a:solidFill>
            <a:prstDash val="solid"/>
          </a:ln>
        </p:spPr>
      </p:sp>
      <p:sp>
        <p:nvSpPr>
          <p:cNvPr id="27" name="Text 24"/>
          <p:cNvSpPr txBox="1"/>
          <p:nvPr/>
        </p:nvSpPr>
        <p:spPr>
          <a:xfrm>
            <a:off x="457200" y="3931920"/>
            <a:ext cx="4206240" cy="310896"/>
          </a:xfrm>
          <a:prstGeom prst="rect">
            <a:avLst/>
          </a:prstGeom>
          <a:noFill/>
          <a:ln/>
        </p:spPr>
        <p:txBody>
          <a:bodyPr wrap="square" lIns="0" tIns="0" rIns="0" bIns="0" rtlCol="0" anchor="ctr"/>
          <a:lstStyle/>
          <a:p>
            <a:pPr algn="ctr" indent="0" marL="0">
              <a:buNone/>
            </a:pPr>
            <a:r>
              <a:rPr lang="en-US" sz="1200" b="1" dirty="0">
                <a:solidFill>
                  <a:srgbClr val="FFFFFF"/>
                </a:solidFill>
              </a:rPr>
              <a:t>STAR METRICS  ·  5 classes: 1★ to 5★</a:t>
            </a:r>
            <a:endParaRPr lang="en-US" sz="1200" dirty="0"/>
          </a:p>
        </p:txBody>
      </p:sp>
      <p:sp>
        <p:nvSpPr>
          <p:cNvPr id="28" name="Card"/>
          <p:cNvSpPr/>
          <p:nvPr/>
        </p:nvSpPr>
        <p:spPr>
          <a:xfrm>
            <a:off x="457200" y="4343400"/>
            <a:ext cx="2697480" cy="1965960"/>
          </a:xfrm>
          <a:prstGeom prst="roundRect">
            <a:avLst>
              <a:gd name="adj" fmla="val 5581"/>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9" name="Text 26"/>
          <p:cNvSpPr txBox="1"/>
          <p:nvPr/>
        </p:nvSpPr>
        <p:spPr>
          <a:xfrm>
            <a:off x="621792" y="4434840"/>
            <a:ext cx="2377440" cy="292608"/>
          </a:xfrm>
          <a:prstGeom prst="rect">
            <a:avLst/>
          </a:prstGeom>
          <a:noFill/>
          <a:ln/>
        </p:spPr>
        <p:txBody>
          <a:bodyPr wrap="square" lIns="0" tIns="0" rIns="0" bIns="0" rtlCol="0" anchor="t"/>
          <a:lstStyle/>
          <a:p>
            <a:pPr indent="0" marL="0">
              <a:buNone/>
            </a:pPr>
            <a:r>
              <a:rPr lang="en-US" sz="1500" b="1" dirty="0">
                <a:solidFill>
                  <a:srgbClr val="C4402D"/>
                </a:solidFill>
              </a:rPr>
              <a:t>Exact-star accuracy</a:t>
            </a:r>
            <a:endParaRPr lang="en-US" sz="1500" dirty="0"/>
          </a:p>
        </p:txBody>
      </p:sp>
      <p:sp>
        <p:nvSpPr>
          <p:cNvPr id="30" name="Text 27"/>
          <p:cNvSpPr txBox="1"/>
          <p:nvPr/>
        </p:nvSpPr>
        <p:spPr>
          <a:xfrm>
            <a:off x="621792" y="4754880"/>
            <a:ext cx="2377440" cy="731520"/>
          </a:xfrm>
          <a:prstGeom prst="rect">
            <a:avLst/>
          </a:prstGeom>
          <a:noFill/>
          <a:ln/>
        </p:spPr>
        <p:txBody>
          <a:bodyPr wrap="square" lIns="0" tIns="0" rIns="0" bIns="0" rtlCol="0" anchor="t"/>
          <a:lstStyle/>
          <a:p>
            <a:pPr indent="0" marL="0">
              <a:buNone/>
            </a:pPr>
            <a:r>
              <a:rPr lang="en-US" sz="1250" dirty="0">
                <a:solidFill>
                  <a:srgbClr val="1B2A41"/>
                </a:solidFill>
              </a:rPr>
              <a:t>Share of reviews where the predicted star equals the true star.</a:t>
            </a:r>
            <a:endParaRPr lang="en-US" sz="1250" dirty="0"/>
          </a:p>
        </p:txBody>
      </p:sp>
      <p:sp>
        <p:nvSpPr>
          <p:cNvPr id="31" name="Example box"/>
          <p:cNvSpPr/>
          <p:nvPr/>
        </p:nvSpPr>
        <p:spPr>
          <a:xfrm>
            <a:off x="594360" y="5596128"/>
            <a:ext cx="2423160" cy="548640"/>
          </a:xfrm>
          <a:prstGeom prst="roundRect">
            <a:avLst>
              <a:gd name="adj" fmla="val 13333"/>
            </a:avLst>
          </a:prstGeom>
          <a:solidFill>
            <a:srgbClr val="FDEBE7"/>
          </a:solidFill>
          <a:ln w="12700">
            <a:solidFill>
              <a:srgbClr val="FDEBE7"/>
            </a:solidFill>
            <a:prstDash val="solid"/>
          </a:ln>
        </p:spPr>
      </p:sp>
      <p:sp>
        <p:nvSpPr>
          <p:cNvPr id="32" name="Text 29"/>
          <p:cNvSpPr txBox="1"/>
          <p:nvPr/>
        </p:nvSpPr>
        <p:spPr>
          <a:xfrm>
            <a:off x="658368" y="5596128"/>
            <a:ext cx="2286000" cy="548640"/>
          </a:xfrm>
          <a:prstGeom prst="rect">
            <a:avLst/>
          </a:prstGeom>
          <a:noFill/>
          <a:ln/>
        </p:spPr>
        <p:txBody>
          <a:bodyPr wrap="square" lIns="0" tIns="0" rIns="0" bIns="0" rtlCol="0" anchor="ctr"/>
          <a:lstStyle/>
          <a:p>
            <a:pPr indent="0" marL="0">
              <a:buNone/>
            </a:pPr>
            <a:r>
              <a:rPr lang="en-US" sz="1150" b="1" dirty="0">
                <a:solidFill>
                  <a:srgbClr val="1F3A6E"/>
                </a:solidFill>
              </a:rPr>
              <a:t>189 of 370 exactly right = 51.1%</a:t>
            </a:r>
            <a:endParaRPr lang="en-US" sz="1150" dirty="0"/>
          </a:p>
        </p:txBody>
      </p:sp>
      <p:sp>
        <p:nvSpPr>
          <p:cNvPr id="33" name="Card"/>
          <p:cNvSpPr/>
          <p:nvPr/>
        </p:nvSpPr>
        <p:spPr>
          <a:xfrm>
            <a:off x="3305556" y="4343400"/>
            <a:ext cx="2697480" cy="1965960"/>
          </a:xfrm>
          <a:prstGeom prst="roundRect">
            <a:avLst>
              <a:gd name="adj" fmla="val 5581"/>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4" name="Text 31"/>
          <p:cNvSpPr txBox="1"/>
          <p:nvPr/>
        </p:nvSpPr>
        <p:spPr>
          <a:xfrm>
            <a:off x="3470148" y="4434840"/>
            <a:ext cx="2377440" cy="292608"/>
          </a:xfrm>
          <a:prstGeom prst="rect">
            <a:avLst/>
          </a:prstGeom>
          <a:noFill/>
          <a:ln/>
        </p:spPr>
        <p:txBody>
          <a:bodyPr wrap="square" lIns="0" tIns="0" rIns="0" bIns="0" rtlCol="0" anchor="t"/>
          <a:lstStyle/>
          <a:p>
            <a:pPr indent="0" marL="0">
              <a:buNone/>
            </a:pPr>
            <a:r>
              <a:rPr lang="en-US" sz="1500" b="1" dirty="0">
                <a:solidFill>
                  <a:srgbClr val="C4402D"/>
                </a:solidFill>
              </a:rPr>
              <a:t>Within-one-star accuracy</a:t>
            </a:r>
            <a:endParaRPr lang="en-US" sz="1500" dirty="0"/>
          </a:p>
        </p:txBody>
      </p:sp>
      <p:sp>
        <p:nvSpPr>
          <p:cNvPr id="35" name="Text 32"/>
          <p:cNvSpPr txBox="1"/>
          <p:nvPr/>
        </p:nvSpPr>
        <p:spPr>
          <a:xfrm>
            <a:off x="3470148" y="4754880"/>
            <a:ext cx="2377440" cy="731520"/>
          </a:xfrm>
          <a:prstGeom prst="rect">
            <a:avLst/>
          </a:prstGeom>
          <a:noFill/>
          <a:ln/>
        </p:spPr>
        <p:txBody>
          <a:bodyPr wrap="square" lIns="0" tIns="0" rIns="0" bIns="0" rtlCol="0" anchor="t"/>
          <a:lstStyle/>
          <a:p>
            <a:pPr indent="0" marL="0">
              <a:buNone/>
            </a:pPr>
            <a:r>
              <a:rPr lang="en-US" sz="1250" dirty="0">
                <a:solidFill>
                  <a:srgbClr val="1B2A41"/>
                </a:solidFill>
              </a:rPr>
              <a:t>Share of predictions at most one star away from the truth.</a:t>
            </a:r>
            <a:endParaRPr lang="en-US" sz="1250" dirty="0"/>
          </a:p>
        </p:txBody>
      </p:sp>
      <p:sp>
        <p:nvSpPr>
          <p:cNvPr id="36" name="Example box"/>
          <p:cNvSpPr/>
          <p:nvPr/>
        </p:nvSpPr>
        <p:spPr>
          <a:xfrm>
            <a:off x="3442716" y="5596128"/>
            <a:ext cx="2423160" cy="548640"/>
          </a:xfrm>
          <a:prstGeom prst="roundRect">
            <a:avLst>
              <a:gd name="adj" fmla="val 13333"/>
            </a:avLst>
          </a:prstGeom>
          <a:solidFill>
            <a:srgbClr val="FDEBE7"/>
          </a:solidFill>
          <a:ln w="12700">
            <a:solidFill>
              <a:srgbClr val="FDEBE7"/>
            </a:solidFill>
            <a:prstDash val="solid"/>
          </a:ln>
        </p:spPr>
      </p:sp>
      <p:sp>
        <p:nvSpPr>
          <p:cNvPr id="37" name="Text 34"/>
          <p:cNvSpPr txBox="1"/>
          <p:nvPr/>
        </p:nvSpPr>
        <p:spPr>
          <a:xfrm>
            <a:off x="3506724" y="5596128"/>
            <a:ext cx="2286000" cy="548640"/>
          </a:xfrm>
          <a:prstGeom prst="rect">
            <a:avLst/>
          </a:prstGeom>
          <a:noFill/>
          <a:ln/>
        </p:spPr>
        <p:txBody>
          <a:bodyPr wrap="square" lIns="0" tIns="0" rIns="0" bIns="0" rtlCol="0" anchor="ctr"/>
          <a:lstStyle/>
          <a:p>
            <a:pPr indent="0" marL="0">
              <a:buNone/>
            </a:pPr>
            <a:r>
              <a:rPr lang="en-US" sz="1150" b="1" dirty="0">
                <a:solidFill>
                  <a:srgbClr val="1F3A6E"/>
                </a:solidFill>
              </a:rPr>
              <a:t>341 of 370 within ±1 star = 92.2%</a:t>
            </a:r>
            <a:endParaRPr lang="en-US" sz="1150" dirty="0"/>
          </a:p>
        </p:txBody>
      </p:sp>
      <p:sp>
        <p:nvSpPr>
          <p:cNvPr id="38" name="Card"/>
          <p:cNvSpPr/>
          <p:nvPr/>
        </p:nvSpPr>
        <p:spPr>
          <a:xfrm>
            <a:off x="6153912" y="4343400"/>
            <a:ext cx="2697480" cy="1965960"/>
          </a:xfrm>
          <a:prstGeom prst="roundRect">
            <a:avLst>
              <a:gd name="adj" fmla="val 5581"/>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9" name="Text 36"/>
          <p:cNvSpPr txBox="1"/>
          <p:nvPr/>
        </p:nvSpPr>
        <p:spPr>
          <a:xfrm>
            <a:off x="6318504" y="4434840"/>
            <a:ext cx="2377440" cy="292608"/>
          </a:xfrm>
          <a:prstGeom prst="rect">
            <a:avLst/>
          </a:prstGeom>
          <a:noFill/>
          <a:ln/>
        </p:spPr>
        <p:txBody>
          <a:bodyPr wrap="square" lIns="0" tIns="0" rIns="0" bIns="0" rtlCol="0" anchor="t"/>
          <a:lstStyle/>
          <a:p>
            <a:pPr indent="0" marL="0">
              <a:buNone/>
            </a:pPr>
            <a:r>
              <a:rPr lang="en-US" sz="1500" b="1" dirty="0">
                <a:solidFill>
                  <a:srgbClr val="C4402D"/>
                </a:solidFill>
              </a:rPr>
              <a:t>Mean Absolute Error</a:t>
            </a:r>
            <a:endParaRPr lang="en-US" sz="1500" dirty="0"/>
          </a:p>
        </p:txBody>
      </p:sp>
      <p:sp>
        <p:nvSpPr>
          <p:cNvPr id="40" name="Text 37"/>
          <p:cNvSpPr txBox="1"/>
          <p:nvPr/>
        </p:nvSpPr>
        <p:spPr>
          <a:xfrm>
            <a:off x="6318504" y="4754880"/>
            <a:ext cx="2377440" cy="731520"/>
          </a:xfrm>
          <a:prstGeom prst="rect">
            <a:avLst/>
          </a:prstGeom>
          <a:noFill/>
          <a:ln/>
        </p:spPr>
        <p:txBody>
          <a:bodyPr wrap="square" lIns="0" tIns="0" rIns="0" bIns="0" rtlCol="0" anchor="t"/>
          <a:lstStyle/>
          <a:p>
            <a:pPr indent="0" marL="0">
              <a:buNone/>
            </a:pPr>
            <a:r>
              <a:rPr lang="en-US" sz="1250" dirty="0">
                <a:solidFill>
                  <a:srgbClr val="1B2A41"/>
                </a:solidFill>
              </a:rPr>
              <a:t>Average gap between predicted and true stars (lower is better).</a:t>
            </a:r>
            <a:endParaRPr lang="en-US" sz="1250" dirty="0"/>
          </a:p>
        </p:txBody>
      </p:sp>
      <p:sp>
        <p:nvSpPr>
          <p:cNvPr id="41" name="Example box"/>
          <p:cNvSpPr/>
          <p:nvPr/>
        </p:nvSpPr>
        <p:spPr>
          <a:xfrm>
            <a:off x="6291072" y="5596128"/>
            <a:ext cx="2423160" cy="548640"/>
          </a:xfrm>
          <a:prstGeom prst="roundRect">
            <a:avLst>
              <a:gd name="adj" fmla="val 13333"/>
            </a:avLst>
          </a:prstGeom>
          <a:solidFill>
            <a:srgbClr val="FDEBE7"/>
          </a:solidFill>
          <a:ln w="12700">
            <a:solidFill>
              <a:srgbClr val="FDEBE7"/>
            </a:solidFill>
            <a:prstDash val="solid"/>
          </a:ln>
        </p:spPr>
      </p:sp>
      <p:sp>
        <p:nvSpPr>
          <p:cNvPr id="42" name="Text 39"/>
          <p:cNvSpPr txBox="1"/>
          <p:nvPr/>
        </p:nvSpPr>
        <p:spPr>
          <a:xfrm>
            <a:off x="6355080" y="5596128"/>
            <a:ext cx="2286000" cy="548640"/>
          </a:xfrm>
          <a:prstGeom prst="rect">
            <a:avLst/>
          </a:prstGeom>
          <a:noFill/>
          <a:ln/>
        </p:spPr>
        <p:txBody>
          <a:bodyPr wrap="square" lIns="0" tIns="0" rIns="0" bIns="0" rtlCol="0" anchor="ctr"/>
          <a:lstStyle/>
          <a:p>
            <a:pPr indent="0" marL="0">
              <a:buNone/>
            </a:pPr>
            <a:r>
              <a:rPr lang="en-US" sz="1150" b="1" dirty="0">
                <a:solidFill>
                  <a:srgbClr val="1F3A6E"/>
                </a:solidFill>
              </a:rPr>
              <a:t>Average gap = 0.608 stars</a:t>
            </a:r>
            <a:endParaRPr lang="en-US" sz="1150" dirty="0"/>
          </a:p>
        </p:txBody>
      </p:sp>
      <p:sp>
        <p:nvSpPr>
          <p:cNvPr id="43" name="Card"/>
          <p:cNvSpPr/>
          <p:nvPr/>
        </p:nvSpPr>
        <p:spPr>
          <a:xfrm>
            <a:off x="9002268" y="4343400"/>
            <a:ext cx="2697480" cy="1965960"/>
          </a:xfrm>
          <a:prstGeom prst="roundRect">
            <a:avLst>
              <a:gd name="adj" fmla="val 5581"/>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44" name="Text 41"/>
          <p:cNvSpPr txBox="1"/>
          <p:nvPr/>
        </p:nvSpPr>
        <p:spPr>
          <a:xfrm>
            <a:off x="9166860" y="4434840"/>
            <a:ext cx="2377440" cy="292608"/>
          </a:xfrm>
          <a:prstGeom prst="rect">
            <a:avLst/>
          </a:prstGeom>
          <a:noFill/>
          <a:ln/>
        </p:spPr>
        <p:txBody>
          <a:bodyPr wrap="square" lIns="0" tIns="0" rIns="0" bIns="0" rtlCol="0" anchor="t"/>
          <a:lstStyle/>
          <a:p>
            <a:pPr indent="0" marL="0">
              <a:buNone/>
            </a:pPr>
            <a:r>
              <a:rPr lang="en-US" sz="1500" b="1" dirty="0">
                <a:solidFill>
                  <a:srgbClr val="1F3A6E"/>
                </a:solidFill>
              </a:rPr>
              <a:t>Confusion matrix</a:t>
            </a:r>
            <a:endParaRPr lang="en-US" sz="1500" dirty="0"/>
          </a:p>
        </p:txBody>
      </p:sp>
      <p:sp>
        <p:nvSpPr>
          <p:cNvPr id="45" name="Text 42"/>
          <p:cNvSpPr txBox="1"/>
          <p:nvPr/>
        </p:nvSpPr>
        <p:spPr>
          <a:xfrm>
            <a:off x="9166860" y="4754880"/>
            <a:ext cx="2377440" cy="731520"/>
          </a:xfrm>
          <a:prstGeom prst="rect">
            <a:avLst/>
          </a:prstGeom>
          <a:noFill/>
          <a:ln/>
        </p:spPr>
        <p:txBody>
          <a:bodyPr wrap="square" lIns="0" tIns="0" rIns="0" bIns="0" rtlCol="0" anchor="t"/>
          <a:lstStyle/>
          <a:p>
            <a:pPr indent="0" marL="0">
              <a:buNone/>
            </a:pPr>
            <a:r>
              <a:rPr lang="en-US" sz="1250" dirty="0">
                <a:solidFill>
                  <a:srgbClr val="1B2A41"/>
                </a:solidFill>
              </a:rPr>
              <a:t>Table of true class (rows) versus predicted class (columns); the diagonal is correct.</a:t>
            </a:r>
            <a:endParaRPr lang="en-US" sz="1250" dirty="0"/>
          </a:p>
        </p:txBody>
      </p:sp>
      <p:sp>
        <p:nvSpPr>
          <p:cNvPr id="46" name="Example box"/>
          <p:cNvSpPr/>
          <p:nvPr/>
        </p:nvSpPr>
        <p:spPr>
          <a:xfrm>
            <a:off x="9139428" y="5596128"/>
            <a:ext cx="2423160" cy="548640"/>
          </a:xfrm>
          <a:prstGeom prst="roundRect">
            <a:avLst>
              <a:gd name="adj" fmla="val 13333"/>
            </a:avLst>
          </a:prstGeom>
          <a:solidFill>
            <a:srgbClr val="E6ECF6"/>
          </a:solidFill>
          <a:ln w="12700">
            <a:solidFill>
              <a:srgbClr val="E6ECF6"/>
            </a:solidFill>
            <a:prstDash val="solid"/>
          </a:ln>
        </p:spPr>
      </p:sp>
      <p:sp>
        <p:nvSpPr>
          <p:cNvPr id="47" name="Text 44"/>
          <p:cNvSpPr txBox="1"/>
          <p:nvPr/>
        </p:nvSpPr>
        <p:spPr>
          <a:xfrm>
            <a:off x="9203436" y="5596128"/>
            <a:ext cx="2286000" cy="548640"/>
          </a:xfrm>
          <a:prstGeom prst="rect">
            <a:avLst/>
          </a:prstGeom>
          <a:noFill/>
          <a:ln/>
        </p:spPr>
        <p:txBody>
          <a:bodyPr wrap="square" lIns="0" tIns="0" rIns="0" bIns="0" rtlCol="0" anchor="ctr"/>
          <a:lstStyle/>
          <a:p>
            <a:pPr indent="0" marL="0">
              <a:buNone/>
            </a:pPr>
            <a:r>
              <a:rPr lang="en-US" sz="1150" b="1" dirty="0">
                <a:solidFill>
                  <a:srgbClr val="1F3A6E"/>
                </a:solidFill>
              </a:rPr>
              <a:t>See slide 12 for the real matrix</a:t>
            </a:r>
            <a:endParaRPr lang="en-US" sz="1150" dirty="0"/>
          </a:p>
        </p:txBody>
      </p:sp>
      <p:sp>
        <p:nvSpPr>
          <p:cNvPr id="48" name="Text 45"/>
          <p:cNvSpPr txBox="1"/>
          <p:nvPr/>
        </p:nvSpPr>
        <p:spPr>
          <a:xfrm>
            <a:off x="4846320" y="3959352"/>
            <a:ext cx="6858000" cy="274320"/>
          </a:xfrm>
          <a:prstGeom prst="rect">
            <a:avLst/>
          </a:prstGeom>
          <a:noFill/>
          <a:ln/>
        </p:spPr>
        <p:txBody>
          <a:bodyPr wrap="square" lIns="0" tIns="0" rIns="0" bIns="0" rtlCol="0" anchor="t"/>
          <a:lstStyle/>
          <a:p>
            <a:pPr algn="r" indent="0" marL="0">
              <a:buNone/>
            </a:pPr>
            <a:r>
              <a:rPr lang="en-US" sz="1300" b="1" i="1" dirty="0">
                <a:solidFill>
                  <a:srgbClr val="C4402D"/>
                </a:solidFill>
              </a:rPr>
              <a:t>Polarity and star metrics are separate measurements — never interchangeable.</a:t>
            </a:r>
            <a:endParaRPr lang="en-US" sz="13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Overall results on the real test set</a:t>
            </a:r>
            <a:endParaRPr lang="en-US" sz="3000" dirty="0"/>
          </a:p>
        </p:txBody>
      </p:sp>
      <p:sp>
        <p:nvSpPr>
          <p:cNvPr id="4" name="Pill"/>
          <p:cNvSpPr/>
          <p:nvPr/>
        </p:nvSpPr>
        <p:spPr>
          <a:xfrm>
            <a:off x="457200" y="1325880"/>
            <a:ext cx="3657600" cy="292608"/>
          </a:xfrm>
          <a:prstGeom prst="roundRect">
            <a:avLst>
              <a:gd name="adj" fmla="val 50000"/>
            </a:avLst>
          </a:prstGeom>
          <a:solidFill>
            <a:srgbClr val="0E9AA7"/>
          </a:solidFill>
          <a:ln w="12700">
            <a:solidFill>
              <a:srgbClr val="0E9AA7"/>
            </a:solidFill>
            <a:prstDash val="solid"/>
          </a:ln>
        </p:spPr>
      </p:sp>
      <p:sp>
        <p:nvSpPr>
          <p:cNvPr id="5" name="Text 2"/>
          <p:cNvSpPr txBox="1"/>
          <p:nvPr/>
        </p:nvSpPr>
        <p:spPr>
          <a:xfrm>
            <a:off x="457200" y="1325880"/>
            <a:ext cx="3657600" cy="292608"/>
          </a:xfrm>
          <a:prstGeom prst="rect">
            <a:avLst/>
          </a:prstGeom>
          <a:noFill/>
          <a:ln/>
        </p:spPr>
        <p:txBody>
          <a:bodyPr wrap="square" lIns="0" tIns="0" rIns="0" bIns="0" rtlCol="0" anchor="ctr"/>
          <a:lstStyle/>
          <a:p>
            <a:pPr algn="ctr" indent="0" marL="0">
              <a:buNone/>
            </a:pPr>
            <a:r>
              <a:rPr lang="en-US" sz="1200" b="1" dirty="0">
                <a:solidFill>
                  <a:srgbClr val="FFFFFF"/>
                </a:solidFill>
              </a:rPr>
              <a:t>POLARITY  ·  negative / neutral / positive</a:t>
            </a:r>
            <a:endParaRPr lang="en-US" sz="1200" dirty="0"/>
          </a:p>
        </p:txBody>
      </p:sp>
      <p:sp>
        <p:nvSpPr>
          <p:cNvPr id="6" name="Card"/>
          <p:cNvSpPr/>
          <p:nvPr/>
        </p:nvSpPr>
        <p:spPr>
          <a:xfrm>
            <a:off x="457200" y="1691640"/>
            <a:ext cx="3429000" cy="1691640"/>
          </a:xfrm>
          <a:prstGeom prst="roundRect">
            <a:avLst>
              <a:gd name="adj" fmla="val 6486"/>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7" name="Text 4"/>
          <p:cNvSpPr txBox="1"/>
          <p:nvPr/>
        </p:nvSpPr>
        <p:spPr>
          <a:xfrm>
            <a:off x="640080" y="1801368"/>
            <a:ext cx="3063240" cy="777240"/>
          </a:xfrm>
          <a:prstGeom prst="rect">
            <a:avLst/>
          </a:prstGeom>
          <a:noFill/>
          <a:ln/>
        </p:spPr>
        <p:txBody>
          <a:bodyPr wrap="square" lIns="0" tIns="0" rIns="0" bIns="0" rtlCol="0" anchor="t"/>
          <a:lstStyle/>
          <a:p>
            <a:pPr indent="0" marL="0">
              <a:buNone/>
            </a:pPr>
            <a:r>
              <a:rPr lang="en-US" sz="4400" b="1" dirty="0">
                <a:solidFill>
                  <a:srgbClr val="0B7F8A"/>
                </a:solidFill>
                <a:latin typeface="Cambria" pitchFamily="34" charset="0"/>
                <a:ea typeface="Cambria" pitchFamily="34" charset="-122"/>
                <a:cs typeface="Cambria" pitchFamily="34" charset="-120"/>
              </a:rPr>
              <a:t>74.6%</a:t>
            </a:r>
            <a:endParaRPr lang="en-US" sz="4400" dirty="0"/>
          </a:p>
        </p:txBody>
      </p:sp>
      <p:sp>
        <p:nvSpPr>
          <p:cNvPr id="8" name="Text 5"/>
          <p:cNvSpPr txBox="1"/>
          <p:nvPr/>
        </p:nvSpPr>
        <p:spPr>
          <a:xfrm>
            <a:off x="640080" y="2587752"/>
            <a:ext cx="3063240" cy="274320"/>
          </a:xfrm>
          <a:prstGeom prst="rect">
            <a:avLst/>
          </a:prstGeom>
          <a:noFill/>
          <a:ln/>
        </p:spPr>
        <p:txBody>
          <a:bodyPr wrap="square" lIns="0" tIns="0" rIns="0" bIns="0" rtlCol="0" anchor="t"/>
          <a:lstStyle/>
          <a:p>
            <a:pPr indent="0" marL="0">
              <a:buNone/>
            </a:pPr>
            <a:r>
              <a:rPr lang="en-US" sz="1400" b="1" dirty="0">
                <a:solidFill>
                  <a:srgbClr val="1F3A6E"/>
                </a:solidFill>
              </a:rPr>
              <a:t>Polarity accuracy</a:t>
            </a:r>
            <a:endParaRPr lang="en-US" sz="1400" dirty="0"/>
          </a:p>
        </p:txBody>
      </p:sp>
      <p:sp>
        <p:nvSpPr>
          <p:cNvPr id="9" name="Text 6"/>
          <p:cNvSpPr txBox="1"/>
          <p:nvPr/>
        </p:nvSpPr>
        <p:spPr>
          <a:xfrm>
            <a:off x="640080" y="2880360"/>
            <a:ext cx="3063240" cy="457200"/>
          </a:xfrm>
          <a:prstGeom prst="rect">
            <a:avLst/>
          </a:prstGeom>
          <a:noFill/>
          <a:ln/>
        </p:spPr>
        <p:txBody>
          <a:bodyPr wrap="square" lIns="0" tIns="0" rIns="0" bIns="0" rtlCol="0" anchor="t"/>
          <a:lstStyle/>
          <a:p>
            <a:pPr indent="0" marL="0">
              <a:buNone/>
            </a:pPr>
            <a:r>
              <a:rPr lang="en-US" sz="1200" dirty="0">
                <a:solidFill>
                  <a:srgbClr val="5B6B84"/>
                </a:solidFill>
              </a:rPr>
              <a:t>Correct negative / neutral / positive calls</a:t>
            </a:r>
            <a:endParaRPr lang="en-US" sz="1200" dirty="0"/>
          </a:p>
        </p:txBody>
      </p:sp>
      <p:sp>
        <p:nvSpPr>
          <p:cNvPr id="10" name="Card"/>
          <p:cNvSpPr/>
          <p:nvPr/>
        </p:nvSpPr>
        <p:spPr>
          <a:xfrm>
            <a:off x="4069080" y="1691640"/>
            <a:ext cx="3429000" cy="1691640"/>
          </a:xfrm>
          <a:prstGeom prst="roundRect">
            <a:avLst>
              <a:gd name="adj" fmla="val 6486"/>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1" name="Text 8"/>
          <p:cNvSpPr txBox="1"/>
          <p:nvPr/>
        </p:nvSpPr>
        <p:spPr>
          <a:xfrm>
            <a:off x="4251960" y="1801368"/>
            <a:ext cx="3063240" cy="777240"/>
          </a:xfrm>
          <a:prstGeom prst="rect">
            <a:avLst/>
          </a:prstGeom>
          <a:noFill/>
          <a:ln/>
        </p:spPr>
        <p:txBody>
          <a:bodyPr wrap="square" lIns="0" tIns="0" rIns="0" bIns="0" rtlCol="0" anchor="t"/>
          <a:lstStyle/>
          <a:p>
            <a:pPr indent="0" marL="0">
              <a:buNone/>
            </a:pPr>
            <a:r>
              <a:rPr lang="en-US" sz="4400" b="1" dirty="0">
                <a:solidFill>
                  <a:srgbClr val="0B7F8A"/>
                </a:solidFill>
                <a:latin typeface="Cambria" pitchFamily="34" charset="0"/>
                <a:ea typeface="Cambria" pitchFamily="34" charset="-122"/>
                <a:cs typeface="Cambria" pitchFamily="34" charset="-120"/>
              </a:rPr>
              <a:t>0.709</a:t>
            </a:r>
            <a:endParaRPr lang="en-US" sz="4400" dirty="0"/>
          </a:p>
        </p:txBody>
      </p:sp>
      <p:sp>
        <p:nvSpPr>
          <p:cNvPr id="12" name="Text 9"/>
          <p:cNvSpPr txBox="1"/>
          <p:nvPr/>
        </p:nvSpPr>
        <p:spPr>
          <a:xfrm>
            <a:off x="4251960" y="2587752"/>
            <a:ext cx="3063240" cy="274320"/>
          </a:xfrm>
          <a:prstGeom prst="rect">
            <a:avLst/>
          </a:prstGeom>
          <a:noFill/>
          <a:ln/>
        </p:spPr>
        <p:txBody>
          <a:bodyPr wrap="square" lIns="0" tIns="0" rIns="0" bIns="0" rtlCol="0" anchor="t"/>
          <a:lstStyle/>
          <a:p>
            <a:pPr indent="0" marL="0">
              <a:buNone/>
            </a:pPr>
            <a:r>
              <a:rPr lang="en-US" sz="1400" b="1" dirty="0">
                <a:solidFill>
                  <a:srgbClr val="1F3A6E"/>
                </a:solidFill>
              </a:rPr>
              <a:t>Polarity macro-F1</a:t>
            </a:r>
            <a:endParaRPr lang="en-US" sz="1400" dirty="0"/>
          </a:p>
        </p:txBody>
      </p:sp>
      <p:sp>
        <p:nvSpPr>
          <p:cNvPr id="13" name="Text 10"/>
          <p:cNvSpPr txBox="1"/>
          <p:nvPr/>
        </p:nvSpPr>
        <p:spPr>
          <a:xfrm>
            <a:off x="4251960" y="2880360"/>
            <a:ext cx="3063240" cy="457200"/>
          </a:xfrm>
          <a:prstGeom prst="rect">
            <a:avLst/>
          </a:prstGeom>
          <a:noFill/>
          <a:ln/>
        </p:spPr>
        <p:txBody>
          <a:bodyPr wrap="square" lIns="0" tIns="0" rIns="0" bIns="0" rtlCol="0" anchor="t"/>
          <a:lstStyle/>
          <a:p>
            <a:pPr indent="0" marL="0">
              <a:buNone/>
            </a:pPr>
            <a:r>
              <a:rPr lang="en-US" sz="1200" dirty="0">
                <a:solidFill>
                  <a:srgbClr val="5B6B84"/>
                </a:solidFill>
              </a:rPr>
              <a:t>Classes weighted equally</a:t>
            </a:r>
            <a:endParaRPr lang="en-US" sz="1200" dirty="0"/>
          </a:p>
        </p:txBody>
      </p:sp>
      <p:sp>
        <p:nvSpPr>
          <p:cNvPr id="14" name="Pill"/>
          <p:cNvSpPr/>
          <p:nvPr/>
        </p:nvSpPr>
        <p:spPr>
          <a:xfrm>
            <a:off x="457200" y="3547872"/>
            <a:ext cx="2743200" cy="292608"/>
          </a:xfrm>
          <a:prstGeom prst="roundRect">
            <a:avLst>
              <a:gd name="adj" fmla="val 50000"/>
            </a:avLst>
          </a:prstGeom>
          <a:solidFill>
            <a:srgbClr val="E8604C"/>
          </a:solidFill>
          <a:ln w="12700">
            <a:solidFill>
              <a:srgbClr val="E8604C"/>
            </a:solidFill>
            <a:prstDash val="solid"/>
          </a:ln>
        </p:spPr>
      </p:sp>
      <p:sp>
        <p:nvSpPr>
          <p:cNvPr id="15" name="Text 12"/>
          <p:cNvSpPr txBox="1"/>
          <p:nvPr/>
        </p:nvSpPr>
        <p:spPr>
          <a:xfrm>
            <a:off x="457200" y="3547872"/>
            <a:ext cx="2743200" cy="292608"/>
          </a:xfrm>
          <a:prstGeom prst="rect">
            <a:avLst/>
          </a:prstGeom>
          <a:noFill/>
          <a:ln/>
        </p:spPr>
        <p:txBody>
          <a:bodyPr wrap="square" lIns="0" tIns="0" rIns="0" bIns="0" rtlCol="0" anchor="ctr"/>
          <a:lstStyle/>
          <a:p>
            <a:pPr algn="ctr" indent="0" marL="0">
              <a:buNone/>
            </a:pPr>
            <a:r>
              <a:rPr lang="en-US" sz="1200" b="1" dirty="0">
                <a:solidFill>
                  <a:srgbClr val="FFFFFF"/>
                </a:solidFill>
              </a:rPr>
              <a:t>EXACT STARS  ·  1★ to 5★</a:t>
            </a:r>
            <a:endParaRPr lang="en-US" sz="1200" dirty="0"/>
          </a:p>
        </p:txBody>
      </p:sp>
      <p:sp>
        <p:nvSpPr>
          <p:cNvPr id="16" name="Card"/>
          <p:cNvSpPr/>
          <p:nvPr/>
        </p:nvSpPr>
        <p:spPr>
          <a:xfrm>
            <a:off x="457200" y="3913632"/>
            <a:ext cx="2221992" cy="1645920"/>
          </a:xfrm>
          <a:prstGeom prst="roundRect">
            <a:avLst>
              <a:gd name="adj" fmla="val 666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7" name="Text 14"/>
          <p:cNvSpPr txBox="1"/>
          <p:nvPr/>
        </p:nvSpPr>
        <p:spPr>
          <a:xfrm>
            <a:off x="640080" y="4023360"/>
            <a:ext cx="1856232" cy="777240"/>
          </a:xfrm>
          <a:prstGeom prst="rect">
            <a:avLst/>
          </a:prstGeom>
          <a:noFill/>
          <a:ln/>
        </p:spPr>
        <p:txBody>
          <a:bodyPr wrap="square" lIns="0" tIns="0" rIns="0" bIns="0" rtlCol="0" anchor="t"/>
          <a:lstStyle/>
          <a:p>
            <a:pPr indent="0" marL="0">
              <a:buNone/>
            </a:pPr>
            <a:r>
              <a:rPr lang="en-US" sz="4400" b="1" dirty="0">
                <a:solidFill>
                  <a:srgbClr val="C4402D"/>
                </a:solidFill>
                <a:latin typeface="Cambria" pitchFamily="34" charset="0"/>
                <a:ea typeface="Cambria" pitchFamily="34" charset="-122"/>
                <a:cs typeface="Cambria" pitchFamily="34" charset="-120"/>
              </a:rPr>
              <a:t>51.1%</a:t>
            </a:r>
            <a:endParaRPr lang="en-US" sz="4400" dirty="0"/>
          </a:p>
        </p:txBody>
      </p:sp>
      <p:sp>
        <p:nvSpPr>
          <p:cNvPr id="18" name="Text 15"/>
          <p:cNvSpPr txBox="1"/>
          <p:nvPr/>
        </p:nvSpPr>
        <p:spPr>
          <a:xfrm>
            <a:off x="640080" y="4809744"/>
            <a:ext cx="1856232" cy="274320"/>
          </a:xfrm>
          <a:prstGeom prst="rect">
            <a:avLst/>
          </a:prstGeom>
          <a:noFill/>
          <a:ln/>
        </p:spPr>
        <p:txBody>
          <a:bodyPr wrap="square" lIns="0" tIns="0" rIns="0" bIns="0" rtlCol="0" anchor="t"/>
          <a:lstStyle/>
          <a:p>
            <a:pPr indent="0" marL="0">
              <a:buNone/>
            </a:pPr>
            <a:r>
              <a:rPr lang="en-US" sz="1400" b="1" dirty="0">
                <a:solidFill>
                  <a:srgbClr val="1F3A6E"/>
                </a:solidFill>
              </a:rPr>
              <a:t>Exact-star accuracy</a:t>
            </a:r>
            <a:endParaRPr lang="en-US" sz="1400" dirty="0"/>
          </a:p>
        </p:txBody>
      </p:sp>
      <p:sp>
        <p:nvSpPr>
          <p:cNvPr id="19" name="Text 16"/>
          <p:cNvSpPr txBox="1"/>
          <p:nvPr/>
        </p:nvSpPr>
        <p:spPr>
          <a:xfrm>
            <a:off x="640080" y="5102352"/>
            <a:ext cx="1856232" cy="411480"/>
          </a:xfrm>
          <a:prstGeom prst="rect">
            <a:avLst/>
          </a:prstGeom>
          <a:noFill/>
          <a:ln/>
        </p:spPr>
        <p:txBody>
          <a:bodyPr wrap="square" lIns="0" tIns="0" rIns="0" bIns="0" rtlCol="0" anchor="t"/>
          <a:lstStyle/>
          <a:p>
            <a:pPr indent="0" marL="0">
              <a:buNone/>
            </a:pPr>
            <a:r>
              <a:rPr lang="en-US" sz="1200" dirty="0">
                <a:solidFill>
                  <a:srgbClr val="5B6B84"/>
                </a:solidFill>
              </a:rPr>
              <a:t>Predicted star = true star</a:t>
            </a:r>
            <a:endParaRPr lang="en-US" sz="1200" dirty="0"/>
          </a:p>
        </p:txBody>
      </p:sp>
      <p:sp>
        <p:nvSpPr>
          <p:cNvPr id="20" name="Card"/>
          <p:cNvSpPr/>
          <p:nvPr/>
        </p:nvSpPr>
        <p:spPr>
          <a:xfrm>
            <a:off x="2825496" y="3913632"/>
            <a:ext cx="2221992" cy="1645920"/>
          </a:xfrm>
          <a:prstGeom prst="roundRect">
            <a:avLst>
              <a:gd name="adj" fmla="val 666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1" name="Text 18"/>
          <p:cNvSpPr txBox="1"/>
          <p:nvPr/>
        </p:nvSpPr>
        <p:spPr>
          <a:xfrm>
            <a:off x="3008376" y="4023360"/>
            <a:ext cx="1856232" cy="777240"/>
          </a:xfrm>
          <a:prstGeom prst="rect">
            <a:avLst/>
          </a:prstGeom>
          <a:noFill/>
          <a:ln/>
        </p:spPr>
        <p:txBody>
          <a:bodyPr wrap="square" lIns="0" tIns="0" rIns="0" bIns="0" rtlCol="0" anchor="t"/>
          <a:lstStyle/>
          <a:p>
            <a:pPr indent="0" marL="0">
              <a:buNone/>
            </a:pPr>
            <a:r>
              <a:rPr lang="en-US" sz="4400" b="1" dirty="0">
                <a:solidFill>
                  <a:srgbClr val="C4402D"/>
                </a:solidFill>
                <a:latin typeface="Cambria" pitchFamily="34" charset="0"/>
                <a:ea typeface="Cambria" pitchFamily="34" charset="-122"/>
                <a:cs typeface="Cambria" pitchFamily="34" charset="-120"/>
              </a:rPr>
              <a:t>92.2%</a:t>
            </a:r>
            <a:endParaRPr lang="en-US" sz="4400" dirty="0"/>
          </a:p>
        </p:txBody>
      </p:sp>
      <p:sp>
        <p:nvSpPr>
          <p:cNvPr id="22" name="Text 19"/>
          <p:cNvSpPr txBox="1"/>
          <p:nvPr/>
        </p:nvSpPr>
        <p:spPr>
          <a:xfrm>
            <a:off x="3008376" y="4809744"/>
            <a:ext cx="1856232" cy="274320"/>
          </a:xfrm>
          <a:prstGeom prst="rect">
            <a:avLst/>
          </a:prstGeom>
          <a:noFill/>
          <a:ln/>
        </p:spPr>
        <p:txBody>
          <a:bodyPr wrap="square" lIns="0" tIns="0" rIns="0" bIns="0" rtlCol="0" anchor="t"/>
          <a:lstStyle/>
          <a:p>
            <a:pPr indent="0" marL="0">
              <a:buNone/>
            </a:pPr>
            <a:r>
              <a:rPr lang="en-US" sz="1400" b="1" dirty="0">
                <a:solidFill>
                  <a:srgbClr val="1F3A6E"/>
                </a:solidFill>
              </a:rPr>
              <a:t>Within-one-star</a:t>
            </a:r>
            <a:endParaRPr lang="en-US" sz="1400" dirty="0"/>
          </a:p>
        </p:txBody>
      </p:sp>
      <p:sp>
        <p:nvSpPr>
          <p:cNvPr id="23" name="Text 20"/>
          <p:cNvSpPr txBox="1"/>
          <p:nvPr/>
        </p:nvSpPr>
        <p:spPr>
          <a:xfrm>
            <a:off x="3008376" y="5102352"/>
            <a:ext cx="1856232" cy="411480"/>
          </a:xfrm>
          <a:prstGeom prst="rect">
            <a:avLst/>
          </a:prstGeom>
          <a:noFill/>
          <a:ln/>
        </p:spPr>
        <p:txBody>
          <a:bodyPr wrap="square" lIns="0" tIns="0" rIns="0" bIns="0" rtlCol="0" anchor="t"/>
          <a:lstStyle/>
          <a:p>
            <a:pPr indent="0" marL="0">
              <a:buNone/>
            </a:pPr>
            <a:r>
              <a:rPr lang="en-US" sz="1200" dirty="0">
                <a:solidFill>
                  <a:srgbClr val="5B6B84"/>
                </a:solidFill>
              </a:rPr>
              <a:t>At most 1★ away</a:t>
            </a:r>
            <a:endParaRPr lang="en-US" sz="1200" dirty="0"/>
          </a:p>
        </p:txBody>
      </p:sp>
      <p:sp>
        <p:nvSpPr>
          <p:cNvPr id="24" name="Card"/>
          <p:cNvSpPr/>
          <p:nvPr/>
        </p:nvSpPr>
        <p:spPr>
          <a:xfrm>
            <a:off x="5193792" y="3913632"/>
            <a:ext cx="2304288" cy="1645920"/>
          </a:xfrm>
          <a:prstGeom prst="roundRect">
            <a:avLst>
              <a:gd name="adj" fmla="val 666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5" name="Text 22"/>
          <p:cNvSpPr txBox="1"/>
          <p:nvPr/>
        </p:nvSpPr>
        <p:spPr>
          <a:xfrm>
            <a:off x="5376672" y="4023360"/>
            <a:ext cx="1938528" cy="777240"/>
          </a:xfrm>
          <a:prstGeom prst="rect">
            <a:avLst/>
          </a:prstGeom>
          <a:noFill/>
          <a:ln/>
        </p:spPr>
        <p:txBody>
          <a:bodyPr wrap="square" lIns="0" tIns="0" rIns="0" bIns="0" rtlCol="0" anchor="t"/>
          <a:lstStyle/>
          <a:p>
            <a:pPr indent="0" marL="0">
              <a:buNone/>
            </a:pPr>
            <a:r>
              <a:rPr lang="en-US" sz="4400" b="1" dirty="0">
                <a:solidFill>
                  <a:srgbClr val="C4402D"/>
                </a:solidFill>
                <a:latin typeface="Cambria" pitchFamily="34" charset="0"/>
                <a:ea typeface="Cambria" pitchFamily="34" charset="-122"/>
                <a:cs typeface="Cambria" pitchFamily="34" charset="-120"/>
              </a:rPr>
              <a:t>0.608</a:t>
            </a:r>
            <a:endParaRPr lang="en-US" sz="4400" dirty="0"/>
          </a:p>
        </p:txBody>
      </p:sp>
      <p:sp>
        <p:nvSpPr>
          <p:cNvPr id="26" name="Text 23"/>
          <p:cNvSpPr txBox="1"/>
          <p:nvPr/>
        </p:nvSpPr>
        <p:spPr>
          <a:xfrm>
            <a:off x="5376672" y="4809744"/>
            <a:ext cx="1938528" cy="274320"/>
          </a:xfrm>
          <a:prstGeom prst="rect">
            <a:avLst/>
          </a:prstGeom>
          <a:noFill/>
          <a:ln/>
        </p:spPr>
        <p:txBody>
          <a:bodyPr wrap="square" lIns="0" tIns="0" rIns="0" bIns="0" rtlCol="0" anchor="t"/>
          <a:lstStyle/>
          <a:p>
            <a:pPr indent="0" marL="0">
              <a:buNone/>
            </a:pPr>
            <a:r>
              <a:rPr lang="en-US" sz="1400" b="1" dirty="0">
                <a:solidFill>
                  <a:srgbClr val="1F3A6E"/>
                </a:solidFill>
              </a:rPr>
              <a:t>Star MAE (stars)</a:t>
            </a:r>
            <a:endParaRPr lang="en-US" sz="1400" dirty="0"/>
          </a:p>
        </p:txBody>
      </p:sp>
      <p:sp>
        <p:nvSpPr>
          <p:cNvPr id="27" name="Text 24"/>
          <p:cNvSpPr txBox="1"/>
          <p:nvPr/>
        </p:nvSpPr>
        <p:spPr>
          <a:xfrm>
            <a:off x="5376672" y="5102352"/>
            <a:ext cx="1938528" cy="411480"/>
          </a:xfrm>
          <a:prstGeom prst="rect">
            <a:avLst/>
          </a:prstGeom>
          <a:noFill/>
          <a:ln/>
        </p:spPr>
        <p:txBody>
          <a:bodyPr wrap="square" lIns="0" tIns="0" rIns="0" bIns="0" rtlCol="0" anchor="t"/>
          <a:lstStyle/>
          <a:p>
            <a:pPr indent="0" marL="0">
              <a:buNone/>
            </a:pPr>
            <a:r>
              <a:rPr lang="en-US" sz="1200" dirty="0">
                <a:solidFill>
                  <a:srgbClr val="5B6B84"/>
                </a:solidFill>
              </a:rPr>
              <a:t>Average star error</a:t>
            </a:r>
            <a:endParaRPr lang="en-US" sz="1200" dirty="0"/>
          </a:p>
        </p:txBody>
      </p:sp>
      <p:sp>
        <p:nvSpPr>
          <p:cNvPr id="28" name="Card"/>
          <p:cNvSpPr/>
          <p:nvPr/>
        </p:nvSpPr>
        <p:spPr>
          <a:xfrm>
            <a:off x="457200" y="5715000"/>
            <a:ext cx="7040880" cy="594360"/>
          </a:xfrm>
          <a:prstGeom prst="roundRect">
            <a:avLst>
              <a:gd name="adj" fmla="val 18462"/>
            </a:avLst>
          </a:prstGeom>
          <a:solidFill>
            <a:srgbClr val="E6ECF6"/>
          </a:solidFill>
          <a:ln w="12700">
            <a:solidFill>
              <a:srgbClr val="FFFFFF">
                <a:alpha val="0"/>
              </a:srgbClr>
            </a:solidFill>
            <a:prstDash val="solid"/>
          </a:ln>
        </p:spPr>
      </p:sp>
      <p:sp>
        <p:nvSpPr>
          <p:cNvPr id="29" name="Text 26"/>
          <p:cNvSpPr txBox="1"/>
          <p:nvPr/>
        </p:nvSpPr>
        <p:spPr>
          <a:xfrm>
            <a:off x="640080" y="5715000"/>
            <a:ext cx="6675120" cy="594360"/>
          </a:xfrm>
          <a:prstGeom prst="rect">
            <a:avLst/>
          </a:prstGeom>
          <a:noFill/>
          <a:ln/>
        </p:spPr>
        <p:txBody>
          <a:bodyPr wrap="square" lIns="0" tIns="0" rIns="0" bIns="0" rtlCol="0" anchor="ctr"/>
          <a:lstStyle/>
          <a:p>
            <a:pPr indent="0" marL="0">
              <a:buNone/>
            </a:pPr>
            <a:r>
              <a:rPr lang="en-US" sz="1250" b="1" dirty="0">
                <a:solidFill>
                  <a:srgbClr val="1F3A6E"/>
                </a:solidFill>
              </a:rPr>
              <a:t>The model predicts polarity more accurately than the exact star rating, while most star predictions are within one star of the true rating.</a:t>
            </a:r>
            <a:endParaRPr lang="en-US" sz="1250" dirty="0"/>
          </a:p>
        </p:txBody>
      </p:sp>
      <p:sp>
        <p:nvSpPr>
          <p:cNvPr id="30" name="Card"/>
          <p:cNvSpPr/>
          <p:nvPr/>
        </p:nvSpPr>
        <p:spPr>
          <a:xfrm>
            <a:off x="7726680" y="1325880"/>
            <a:ext cx="4005072" cy="3429000"/>
          </a:xfrm>
          <a:prstGeom prst="roundRect">
            <a:avLst>
              <a:gd name="adj" fmla="val 32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31" name="Chart 0" descr=""/>
          <p:cNvGraphicFramePr/>
          <p:nvPr/>
        </p:nvGraphicFramePr>
        <p:xfrm>
          <a:off x="7772400" y="1371600"/>
          <a:ext cx="3913632" cy="3337560"/>
        </p:xfrm>
        <a:graphic xmlns:a="http://schemas.openxmlformats.org/drawingml/2006/main">
          <a:graphicData uri="http://schemas.openxmlformats.org/drawingml/2006/chart">
            <c:chart xmlns:c="http://schemas.openxmlformats.org/drawingml/2006/chart" r:id="rId1"/>
          </a:graphicData>
        </a:graphic>
      </p:graphicFrame>
      <p:sp>
        <p:nvSpPr>
          <p:cNvPr id="32" name="Card"/>
          <p:cNvSpPr/>
          <p:nvPr/>
        </p:nvSpPr>
        <p:spPr>
          <a:xfrm>
            <a:off x="7726680" y="4937760"/>
            <a:ext cx="4005072" cy="1371600"/>
          </a:xfrm>
          <a:prstGeom prst="roundRect">
            <a:avLst>
              <a:gd name="adj" fmla="val 8000"/>
            </a:avLst>
          </a:prstGeom>
          <a:solidFill>
            <a:srgbClr val="F3F7FB"/>
          </a:solidFill>
          <a:ln w="12700">
            <a:solidFill>
              <a:srgbClr val="FFFFFF">
                <a:alpha val="0"/>
              </a:srgbClr>
            </a:solidFill>
            <a:prstDash val="solid"/>
          </a:ln>
        </p:spPr>
      </p:sp>
      <p:sp>
        <p:nvSpPr>
          <p:cNvPr id="33" name="Text 29"/>
          <p:cNvSpPr txBox="1"/>
          <p:nvPr/>
        </p:nvSpPr>
        <p:spPr>
          <a:xfrm>
            <a:off x="7909560" y="5029200"/>
            <a:ext cx="3657600" cy="1234440"/>
          </a:xfrm>
          <a:prstGeom prst="rect">
            <a:avLst/>
          </a:prstGeom>
          <a:noFill/>
          <a:ln/>
        </p:spPr>
        <p:txBody>
          <a:bodyPr wrap="square" lIns="0" tIns="0" rIns="0" bIns="0" rtlCol="0" anchor="t"/>
          <a:lstStyle/>
          <a:p>
            <a:pPr indent="0" marL="0">
              <a:spcAft>
                <a:spcPts val="300"/>
              </a:spcAft>
              <a:buNone/>
            </a:pPr>
            <a:r>
              <a:rPr lang="en-US" sz="1200" b="1" dirty="0">
                <a:solidFill>
                  <a:srgbClr val="1F3A6E"/>
                </a:solidFill>
              </a:rPr>
              <a:t>370 test reviews</a:t>
            </a:r>
            <a:endParaRPr lang="en-US" sz="1200" dirty="0"/>
          </a:p>
          <a:p>
            <a:pPr indent="0" marL="0">
              <a:spcAft>
                <a:spcPts val="300"/>
              </a:spcAft>
              <a:buNone/>
            </a:pPr>
            <a:r>
              <a:rPr lang="en-US" sz="1200" dirty="0">
                <a:solidFill>
                  <a:srgbClr val="1B2A41"/>
                </a:solidFill>
              </a:rPr>
              <a:t>Hotel-disjoint; test rows never used for fitting.</a:t>
            </a:r>
            <a:endParaRPr lang="en-US" sz="1200" dirty="0"/>
          </a:p>
          <a:p>
            <a:pPr indent="0" marL="0">
              <a:spcAft>
                <a:spcPts val="300"/>
              </a:spcAft>
              <a:buNone/>
            </a:pPr>
            <a:r>
              <a:rPr lang="en-US" sz="1200" dirty="0">
                <a:solidFill>
                  <a:srgbClr val="5B6B84"/>
                </a:solidFill>
              </a:rPr>
              <a:t>95% Wilson interval for polarity accuracy: 69.9–78.8% (ignores hotel clustering).</a:t>
            </a:r>
            <a:endParaRPr lang="en-US" sz="12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Aspect-wise performance comparison</a:t>
            </a:r>
            <a:endParaRPr lang="en-US" sz="3000" dirty="0"/>
          </a:p>
        </p:txBody>
      </p:sp>
      <p:sp>
        <p:nvSpPr>
          <p:cNvPr id="4" name="Card"/>
          <p:cNvSpPr/>
          <p:nvPr/>
        </p:nvSpPr>
        <p:spPr>
          <a:xfrm>
            <a:off x="457200" y="1280160"/>
            <a:ext cx="2697480" cy="658368"/>
          </a:xfrm>
          <a:prstGeom prst="roundRect">
            <a:avLst>
              <a:gd name="adj" fmla="val 16667"/>
            </a:avLst>
          </a:prstGeom>
          <a:solidFill>
            <a:srgbClr val="F3F7FB"/>
          </a:solidFill>
          <a:ln w="12700">
            <a:solidFill>
              <a:srgbClr val="FFFFFF">
                <a:alpha val="0"/>
              </a:srgbClr>
            </a:solidFill>
            <a:prstDash val="solid"/>
          </a:ln>
        </p:spPr>
      </p:sp>
      <p:sp>
        <p:nvSpPr>
          <p:cNvPr id="5" name="Dot"/>
          <p:cNvSpPr/>
          <p:nvPr/>
        </p:nvSpPr>
        <p:spPr>
          <a:xfrm>
            <a:off x="594360" y="1508760"/>
            <a:ext cx="201168" cy="201168"/>
          </a:xfrm>
          <a:prstGeom prst="ellipse">
            <a:avLst/>
          </a:prstGeom>
          <a:solidFill>
            <a:srgbClr val="0E9AA7"/>
          </a:solidFill>
          <a:ln w="12700">
            <a:solidFill>
              <a:srgbClr val="0E9AA7"/>
            </a:solidFill>
            <a:prstDash val="solid"/>
          </a:ln>
        </p:spPr>
      </p:sp>
      <p:sp>
        <p:nvSpPr>
          <p:cNvPr id="6" name="Text 3"/>
          <p:cNvSpPr txBox="1"/>
          <p:nvPr/>
        </p:nvSpPr>
        <p:spPr>
          <a:xfrm>
            <a:off x="914400" y="1280160"/>
            <a:ext cx="2194560" cy="658368"/>
          </a:xfrm>
          <a:prstGeom prst="rect">
            <a:avLst/>
          </a:prstGeom>
          <a:noFill/>
          <a:ln/>
        </p:spPr>
        <p:txBody>
          <a:bodyPr wrap="square" lIns="0" tIns="0" rIns="0" bIns="0" rtlCol="0" anchor="ctr"/>
          <a:lstStyle/>
          <a:p>
            <a:pPr indent="0" marL="0">
              <a:buNone/>
            </a:pPr>
            <a:r>
              <a:rPr lang="en-US" sz="1200" b="1" dirty="0">
                <a:solidFill>
                  <a:srgbClr val="1F3A6E"/>
                </a:solidFill>
              </a:rPr>
              <a:t>Overall polarity macro-F1</a:t>
            </a:r>
            <a:endParaRPr lang="en-US" sz="1200" dirty="0"/>
          </a:p>
          <a:p>
            <a:pPr indent="0" marL="0">
              <a:buNone/>
            </a:pPr>
            <a:r>
              <a:rPr lang="en-US" sz="1200" dirty="0">
                <a:solidFill>
                  <a:srgbClr val="1B2A41"/>
                </a:solidFill>
              </a:rPr>
              <a:t>0.709</a:t>
            </a:r>
            <a:endParaRPr lang="en-US" sz="1200" dirty="0"/>
          </a:p>
        </p:txBody>
      </p:sp>
      <p:sp>
        <p:nvSpPr>
          <p:cNvPr id="7" name="Card"/>
          <p:cNvSpPr/>
          <p:nvPr/>
        </p:nvSpPr>
        <p:spPr>
          <a:xfrm>
            <a:off x="3305556" y="1280160"/>
            <a:ext cx="2697480" cy="658368"/>
          </a:xfrm>
          <a:prstGeom prst="roundRect">
            <a:avLst>
              <a:gd name="adj" fmla="val 16667"/>
            </a:avLst>
          </a:prstGeom>
          <a:solidFill>
            <a:srgbClr val="F3F7FB"/>
          </a:solidFill>
          <a:ln w="12700">
            <a:solidFill>
              <a:srgbClr val="FFFFFF">
                <a:alpha val="0"/>
              </a:srgbClr>
            </a:solidFill>
            <a:prstDash val="solid"/>
          </a:ln>
        </p:spPr>
      </p:sp>
      <p:sp>
        <p:nvSpPr>
          <p:cNvPr id="8" name="Dot"/>
          <p:cNvSpPr/>
          <p:nvPr/>
        </p:nvSpPr>
        <p:spPr>
          <a:xfrm>
            <a:off x="3442716" y="1508760"/>
            <a:ext cx="201168" cy="201168"/>
          </a:xfrm>
          <a:prstGeom prst="ellipse">
            <a:avLst/>
          </a:prstGeom>
          <a:solidFill>
            <a:srgbClr val="F2A93B"/>
          </a:solidFill>
          <a:ln w="12700">
            <a:solidFill>
              <a:srgbClr val="F2A93B"/>
            </a:solidFill>
            <a:prstDash val="solid"/>
          </a:ln>
        </p:spPr>
      </p:sp>
      <p:sp>
        <p:nvSpPr>
          <p:cNvPr id="9" name="Text 6"/>
          <p:cNvSpPr txBox="1"/>
          <p:nvPr/>
        </p:nvSpPr>
        <p:spPr>
          <a:xfrm>
            <a:off x="3762756" y="1280160"/>
            <a:ext cx="2194560" cy="658368"/>
          </a:xfrm>
          <a:prstGeom prst="rect">
            <a:avLst/>
          </a:prstGeom>
          <a:noFill/>
          <a:ln/>
        </p:spPr>
        <p:txBody>
          <a:bodyPr wrap="square" lIns="0" tIns="0" rIns="0" bIns="0" rtlCol="0" anchor="ctr"/>
          <a:lstStyle/>
          <a:p>
            <a:pPr indent="0" marL="0">
              <a:buNone/>
            </a:pPr>
            <a:r>
              <a:rPr lang="en-US" sz="1200" b="1" dirty="0">
                <a:solidFill>
                  <a:srgbClr val="1F3A6E"/>
                </a:solidFill>
              </a:rPr>
              <a:t>Location</a:t>
            </a:r>
            <a:endParaRPr lang="en-US" sz="1200" dirty="0"/>
          </a:p>
          <a:p>
            <a:pPr indent="0" marL="0">
              <a:buNone/>
            </a:pPr>
            <a:r>
              <a:rPr lang="en-US" sz="1200" dirty="0">
                <a:solidFill>
                  <a:srgbClr val="1B2A41"/>
                </a:solidFill>
              </a:rPr>
              <a:t>72.2% accuracy · macro-F1 0.383</a:t>
            </a:r>
            <a:endParaRPr lang="en-US" sz="1200" dirty="0"/>
          </a:p>
        </p:txBody>
      </p:sp>
      <p:sp>
        <p:nvSpPr>
          <p:cNvPr id="10" name="Card"/>
          <p:cNvSpPr/>
          <p:nvPr/>
        </p:nvSpPr>
        <p:spPr>
          <a:xfrm>
            <a:off x="6153912" y="1280160"/>
            <a:ext cx="2697480" cy="658368"/>
          </a:xfrm>
          <a:prstGeom prst="roundRect">
            <a:avLst>
              <a:gd name="adj" fmla="val 16667"/>
            </a:avLst>
          </a:prstGeom>
          <a:solidFill>
            <a:srgbClr val="F3F7FB"/>
          </a:solidFill>
          <a:ln w="12700">
            <a:solidFill>
              <a:srgbClr val="FFFFFF">
                <a:alpha val="0"/>
              </a:srgbClr>
            </a:solidFill>
            <a:prstDash val="solid"/>
          </a:ln>
        </p:spPr>
      </p:sp>
      <p:sp>
        <p:nvSpPr>
          <p:cNvPr id="11" name="Dot"/>
          <p:cNvSpPr/>
          <p:nvPr/>
        </p:nvSpPr>
        <p:spPr>
          <a:xfrm>
            <a:off x="6291072" y="1508760"/>
            <a:ext cx="201168" cy="201168"/>
          </a:xfrm>
          <a:prstGeom prst="ellipse">
            <a:avLst/>
          </a:prstGeom>
          <a:solidFill>
            <a:srgbClr val="E8604C"/>
          </a:solidFill>
          <a:ln w="12700">
            <a:solidFill>
              <a:srgbClr val="E8604C"/>
            </a:solidFill>
            <a:prstDash val="solid"/>
          </a:ln>
        </p:spPr>
      </p:sp>
      <p:sp>
        <p:nvSpPr>
          <p:cNvPr id="12" name="Text 9"/>
          <p:cNvSpPr txBox="1"/>
          <p:nvPr/>
        </p:nvSpPr>
        <p:spPr>
          <a:xfrm>
            <a:off x="6611112" y="1280160"/>
            <a:ext cx="2194560" cy="658368"/>
          </a:xfrm>
          <a:prstGeom prst="rect">
            <a:avLst/>
          </a:prstGeom>
          <a:noFill/>
          <a:ln/>
        </p:spPr>
        <p:txBody>
          <a:bodyPr wrap="square" lIns="0" tIns="0" rIns="0" bIns="0" rtlCol="0" anchor="ctr"/>
          <a:lstStyle/>
          <a:p>
            <a:pPr indent="0" marL="0">
              <a:buNone/>
            </a:pPr>
            <a:r>
              <a:rPr lang="en-US" sz="1200" b="1" dirty="0">
                <a:solidFill>
                  <a:srgbClr val="1F3A6E"/>
                </a:solidFill>
              </a:rPr>
              <a:t>Business Service</a:t>
            </a:r>
            <a:endParaRPr lang="en-US" sz="1200" dirty="0"/>
          </a:p>
          <a:p>
            <a:pPr indent="0" marL="0">
              <a:buNone/>
            </a:pPr>
            <a:r>
              <a:rPr lang="en-US" sz="1200" dirty="0">
                <a:solidFill>
                  <a:srgbClr val="1B2A41"/>
                </a:solidFill>
              </a:rPr>
              <a:t>55.4% polarity accuracy</a:t>
            </a:r>
            <a:endParaRPr lang="en-US" sz="1200" dirty="0"/>
          </a:p>
        </p:txBody>
      </p:sp>
      <p:sp>
        <p:nvSpPr>
          <p:cNvPr id="13" name="Card"/>
          <p:cNvSpPr/>
          <p:nvPr/>
        </p:nvSpPr>
        <p:spPr>
          <a:xfrm>
            <a:off x="9002268" y="1280160"/>
            <a:ext cx="2697480" cy="658368"/>
          </a:xfrm>
          <a:prstGeom prst="roundRect">
            <a:avLst>
              <a:gd name="adj" fmla="val 16667"/>
            </a:avLst>
          </a:prstGeom>
          <a:solidFill>
            <a:srgbClr val="F3F7FB"/>
          </a:solidFill>
          <a:ln w="12700">
            <a:solidFill>
              <a:srgbClr val="FFFFFF">
                <a:alpha val="0"/>
              </a:srgbClr>
            </a:solidFill>
            <a:prstDash val="solid"/>
          </a:ln>
        </p:spPr>
      </p:sp>
      <p:sp>
        <p:nvSpPr>
          <p:cNvPr id="14" name="Dot"/>
          <p:cNvSpPr/>
          <p:nvPr/>
        </p:nvSpPr>
        <p:spPr>
          <a:xfrm>
            <a:off x="9139428" y="1508760"/>
            <a:ext cx="201168" cy="201168"/>
          </a:xfrm>
          <a:prstGeom prst="ellipse">
            <a:avLst/>
          </a:prstGeom>
          <a:solidFill>
            <a:srgbClr val="1F3A6E"/>
          </a:solidFill>
          <a:ln w="12700">
            <a:solidFill>
              <a:srgbClr val="1F3A6E"/>
            </a:solidFill>
            <a:prstDash val="solid"/>
          </a:ln>
        </p:spPr>
      </p:sp>
      <p:sp>
        <p:nvSpPr>
          <p:cNvPr id="15" name="Text 12"/>
          <p:cNvSpPr txBox="1"/>
          <p:nvPr/>
        </p:nvSpPr>
        <p:spPr>
          <a:xfrm>
            <a:off x="9459468" y="1280160"/>
            <a:ext cx="2194560" cy="658368"/>
          </a:xfrm>
          <a:prstGeom prst="rect">
            <a:avLst/>
          </a:prstGeom>
          <a:noFill/>
          <a:ln/>
        </p:spPr>
        <p:txBody>
          <a:bodyPr wrap="square" lIns="0" tIns="0" rIns="0" bIns="0" rtlCol="0" anchor="ctr"/>
          <a:lstStyle/>
          <a:p>
            <a:pPr indent="0" marL="0">
              <a:buNone/>
            </a:pPr>
            <a:r>
              <a:rPr lang="en-US" sz="1200" b="1" dirty="0">
                <a:solidFill>
                  <a:srgbClr val="1F3A6E"/>
                </a:solidFill>
              </a:rPr>
              <a:t>Performance differs across aspects</a:t>
            </a:r>
            <a:endParaRPr lang="en-US" sz="1200" dirty="0"/>
          </a:p>
        </p:txBody>
      </p:sp>
      <p:sp>
        <p:nvSpPr>
          <p:cNvPr id="16" name="Card"/>
          <p:cNvSpPr/>
          <p:nvPr/>
        </p:nvSpPr>
        <p:spPr>
          <a:xfrm>
            <a:off x="457200" y="2103120"/>
            <a:ext cx="4069080" cy="3520440"/>
          </a:xfrm>
          <a:prstGeom prst="roundRect">
            <a:avLst>
              <a:gd name="adj" fmla="val 311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17" name="Chart 0" descr=""/>
          <p:cNvGraphicFramePr/>
          <p:nvPr/>
        </p:nvGraphicFramePr>
        <p:xfrm>
          <a:off x="502920" y="2130552"/>
          <a:ext cx="3977640" cy="3474720"/>
        </p:xfrm>
        <a:graphic xmlns:a="http://schemas.openxmlformats.org/drawingml/2006/main">
          <a:graphicData uri="http://schemas.openxmlformats.org/drawingml/2006/chart">
            <c:chart xmlns:c="http://schemas.openxmlformats.org/drawingml/2006/chart" r:id="rId1"/>
          </a:graphicData>
        </a:graphic>
      </p:graphicFrame>
      <p:sp>
        <p:nvSpPr>
          <p:cNvPr id="18" name="Card"/>
          <p:cNvSpPr/>
          <p:nvPr/>
        </p:nvSpPr>
        <p:spPr>
          <a:xfrm>
            <a:off x="4663440" y="2103120"/>
            <a:ext cx="3520440" cy="3520440"/>
          </a:xfrm>
          <a:prstGeom prst="roundRect">
            <a:avLst>
              <a:gd name="adj" fmla="val 311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19" name="Chart 1" descr=""/>
          <p:cNvGraphicFramePr/>
          <p:nvPr/>
        </p:nvGraphicFramePr>
        <p:xfrm>
          <a:off x="4709160" y="2130552"/>
          <a:ext cx="3429000" cy="3474720"/>
        </p:xfrm>
        <a:graphic xmlns:a="http://schemas.openxmlformats.org/drawingml/2006/main">
          <a:graphicData uri="http://schemas.openxmlformats.org/drawingml/2006/chart">
            <c:chart xmlns:c="http://schemas.openxmlformats.org/drawingml/2006/chart" r:id="rId2"/>
          </a:graphicData>
        </a:graphic>
      </p:graphicFrame>
      <p:sp>
        <p:nvSpPr>
          <p:cNvPr id="20" name="Card"/>
          <p:cNvSpPr/>
          <p:nvPr/>
        </p:nvSpPr>
        <p:spPr>
          <a:xfrm>
            <a:off x="8321040" y="2103120"/>
            <a:ext cx="3410712" cy="3520440"/>
          </a:xfrm>
          <a:prstGeom prst="roundRect">
            <a:avLst>
              <a:gd name="adj" fmla="val 321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21" name="Chart 2" descr=""/>
          <p:cNvGraphicFramePr/>
          <p:nvPr/>
        </p:nvGraphicFramePr>
        <p:xfrm>
          <a:off x="8348472" y="2130552"/>
          <a:ext cx="3355848" cy="3474720"/>
        </p:xfrm>
        <a:graphic xmlns:a="http://schemas.openxmlformats.org/drawingml/2006/main">
          <a:graphicData uri="http://schemas.openxmlformats.org/drawingml/2006/chart">
            <c:chart xmlns:c="http://schemas.openxmlformats.org/drawingml/2006/chart" r:id="rId3"/>
          </a:graphicData>
        </a:graphic>
      </p:graphicFrame>
      <p:sp>
        <p:nvSpPr>
          <p:cNvPr id="22" name="Card"/>
          <p:cNvSpPr/>
          <p:nvPr/>
        </p:nvSpPr>
        <p:spPr>
          <a:xfrm>
            <a:off x="457200" y="5760720"/>
            <a:ext cx="11274552" cy="566928"/>
          </a:xfrm>
          <a:prstGeom prst="roundRect">
            <a:avLst>
              <a:gd name="adj" fmla="val 19355"/>
            </a:avLst>
          </a:prstGeom>
          <a:solidFill>
            <a:srgbClr val="FDF1DC"/>
          </a:solidFill>
          <a:ln w="12700">
            <a:solidFill>
              <a:srgbClr val="FFFFFF">
                <a:alpha val="0"/>
              </a:srgbClr>
            </a:solidFill>
            <a:prstDash val="solid"/>
          </a:ln>
        </p:spPr>
      </p:sp>
      <p:sp>
        <p:nvSpPr>
          <p:cNvPr id="23" name="Text 17"/>
          <p:cNvSpPr txBox="1"/>
          <p:nvPr/>
        </p:nvSpPr>
        <p:spPr>
          <a:xfrm>
            <a:off x="640080" y="5760720"/>
            <a:ext cx="10881360" cy="566928"/>
          </a:xfrm>
          <a:prstGeom prst="rect">
            <a:avLst/>
          </a:prstGeom>
          <a:noFill/>
          <a:ln/>
        </p:spPr>
        <p:txBody>
          <a:bodyPr wrap="square" lIns="0" tIns="0" rIns="0" bIns="0" rtlCol="0" anchor="ctr"/>
          <a:lstStyle/>
          <a:p>
            <a:pPr indent="0" marL="0">
              <a:buNone/>
            </a:pPr>
            <a:r>
              <a:rPr lang="en-US" sz="1250" dirty="0">
                <a:solidFill>
                  <a:srgbClr val="1B2A41"/>
                </a:solidFill>
              </a:rPr>
              <a:t>Accuracy alone can hide weak classes when class distributions are uneven: 176 of 223 Location test reviews are positive. No significance tests or external benchmarks are claimed.</a:t>
            </a:r>
            <a:endParaRPr lang="en-US" sz="125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Confusion matrix and error analysis</a:t>
            </a:r>
            <a:endParaRPr lang="en-US" sz="3000" dirty="0"/>
          </a:p>
        </p:txBody>
      </p:sp>
      <p:sp>
        <p:nvSpPr>
          <p:cNvPr id="4" name="Card"/>
          <p:cNvSpPr/>
          <p:nvPr/>
        </p:nvSpPr>
        <p:spPr>
          <a:xfrm>
            <a:off x="457200" y="1325880"/>
            <a:ext cx="5943600" cy="4983480"/>
          </a:xfrm>
          <a:prstGeom prst="roundRect">
            <a:avLst>
              <a:gd name="adj" fmla="val 220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Text 2"/>
          <p:cNvSpPr txBox="1"/>
          <p:nvPr/>
        </p:nvSpPr>
        <p:spPr>
          <a:xfrm>
            <a:off x="640080" y="1417320"/>
            <a:ext cx="5577840" cy="274320"/>
          </a:xfrm>
          <a:prstGeom prst="rect">
            <a:avLst/>
          </a:prstGeom>
          <a:noFill/>
          <a:ln/>
        </p:spPr>
        <p:txBody>
          <a:bodyPr wrap="square" lIns="0" tIns="0" rIns="0" bIns="0" rtlCol="0" anchor="t"/>
          <a:lstStyle/>
          <a:p>
            <a:pPr indent="0" marL="0">
              <a:buNone/>
            </a:pPr>
            <a:r>
              <a:rPr lang="en-US" sz="1400" b="1" dirty="0">
                <a:solidFill>
                  <a:srgbClr val="1F3A6E"/>
                </a:solidFill>
              </a:rPr>
              <a:t>Overall rating — actual vs predicted stars (test, n = 370)</a:t>
            </a:r>
            <a:endParaRPr lang="en-US" sz="1400" dirty="0"/>
          </a:p>
        </p:txBody>
      </p:sp>
      <p:sp>
        <p:nvSpPr>
          <p:cNvPr id="6" name="Text 3"/>
          <p:cNvSpPr txBox="1"/>
          <p:nvPr/>
        </p:nvSpPr>
        <p:spPr>
          <a:xfrm>
            <a:off x="1965960" y="1783080"/>
            <a:ext cx="4114800" cy="228600"/>
          </a:xfrm>
          <a:prstGeom prst="rect">
            <a:avLst/>
          </a:prstGeom>
          <a:noFill/>
          <a:ln/>
        </p:spPr>
        <p:txBody>
          <a:bodyPr wrap="square" lIns="0" tIns="0" rIns="0" bIns="0" rtlCol="0" anchor="t"/>
          <a:lstStyle/>
          <a:p>
            <a:pPr algn="ctr" indent="0" marL="0">
              <a:buNone/>
            </a:pPr>
            <a:r>
              <a:rPr lang="en-US" sz="1100" b="1" spc="100" kern="0" dirty="0">
                <a:solidFill>
                  <a:srgbClr val="5B6B84"/>
                </a:solidFill>
              </a:rPr>
              <a:t>PREDICTED RATING →</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5577840" cy="914400"/>
        </p:xfrm>
        <a:graphic>
          <a:graphicData uri="http://schemas.openxmlformats.org/drawingml/2006/table">
            <a:tbl>
              <a:tblPr/>
              <a:tblGrid>
                <a:gridCol w="1234440"/>
                <a:gridCol w="868680"/>
                <a:gridCol w="868680"/>
                <a:gridCol w="868680"/>
                <a:gridCol w="868680"/>
                <a:gridCol w="868680"/>
              </a:tblGrid>
              <a:tr h="411480">
                <a:tc>
                  <a:txBody>
                    <a:bodyPr/>
                    <a:lstStyle/>
                    <a:p>
                      <a:pPr algn="ctr" indent="0" marL="0">
                        <a:buNone/>
                      </a:pPr>
                      <a:r>
                        <a:rPr lang="en-US" sz="1000" b="1" dirty="0">
                          <a:solidFill>
                            <a:srgbClr val="5B6B84"/>
                          </a:solidFill>
                        </a:rPr>
                        <a:t>ACTUAL ↓</a:t>
                      </a:r>
                      <a:endParaRPr lang="en-US" sz="10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3A6E"/>
                          </a:solidFill>
                        </a:rPr>
                        <a:t>1★</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300" b="1" dirty="0">
                          <a:solidFill>
                            <a:srgbClr val="1F3A6E"/>
                          </a:solidFill>
                        </a:rPr>
                        <a:t>2★</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300" b="1" dirty="0">
                          <a:solidFill>
                            <a:srgbClr val="1F3A6E"/>
                          </a:solidFill>
                        </a:rPr>
                        <a:t>3★</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300" b="1" dirty="0">
                          <a:solidFill>
                            <a:srgbClr val="1F3A6E"/>
                          </a:solidFill>
                        </a:rPr>
                        <a:t>4★</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300" b="1" dirty="0">
                          <a:solidFill>
                            <a:srgbClr val="1F3A6E"/>
                          </a:solidFill>
                        </a:rPr>
                        <a:t>5★</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r>
              <a:tr h="566928">
                <a:tc>
                  <a:txBody>
                    <a:bodyPr/>
                    <a:lstStyle/>
                    <a:p>
                      <a:pPr algn="ctr" indent="0" marL="0">
                        <a:buNone/>
                      </a:pPr>
                      <a:r>
                        <a:rPr lang="en-US" sz="1300" b="1" dirty="0">
                          <a:solidFill>
                            <a:srgbClr val="1F3A6E"/>
                          </a:solidFill>
                        </a:rPr>
                        <a:t>1★ (n=85)</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600" b="1" dirty="0">
                          <a:solidFill>
                            <a:srgbClr val="FFFFFF"/>
                          </a:solidFill>
                        </a:rPr>
                        <a:t>69</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E7583"/>
                    </a:solidFill>
                  </a:tcPr>
                </a:tc>
                <a:tc>
                  <a:txBody>
                    <a:bodyPr/>
                    <a:lstStyle/>
                    <a:p>
                      <a:pPr algn="ctr" indent="0" marL="0">
                        <a:buNone/>
                      </a:pPr>
                      <a:r>
                        <a:rPr lang="en-US" sz="1600" dirty="0">
                          <a:solidFill>
                            <a:srgbClr val="1B2A41"/>
                          </a:solidFill>
                        </a:rPr>
                        <a:t>11</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ADCE0"/>
                    </a:solidFill>
                  </a:tcPr>
                </a:tc>
                <a:tc>
                  <a:txBody>
                    <a:bodyPr/>
                    <a:lstStyle/>
                    <a:p>
                      <a:pPr algn="ctr" indent="0" marL="0">
                        <a:buNone/>
                      </a:pPr>
                      <a:r>
                        <a:rPr lang="en-US" sz="1600" dirty="0">
                          <a:solidFill>
                            <a:srgbClr val="1B2A41"/>
                          </a:solidFill>
                        </a:rPr>
                        <a:t>2</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0F5F6"/>
                    </a:solidFill>
                  </a:tcPr>
                </a:tc>
                <a:tc>
                  <a:txBody>
                    <a:bodyPr/>
                    <a:lstStyle/>
                    <a:p>
                      <a:pPr algn="ctr" indent="0" marL="0">
                        <a:buNone/>
                      </a:pPr>
                      <a:r>
                        <a:rPr lang="en-US" sz="1600" dirty="0">
                          <a:solidFill>
                            <a:srgbClr val="1B2A41"/>
                          </a:solidFill>
                        </a:rPr>
                        <a:t>1</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A"/>
                    </a:solidFill>
                  </a:tcPr>
                </a:tc>
                <a:tc>
                  <a:txBody>
                    <a:bodyPr/>
                    <a:lstStyle/>
                    <a:p>
                      <a:pPr algn="ctr" indent="0" marL="0">
                        <a:buNone/>
                      </a:pPr>
                      <a:r>
                        <a:rPr lang="en-US" sz="1600" dirty="0">
                          <a:solidFill>
                            <a:srgbClr val="1B2A41"/>
                          </a:solidFill>
                        </a:rPr>
                        <a:t>2</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0F5F6"/>
                    </a:solidFill>
                  </a:tcPr>
                </a:tc>
              </a:tr>
              <a:tr h="566928">
                <a:tc>
                  <a:txBody>
                    <a:bodyPr/>
                    <a:lstStyle/>
                    <a:p>
                      <a:pPr algn="ctr" indent="0" marL="0">
                        <a:buNone/>
                      </a:pPr>
                      <a:r>
                        <a:rPr lang="en-US" sz="1300" b="1" dirty="0">
                          <a:solidFill>
                            <a:srgbClr val="1F3A6E"/>
                          </a:solidFill>
                        </a:rPr>
                        <a:t>2★ (n=85)</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600" dirty="0">
                          <a:solidFill>
                            <a:srgbClr val="FFFFFF"/>
                          </a:solidFill>
                        </a:rPr>
                        <a:t>39</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7A5AE"/>
                    </a:solidFill>
                  </a:tcPr>
                </a:tc>
                <a:tc>
                  <a:txBody>
                    <a:bodyPr/>
                    <a:lstStyle/>
                    <a:p>
                      <a:pPr algn="ctr" indent="0" marL="0">
                        <a:buNone/>
                      </a:pPr>
                      <a:r>
                        <a:rPr lang="en-US" sz="1600" b="1" dirty="0">
                          <a:solidFill>
                            <a:srgbClr val="1B2A41"/>
                          </a:solidFill>
                        </a:rPr>
                        <a:t>17</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6CFD4"/>
                    </a:solidFill>
                  </a:tcPr>
                </a:tc>
                <a:tc>
                  <a:txBody>
                    <a:bodyPr/>
                    <a:lstStyle/>
                    <a:p>
                      <a:pPr algn="ctr" indent="0" marL="0">
                        <a:buNone/>
                      </a:pPr>
                      <a:r>
                        <a:rPr lang="en-US" sz="1600" dirty="0">
                          <a:solidFill>
                            <a:srgbClr val="1B2A41"/>
                          </a:solidFill>
                        </a:rPr>
                        <a:t>27</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8BBC2"/>
                    </a:solidFill>
                  </a:tcPr>
                </a:tc>
                <a:tc>
                  <a:txBody>
                    <a:bodyPr/>
                    <a:lstStyle/>
                    <a:p>
                      <a:pPr algn="ctr" indent="0" marL="0">
                        <a:buNone/>
                      </a:pPr>
                      <a:r>
                        <a:rPr lang="en-US" sz="1600" dirty="0">
                          <a:solidFill>
                            <a:srgbClr val="1B2A41"/>
                          </a:solidFill>
                        </a:rPr>
                        <a:t>1</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A"/>
                    </a:solidFill>
                  </a:tcPr>
                </a:tc>
                <a:tc>
                  <a:txBody>
                    <a:bodyPr/>
                    <a:lstStyle/>
                    <a:p>
                      <a:pPr algn="ctr" indent="0" marL="0">
                        <a:buNone/>
                      </a:pPr>
                      <a:r>
                        <a:rPr lang="en-US" sz="1600" dirty="0">
                          <a:solidFill>
                            <a:srgbClr val="1B2A41"/>
                          </a:solidFill>
                        </a:rPr>
                        <a:t>1</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A"/>
                    </a:solidFill>
                  </a:tcPr>
                </a:tc>
              </a:tr>
              <a:tr h="566928">
                <a:tc>
                  <a:txBody>
                    <a:bodyPr/>
                    <a:lstStyle/>
                    <a:p>
                      <a:pPr algn="ctr" indent="0" marL="0">
                        <a:buNone/>
                      </a:pPr>
                      <a:r>
                        <a:rPr lang="en-US" sz="1300" b="1" dirty="0">
                          <a:solidFill>
                            <a:srgbClr val="1F3A6E"/>
                          </a:solidFill>
                        </a:rPr>
                        <a:t>3★ (n=80)</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600" dirty="0">
                          <a:solidFill>
                            <a:srgbClr val="1B2A41"/>
                          </a:solidFill>
                        </a:rPr>
                        <a:t>8</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4E2E5"/>
                    </a:solidFill>
                  </a:tcPr>
                </a:tc>
                <a:tc>
                  <a:txBody>
                    <a:bodyPr/>
                    <a:lstStyle/>
                    <a:p>
                      <a:pPr algn="ctr" indent="0" marL="0">
                        <a:buNone/>
                      </a:pPr>
                      <a:r>
                        <a:rPr lang="en-US" sz="1600" dirty="0">
                          <a:solidFill>
                            <a:srgbClr val="1B2A41"/>
                          </a:solidFill>
                        </a:rPr>
                        <a:t>13</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1D6DA"/>
                    </a:solidFill>
                  </a:tcPr>
                </a:tc>
                <a:tc>
                  <a:txBody>
                    <a:bodyPr/>
                    <a:lstStyle/>
                    <a:p>
                      <a:pPr algn="ctr" indent="0" marL="0">
                        <a:buNone/>
                      </a:pPr>
                      <a:r>
                        <a:rPr lang="en-US" sz="1600" b="1" dirty="0">
                          <a:solidFill>
                            <a:srgbClr val="FFFFFF"/>
                          </a:solidFill>
                        </a:rPr>
                        <a:t>40</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6E9FA9"/>
                    </a:solidFill>
                  </a:tcPr>
                </a:tc>
                <a:tc>
                  <a:txBody>
                    <a:bodyPr/>
                    <a:lstStyle/>
                    <a:p>
                      <a:pPr algn="ctr" indent="0" marL="0">
                        <a:buNone/>
                      </a:pPr>
                      <a:r>
                        <a:rPr lang="en-US" sz="1600" dirty="0">
                          <a:solidFill>
                            <a:srgbClr val="1B2A41"/>
                          </a:solidFill>
                        </a:rPr>
                        <a:t>15</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9D1D6"/>
                    </a:solidFill>
                  </a:tcPr>
                </a:tc>
                <a:tc>
                  <a:txBody>
                    <a:bodyPr/>
                    <a:lstStyle/>
                    <a:p>
                      <a:pPr algn="ctr" indent="0" marL="0">
                        <a:buNone/>
                      </a:pPr>
                      <a:r>
                        <a:rPr lang="en-US" sz="1600" dirty="0">
                          <a:solidFill>
                            <a:srgbClr val="1B2A41"/>
                          </a:solidFill>
                        </a:rPr>
                        <a:t>4</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5EEF0"/>
                    </a:solidFill>
                  </a:tcPr>
                </a:tc>
              </a:tr>
              <a:tr h="566928">
                <a:tc>
                  <a:txBody>
                    <a:bodyPr/>
                    <a:lstStyle/>
                    <a:p>
                      <a:pPr algn="ctr" indent="0" marL="0">
                        <a:buNone/>
                      </a:pPr>
                      <a:r>
                        <a:rPr lang="en-US" sz="1300" b="1" dirty="0">
                          <a:solidFill>
                            <a:srgbClr val="1F3A6E"/>
                          </a:solidFill>
                        </a:rPr>
                        <a:t>4★ (n=55)</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600" dirty="0">
                          <a:solidFill>
                            <a:srgbClr val="1B2A41"/>
                          </a:solidFill>
                        </a:rPr>
                        <a:t>0</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A41"/>
                          </a:solidFill>
                        </a:rPr>
                        <a:t>2</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F2F3"/>
                    </a:solidFill>
                  </a:tcPr>
                </a:tc>
                <a:tc>
                  <a:txBody>
                    <a:bodyPr/>
                    <a:lstStyle/>
                    <a:p>
                      <a:pPr algn="ctr" indent="0" marL="0">
                        <a:buNone/>
                      </a:pPr>
                      <a:r>
                        <a:rPr lang="en-US" sz="1600" dirty="0">
                          <a:solidFill>
                            <a:srgbClr val="1B2A41"/>
                          </a:solidFill>
                        </a:rPr>
                        <a:t>10</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BD2D7"/>
                    </a:solidFill>
                  </a:tcPr>
                </a:tc>
                <a:tc>
                  <a:txBody>
                    <a:bodyPr/>
                    <a:lstStyle/>
                    <a:p>
                      <a:pPr algn="ctr" indent="0" marL="0">
                        <a:buNone/>
                      </a:pPr>
                      <a:r>
                        <a:rPr lang="en-US" sz="1600" b="1" dirty="0">
                          <a:solidFill>
                            <a:srgbClr val="FFFFFF"/>
                          </a:solidFill>
                        </a:rPr>
                        <a:t>33</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9919C"/>
                    </a:solidFill>
                  </a:tcPr>
                </a:tc>
                <a:tc>
                  <a:txBody>
                    <a:bodyPr/>
                    <a:lstStyle/>
                    <a:p>
                      <a:pPr algn="ctr" indent="0" marL="0">
                        <a:buNone/>
                      </a:pPr>
                      <a:r>
                        <a:rPr lang="en-US" sz="1600" dirty="0">
                          <a:solidFill>
                            <a:srgbClr val="1B2A41"/>
                          </a:solidFill>
                        </a:rPr>
                        <a:t>10</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BD2D7"/>
                    </a:solidFill>
                  </a:tcPr>
                </a:tc>
              </a:tr>
              <a:tr h="566928">
                <a:tc>
                  <a:txBody>
                    <a:bodyPr/>
                    <a:lstStyle/>
                    <a:p>
                      <a:pPr algn="ctr" indent="0" marL="0">
                        <a:buNone/>
                      </a:pPr>
                      <a:r>
                        <a:rPr lang="en-US" sz="1300" b="1" dirty="0">
                          <a:solidFill>
                            <a:srgbClr val="1F3A6E"/>
                          </a:solidFill>
                        </a:rPr>
                        <a:t>5★ (n=65)</a:t>
                      </a:r>
                      <a:endParaRPr lang="en-US" sz="13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ECF6"/>
                    </a:solidFill>
                  </a:tcPr>
                </a:tc>
                <a:tc>
                  <a:txBody>
                    <a:bodyPr/>
                    <a:lstStyle/>
                    <a:p>
                      <a:pPr algn="ctr" indent="0" marL="0">
                        <a:buNone/>
                      </a:pPr>
                      <a:r>
                        <a:rPr lang="en-US" sz="1600" dirty="0">
                          <a:solidFill>
                            <a:srgbClr val="1B2A41"/>
                          </a:solidFill>
                        </a:rPr>
                        <a:t>4</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EBED"/>
                    </a:solidFill>
                  </a:tcPr>
                </a:tc>
                <a:tc>
                  <a:txBody>
                    <a:bodyPr/>
                    <a:lstStyle/>
                    <a:p>
                      <a:pPr algn="ctr" indent="0" marL="0">
                        <a:buNone/>
                      </a:pPr>
                      <a:r>
                        <a:rPr lang="en-US" sz="1600" dirty="0">
                          <a:solidFill>
                            <a:srgbClr val="1B2A41"/>
                          </a:solidFill>
                        </a:rPr>
                        <a:t>1</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8F9"/>
                    </a:solidFill>
                  </a:tcPr>
                </a:tc>
                <a:tc>
                  <a:txBody>
                    <a:bodyPr/>
                    <a:lstStyle/>
                    <a:p>
                      <a:pPr algn="ctr" indent="0" marL="0">
                        <a:buNone/>
                      </a:pPr>
                      <a:r>
                        <a:rPr lang="en-US" sz="1600" dirty="0">
                          <a:solidFill>
                            <a:srgbClr val="1B2A41"/>
                          </a:solidFill>
                        </a:rPr>
                        <a:t>3</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FF1"/>
                    </a:solidFill>
                  </a:tcPr>
                </a:tc>
                <a:tc>
                  <a:txBody>
                    <a:bodyPr/>
                    <a:lstStyle/>
                    <a:p>
                      <a:pPr algn="ctr" indent="0" marL="0">
                        <a:buNone/>
                      </a:pPr>
                      <a:r>
                        <a:rPr lang="en-US" sz="1600" dirty="0">
                          <a:solidFill>
                            <a:srgbClr val="FFFFFF"/>
                          </a:solidFill>
                        </a:rPr>
                        <a:t>27</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1ACB4"/>
                    </a:solidFill>
                  </a:tcPr>
                </a:tc>
                <a:tc>
                  <a:txBody>
                    <a:bodyPr/>
                    <a:lstStyle/>
                    <a:p>
                      <a:pPr algn="ctr" indent="0" marL="0">
                        <a:buNone/>
                      </a:pPr>
                      <a:r>
                        <a:rPr lang="en-US" sz="1600" b="1" dirty="0">
                          <a:solidFill>
                            <a:srgbClr val="FFFFFF"/>
                          </a:solidFill>
                        </a:rPr>
                        <a:t>30</a:t>
                      </a:r>
                      <a:endParaRPr lang="en-US" sz="1600" dirty="0"/>
                    </a:p>
                  </a:txBody>
                  <a:tcPr marL="36576" marR="36576"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6A5AE"/>
                    </a:solidFill>
                  </a:tcPr>
                </a:tc>
              </a:tr>
            </a:tbl>
          </a:graphicData>
        </a:graphic>
      </p:graphicFrame>
      <p:sp>
        <p:nvSpPr>
          <p:cNvPr id="8" name="Text 4"/>
          <p:cNvSpPr txBox="1"/>
          <p:nvPr/>
        </p:nvSpPr>
        <p:spPr>
          <a:xfrm>
            <a:off x="640080" y="5596128"/>
            <a:ext cx="2103120" cy="256032"/>
          </a:xfrm>
          <a:prstGeom prst="rect">
            <a:avLst/>
          </a:prstGeom>
          <a:noFill/>
          <a:ln/>
        </p:spPr>
        <p:txBody>
          <a:bodyPr wrap="square" lIns="0" tIns="0" rIns="0" bIns="0" rtlCol="0" anchor="t"/>
          <a:lstStyle/>
          <a:p>
            <a:pPr indent="0" marL="0">
              <a:buNone/>
            </a:pPr>
            <a:r>
              <a:rPr lang="en-US" sz="1100" dirty="0">
                <a:solidFill>
                  <a:srgbClr val="5B6B84"/>
                </a:solidFill>
              </a:rPr>
              <a:t>Share of the true class (row)</a:t>
            </a:r>
            <a:endParaRPr lang="en-US" sz="1100" dirty="0"/>
          </a:p>
        </p:txBody>
      </p:sp>
      <p:sp>
        <p:nvSpPr>
          <p:cNvPr id="9" name="Legend swatch"/>
          <p:cNvSpPr/>
          <p:nvPr/>
        </p:nvSpPr>
        <p:spPr>
          <a:xfrm>
            <a:off x="2743200" y="5596128"/>
            <a:ext cx="457200" cy="237744"/>
          </a:xfrm>
          <a:prstGeom prst="rect">
            <a:avLst/>
          </a:prstGeom>
          <a:solidFill>
            <a:srgbClr val="FFFFFF"/>
          </a:solidFill>
          <a:ln w="6350">
            <a:solidFill>
              <a:srgbClr val="D5DDEA"/>
            </a:solidFill>
            <a:prstDash val="solid"/>
          </a:ln>
        </p:spPr>
      </p:sp>
      <p:sp>
        <p:nvSpPr>
          <p:cNvPr id="10" name="Legend swatch"/>
          <p:cNvSpPr/>
          <p:nvPr/>
        </p:nvSpPr>
        <p:spPr>
          <a:xfrm>
            <a:off x="3200400" y="5596128"/>
            <a:ext cx="457200" cy="237744"/>
          </a:xfrm>
          <a:prstGeom prst="rect">
            <a:avLst/>
          </a:prstGeom>
          <a:solidFill>
            <a:srgbClr val="B6CFD4"/>
          </a:solidFill>
          <a:ln w="6350">
            <a:solidFill>
              <a:srgbClr val="D5DDEA"/>
            </a:solidFill>
            <a:prstDash val="solid"/>
          </a:ln>
        </p:spPr>
      </p:sp>
      <p:sp>
        <p:nvSpPr>
          <p:cNvPr id="11" name="Legend swatch"/>
          <p:cNvSpPr/>
          <p:nvPr/>
        </p:nvSpPr>
        <p:spPr>
          <a:xfrm>
            <a:off x="3657600" y="5596128"/>
            <a:ext cx="457200" cy="237744"/>
          </a:xfrm>
          <a:prstGeom prst="rect">
            <a:avLst/>
          </a:prstGeom>
          <a:solidFill>
            <a:srgbClr val="84AEB6"/>
          </a:solidFill>
          <a:ln w="6350">
            <a:solidFill>
              <a:srgbClr val="D5DDEA"/>
            </a:solidFill>
            <a:prstDash val="solid"/>
          </a:ln>
        </p:spPr>
      </p:sp>
      <p:sp>
        <p:nvSpPr>
          <p:cNvPr id="12" name="Legend swatch"/>
          <p:cNvSpPr/>
          <p:nvPr/>
        </p:nvSpPr>
        <p:spPr>
          <a:xfrm>
            <a:off x="4114800" y="5596128"/>
            <a:ext cx="457200" cy="237744"/>
          </a:xfrm>
          <a:prstGeom prst="rect">
            <a:avLst/>
          </a:prstGeom>
          <a:solidFill>
            <a:srgbClr val="59919C"/>
          </a:solidFill>
          <a:ln w="6350">
            <a:solidFill>
              <a:srgbClr val="D5DDEA"/>
            </a:solidFill>
            <a:prstDash val="solid"/>
          </a:ln>
        </p:spPr>
      </p:sp>
      <p:sp>
        <p:nvSpPr>
          <p:cNvPr id="13" name="Legend swatch"/>
          <p:cNvSpPr/>
          <p:nvPr/>
        </p:nvSpPr>
        <p:spPr>
          <a:xfrm>
            <a:off x="4572000" y="5596128"/>
            <a:ext cx="457200" cy="237744"/>
          </a:xfrm>
          <a:prstGeom prst="rect">
            <a:avLst/>
          </a:prstGeom>
          <a:solidFill>
            <a:srgbClr val="317784"/>
          </a:solidFill>
          <a:ln w="6350">
            <a:solidFill>
              <a:srgbClr val="D5DDEA"/>
            </a:solidFill>
            <a:prstDash val="solid"/>
          </a:ln>
        </p:spPr>
      </p:sp>
      <p:sp>
        <p:nvSpPr>
          <p:cNvPr id="14" name="Legend swatch"/>
          <p:cNvSpPr/>
          <p:nvPr/>
        </p:nvSpPr>
        <p:spPr>
          <a:xfrm>
            <a:off x="5029200" y="5596128"/>
            <a:ext cx="457200" cy="237744"/>
          </a:xfrm>
          <a:prstGeom prst="rect">
            <a:avLst/>
          </a:prstGeom>
          <a:solidFill>
            <a:srgbClr val="0B5E6E"/>
          </a:solidFill>
          <a:ln w="6350">
            <a:solidFill>
              <a:srgbClr val="D5DDEA"/>
            </a:solidFill>
            <a:prstDash val="solid"/>
          </a:ln>
        </p:spPr>
      </p:sp>
      <p:sp>
        <p:nvSpPr>
          <p:cNvPr id="15" name="Text 11"/>
          <p:cNvSpPr txBox="1"/>
          <p:nvPr/>
        </p:nvSpPr>
        <p:spPr>
          <a:xfrm>
            <a:off x="2743200" y="5888736"/>
            <a:ext cx="457200" cy="228600"/>
          </a:xfrm>
          <a:prstGeom prst="rect">
            <a:avLst/>
          </a:prstGeom>
          <a:noFill/>
          <a:ln/>
        </p:spPr>
        <p:txBody>
          <a:bodyPr wrap="square" lIns="0" tIns="0" rIns="0" bIns="0" rtlCol="0" anchor="t"/>
          <a:lstStyle/>
          <a:p>
            <a:pPr indent="0" marL="0">
              <a:buNone/>
            </a:pPr>
            <a:r>
              <a:rPr lang="en-US" sz="1000" dirty="0">
                <a:solidFill>
                  <a:srgbClr val="5B6B84"/>
                </a:solidFill>
              </a:rPr>
              <a:t>0%</a:t>
            </a:r>
            <a:endParaRPr lang="en-US" sz="1000" dirty="0"/>
          </a:p>
        </p:txBody>
      </p:sp>
      <p:sp>
        <p:nvSpPr>
          <p:cNvPr id="16" name="Text 12"/>
          <p:cNvSpPr txBox="1"/>
          <p:nvPr/>
        </p:nvSpPr>
        <p:spPr>
          <a:xfrm>
            <a:off x="5029200" y="5888736"/>
            <a:ext cx="457200" cy="228600"/>
          </a:xfrm>
          <a:prstGeom prst="rect">
            <a:avLst/>
          </a:prstGeom>
          <a:noFill/>
          <a:ln/>
        </p:spPr>
        <p:txBody>
          <a:bodyPr wrap="square" lIns="0" tIns="0" rIns="0" bIns="0" rtlCol="0" anchor="t"/>
          <a:lstStyle/>
          <a:p>
            <a:pPr algn="r" indent="0" marL="0">
              <a:buNone/>
            </a:pPr>
            <a:r>
              <a:rPr lang="en-US" sz="1000" dirty="0">
                <a:solidFill>
                  <a:srgbClr val="5B6B84"/>
                </a:solidFill>
              </a:rPr>
              <a:t>100%</a:t>
            </a:r>
            <a:endParaRPr lang="en-US" sz="1000" dirty="0"/>
          </a:p>
        </p:txBody>
      </p:sp>
      <p:sp>
        <p:nvSpPr>
          <p:cNvPr id="17" name="Card"/>
          <p:cNvSpPr/>
          <p:nvPr/>
        </p:nvSpPr>
        <p:spPr>
          <a:xfrm>
            <a:off x="6583680" y="1325880"/>
            <a:ext cx="5148072" cy="2514600"/>
          </a:xfrm>
          <a:prstGeom prst="roundRect">
            <a:avLst>
              <a:gd name="adj" fmla="val 4364"/>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8" name="Text 14"/>
          <p:cNvSpPr txBox="1"/>
          <p:nvPr/>
        </p:nvSpPr>
        <p:spPr>
          <a:xfrm>
            <a:off x="6766560" y="1417320"/>
            <a:ext cx="4754880" cy="274320"/>
          </a:xfrm>
          <a:prstGeom prst="rect">
            <a:avLst/>
          </a:prstGeom>
          <a:noFill/>
          <a:ln/>
        </p:spPr>
        <p:txBody>
          <a:bodyPr wrap="square" lIns="0" tIns="0" rIns="0" bIns="0" rtlCol="0" anchor="t"/>
          <a:lstStyle/>
          <a:p>
            <a:pPr indent="0" marL="0">
              <a:buNone/>
            </a:pPr>
            <a:r>
              <a:rPr lang="en-US" sz="1400" b="1" dirty="0">
                <a:solidFill>
                  <a:srgbClr val="1F3A6E"/>
                </a:solidFill>
              </a:rPr>
              <a:t>What the matrix shows</a:t>
            </a:r>
            <a:endParaRPr lang="en-US" sz="1400" dirty="0"/>
          </a:p>
        </p:txBody>
      </p:sp>
      <p:sp>
        <p:nvSpPr>
          <p:cNvPr id="19" name="Text 15"/>
          <p:cNvSpPr txBox="1"/>
          <p:nvPr/>
        </p:nvSpPr>
        <p:spPr>
          <a:xfrm>
            <a:off x="6766560" y="1737360"/>
            <a:ext cx="4800600" cy="20574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B2A41"/>
                </a:solidFill>
              </a:rPr>
              <a:t>189 of 370 predictions sit on the diagonal (51.1%).</a:t>
            </a:r>
            <a:endParaRPr lang="en-US" sz="1250" dirty="0"/>
          </a:p>
          <a:p>
            <a:pPr marL="342900" indent="-342900">
              <a:spcAft>
                <a:spcPts val="400"/>
              </a:spcAft>
              <a:buSzPct val="100000"/>
              <a:buChar char="•"/>
            </a:pPr>
            <a:r>
              <a:rPr lang="en-US" sz="1250" dirty="0">
                <a:solidFill>
                  <a:srgbClr val="1B2A41"/>
                </a:solidFill>
              </a:rPr>
              <a:t>1★ is found best: 69 of 85 (81%).</a:t>
            </a:r>
            <a:endParaRPr lang="en-US" sz="1250" dirty="0"/>
          </a:p>
          <a:p>
            <a:pPr marL="342900" indent="-342900">
              <a:spcAft>
                <a:spcPts val="400"/>
              </a:spcAft>
              <a:buSzPct val="100000"/>
              <a:buChar char="•"/>
            </a:pPr>
            <a:r>
              <a:rPr lang="en-US" sz="1250" dirty="0">
                <a:solidFill>
                  <a:srgbClr val="1B2A41"/>
                </a:solidFill>
              </a:rPr>
              <a:t>2★ is hardest: only 17 of 85 correct; 39 went to 1★ and 27 to 3★.</a:t>
            </a:r>
            <a:endParaRPr lang="en-US" sz="1250" dirty="0"/>
          </a:p>
          <a:p>
            <a:pPr marL="342900" indent="-342900">
              <a:spcAft>
                <a:spcPts val="400"/>
              </a:spcAft>
              <a:buSzPct val="100000"/>
              <a:buChar char="•"/>
            </a:pPr>
            <a:r>
              <a:rPr lang="en-US" sz="1250" dirty="0">
                <a:solidFill>
                  <a:srgbClr val="1B2A41"/>
                </a:solidFill>
              </a:rPr>
              <a:t>27 of 65 true 5★ reviews were predicted as 4★. Most errors are neighbouring stars (92.2% within one star).</a:t>
            </a:r>
            <a:endParaRPr lang="en-US" sz="1250" dirty="0"/>
          </a:p>
        </p:txBody>
      </p:sp>
      <p:sp>
        <p:nvSpPr>
          <p:cNvPr id="20" name="Card"/>
          <p:cNvSpPr/>
          <p:nvPr/>
        </p:nvSpPr>
        <p:spPr>
          <a:xfrm>
            <a:off x="6583680" y="3977640"/>
            <a:ext cx="5148072" cy="1143000"/>
          </a:xfrm>
          <a:prstGeom prst="roundRect">
            <a:avLst>
              <a:gd name="adj" fmla="val 9600"/>
            </a:avLst>
          </a:prstGeom>
          <a:solidFill>
            <a:srgbClr val="FDEBE7"/>
          </a:solidFill>
          <a:ln w="12700">
            <a:solidFill>
              <a:srgbClr val="FFFFFF">
                <a:alpha val="0"/>
              </a:srgbClr>
            </a:solidFill>
            <a:prstDash val="solid"/>
          </a:ln>
        </p:spPr>
      </p:sp>
      <p:sp>
        <p:nvSpPr>
          <p:cNvPr id="21" name="Text 17"/>
          <p:cNvSpPr txBox="1"/>
          <p:nvPr/>
        </p:nvSpPr>
        <p:spPr>
          <a:xfrm>
            <a:off x="6766560" y="4041648"/>
            <a:ext cx="4800600" cy="1051560"/>
          </a:xfrm>
          <a:prstGeom prst="rect">
            <a:avLst/>
          </a:prstGeom>
          <a:noFill/>
          <a:ln/>
        </p:spPr>
        <p:txBody>
          <a:bodyPr wrap="square" lIns="0" tIns="0" rIns="0" bIns="0" rtlCol="0" anchor="t"/>
          <a:lstStyle/>
          <a:p>
            <a:pPr indent="0" marL="0">
              <a:buNone/>
            </a:pPr>
            <a:r>
              <a:rPr lang="en-US" sz="1100" b="1" dirty="0">
                <a:solidFill>
                  <a:srgbClr val="C4402D"/>
                </a:solidFill>
              </a:rPr>
              <a:t>Overall · actual 2★, predicted 1★ (confidence 0.600)</a:t>
            </a:r>
            <a:endParaRPr lang="en-US" sz="1200" dirty="0"/>
          </a:p>
          <a:p>
            <a:pPr indent="0" marL="0">
              <a:buNone/>
            </a:pPr>
            <a:r>
              <a:rPr lang="en-US" sz="1200" i="1" dirty="0">
                <a:solidFill>
                  <a:srgbClr val="1B2A41"/>
                </a:solidFill>
              </a:rPr>
              <a:t>“…Room looked nothing like the expedia picture, no coverlet and bed linen was not changed in the 3 days we stayed there.”</a:t>
            </a:r>
            <a:endParaRPr lang="en-US" sz="1200" dirty="0"/>
          </a:p>
        </p:txBody>
      </p:sp>
      <p:sp>
        <p:nvSpPr>
          <p:cNvPr id="22" name="Card"/>
          <p:cNvSpPr/>
          <p:nvPr/>
        </p:nvSpPr>
        <p:spPr>
          <a:xfrm>
            <a:off x="6583680" y="5230368"/>
            <a:ext cx="5148072" cy="1078992"/>
          </a:xfrm>
          <a:prstGeom prst="roundRect">
            <a:avLst>
              <a:gd name="adj" fmla="val 10169"/>
            </a:avLst>
          </a:prstGeom>
          <a:solidFill>
            <a:srgbClr val="FDEBE7"/>
          </a:solidFill>
          <a:ln w="12700">
            <a:solidFill>
              <a:srgbClr val="FFFFFF">
                <a:alpha val="0"/>
              </a:srgbClr>
            </a:solidFill>
            <a:prstDash val="solid"/>
          </a:ln>
        </p:spPr>
      </p:sp>
      <p:sp>
        <p:nvSpPr>
          <p:cNvPr id="23" name="Text 19"/>
          <p:cNvSpPr txBox="1"/>
          <p:nvPr/>
        </p:nvSpPr>
        <p:spPr>
          <a:xfrm>
            <a:off x="6766560" y="5285232"/>
            <a:ext cx="4800600" cy="1005840"/>
          </a:xfrm>
          <a:prstGeom prst="rect">
            <a:avLst/>
          </a:prstGeom>
          <a:noFill/>
          <a:ln/>
        </p:spPr>
        <p:txBody>
          <a:bodyPr wrap="square" lIns="0" tIns="0" rIns="0" bIns="0" rtlCol="0" anchor="t"/>
          <a:lstStyle/>
          <a:p>
            <a:pPr indent="0" marL="0">
              <a:buNone/>
            </a:pPr>
            <a:r>
              <a:rPr lang="en-US" sz="1100" b="1" dirty="0">
                <a:solidFill>
                  <a:srgbClr val="C4402D"/>
                </a:solidFill>
              </a:rPr>
              <a:t>Location · actual 1★, predicted 5★ (confidence 0.796)</a:t>
            </a:r>
            <a:endParaRPr lang="en-US" sz="1200" dirty="0"/>
          </a:p>
          <a:p>
            <a:pPr indent="0" marL="0">
              <a:buNone/>
            </a:pPr>
            <a:r>
              <a:rPr lang="en-US" sz="1200" i="1" dirty="0">
                <a:solidFill>
                  <a:srgbClr val="1B2A41"/>
                </a:solidFill>
              </a:rPr>
              <a:t>“…The location, la rambla, is awful.” — a clear negative opinion predicted positive; only 20 of 223 Location test reviews are negative.</a:t>
            </a:r>
            <a:endParaRPr lang="en-US" sz="12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Confidence-aware prediction</a:t>
            </a:r>
            <a:endParaRPr lang="en-US" sz="3000" dirty="0"/>
          </a:p>
        </p:txBody>
      </p:sp>
      <p:sp>
        <p:nvSpPr>
          <p:cNvPr id="4" name="Card"/>
          <p:cNvSpPr/>
          <p:nvPr/>
        </p:nvSpPr>
        <p:spPr>
          <a:xfrm>
            <a:off x="457200" y="1371600"/>
            <a:ext cx="2651760" cy="1371600"/>
          </a:xfrm>
          <a:prstGeom prst="roundRect">
            <a:avLst>
              <a:gd name="adj" fmla="val 8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Step number"/>
          <p:cNvSpPr/>
          <p:nvPr/>
        </p:nvSpPr>
        <p:spPr>
          <a:xfrm>
            <a:off x="621792" y="1508760"/>
            <a:ext cx="365760" cy="365760"/>
          </a:xfrm>
          <a:prstGeom prst="ellipse">
            <a:avLst/>
          </a:prstGeom>
          <a:solidFill>
            <a:srgbClr val="1F3A6E"/>
          </a:solidFill>
          <a:ln w="12700">
            <a:solidFill>
              <a:srgbClr val="1F3A6E"/>
            </a:solidFill>
            <a:prstDash val="solid"/>
          </a:ln>
        </p:spPr>
      </p:sp>
      <p:sp>
        <p:nvSpPr>
          <p:cNvPr id="6" name="Text 3"/>
          <p:cNvSpPr txBox="1"/>
          <p:nvPr/>
        </p:nvSpPr>
        <p:spPr>
          <a:xfrm>
            <a:off x="621792"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97280" y="1508760"/>
            <a:ext cx="1920240" cy="365760"/>
          </a:xfrm>
          <a:prstGeom prst="rect">
            <a:avLst/>
          </a:prstGeom>
          <a:noFill/>
          <a:ln/>
        </p:spPr>
        <p:txBody>
          <a:bodyPr wrap="square" lIns="0" tIns="0" rIns="0" bIns="0" rtlCol="0" anchor="ctr"/>
          <a:lstStyle/>
          <a:p>
            <a:pPr indent="0" marL="0">
              <a:buNone/>
            </a:pPr>
            <a:r>
              <a:rPr lang="en-US" sz="1400" b="1" dirty="0">
                <a:solidFill>
                  <a:srgbClr val="1F3A6E"/>
                </a:solidFill>
              </a:rPr>
              <a:t>Prediction</a:t>
            </a:r>
            <a:endParaRPr lang="en-US" sz="1400" dirty="0"/>
          </a:p>
        </p:txBody>
      </p:sp>
      <p:sp>
        <p:nvSpPr>
          <p:cNvPr id="8" name="Text 5"/>
          <p:cNvSpPr txBox="1"/>
          <p:nvPr/>
        </p:nvSpPr>
        <p:spPr>
          <a:xfrm>
            <a:off x="621792" y="1965960"/>
            <a:ext cx="2377440" cy="731520"/>
          </a:xfrm>
          <a:prstGeom prst="rect">
            <a:avLst/>
          </a:prstGeom>
          <a:noFill/>
          <a:ln/>
        </p:spPr>
        <p:txBody>
          <a:bodyPr wrap="square" lIns="0" tIns="0" rIns="0" bIns="0" rtlCol="0" anchor="t"/>
          <a:lstStyle/>
          <a:p>
            <a:pPr indent="0" marL="0">
              <a:buNone/>
            </a:pPr>
            <a:r>
              <a:rPr lang="en-US" sz="1150" dirty="0">
                <a:solidFill>
                  <a:srgbClr val="1B2A41"/>
                </a:solidFill>
              </a:rPr>
              <a:t>Rating and class probabilities from the model</a:t>
            </a:r>
            <a:endParaRPr lang="en-US" sz="1150" dirty="0"/>
          </a:p>
        </p:txBody>
      </p:sp>
      <p:sp>
        <p:nvSpPr>
          <p:cNvPr id="9" name="Arrow"/>
          <p:cNvSpPr/>
          <p:nvPr/>
        </p:nvSpPr>
        <p:spPr>
          <a:xfrm>
            <a:off x="3154680" y="1920240"/>
            <a:ext cx="365760" cy="274320"/>
          </a:xfrm>
          <a:prstGeom prst="rightArrow">
            <a:avLst/>
          </a:prstGeom>
          <a:solidFill>
            <a:srgbClr val="0E9AA7"/>
          </a:solidFill>
          <a:ln w="12700">
            <a:solidFill>
              <a:srgbClr val="0E9AA7"/>
            </a:solidFill>
            <a:prstDash val="solid"/>
          </a:ln>
        </p:spPr>
      </p:sp>
      <p:sp>
        <p:nvSpPr>
          <p:cNvPr id="10" name="Card"/>
          <p:cNvSpPr/>
          <p:nvPr/>
        </p:nvSpPr>
        <p:spPr>
          <a:xfrm>
            <a:off x="3566160" y="1371600"/>
            <a:ext cx="2651760" cy="1371600"/>
          </a:xfrm>
          <a:prstGeom prst="roundRect">
            <a:avLst>
              <a:gd name="adj" fmla="val 8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1" name="Step number"/>
          <p:cNvSpPr/>
          <p:nvPr/>
        </p:nvSpPr>
        <p:spPr>
          <a:xfrm>
            <a:off x="3730752" y="1508760"/>
            <a:ext cx="365760" cy="365760"/>
          </a:xfrm>
          <a:prstGeom prst="ellipse">
            <a:avLst/>
          </a:prstGeom>
          <a:solidFill>
            <a:srgbClr val="0E9AA7"/>
          </a:solidFill>
          <a:ln w="12700">
            <a:solidFill>
              <a:srgbClr val="0E9AA7"/>
            </a:solidFill>
            <a:prstDash val="solid"/>
          </a:ln>
        </p:spPr>
      </p:sp>
      <p:sp>
        <p:nvSpPr>
          <p:cNvPr id="12" name="Text 9"/>
          <p:cNvSpPr txBox="1"/>
          <p:nvPr/>
        </p:nvSpPr>
        <p:spPr>
          <a:xfrm>
            <a:off x="3730752"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4206240" y="1508760"/>
            <a:ext cx="1920240" cy="365760"/>
          </a:xfrm>
          <a:prstGeom prst="rect">
            <a:avLst/>
          </a:prstGeom>
          <a:noFill/>
          <a:ln/>
        </p:spPr>
        <p:txBody>
          <a:bodyPr wrap="square" lIns="0" tIns="0" rIns="0" bIns="0" rtlCol="0" anchor="ctr"/>
          <a:lstStyle/>
          <a:p>
            <a:pPr indent="0" marL="0">
              <a:buNone/>
            </a:pPr>
            <a:r>
              <a:rPr lang="en-US" sz="1400" b="1" dirty="0">
                <a:solidFill>
                  <a:srgbClr val="1F3A6E"/>
                </a:solidFill>
              </a:rPr>
              <a:t>Confidence assessment</a:t>
            </a:r>
            <a:endParaRPr lang="en-US" sz="1400" dirty="0"/>
          </a:p>
        </p:txBody>
      </p:sp>
      <p:sp>
        <p:nvSpPr>
          <p:cNvPr id="14" name="Text 11"/>
          <p:cNvSpPr txBox="1"/>
          <p:nvPr/>
        </p:nvSpPr>
        <p:spPr>
          <a:xfrm>
            <a:off x="3730752" y="1965960"/>
            <a:ext cx="2377440" cy="731520"/>
          </a:xfrm>
          <a:prstGeom prst="rect">
            <a:avLst/>
          </a:prstGeom>
          <a:noFill/>
          <a:ln/>
        </p:spPr>
        <p:txBody>
          <a:bodyPr wrap="square" lIns="0" tIns="0" rIns="0" bIns="0" rtlCol="0" anchor="t"/>
          <a:lstStyle/>
          <a:p>
            <a:pPr indent="0" marL="0">
              <a:buNone/>
            </a:pPr>
            <a:r>
              <a:rPr lang="en-US" sz="1150" dirty="0">
                <a:solidFill>
                  <a:srgbClr val="1B2A41"/>
                </a:solidFill>
              </a:rPr>
              <a:t>Probability of the predicted polarity</a:t>
            </a:r>
            <a:endParaRPr lang="en-US" sz="1150" dirty="0"/>
          </a:p>
        </p:txBody>
      </p:sp>
      <p:sp>
        <p:nvSpPr>
          <p:cNvPr id="15" name="Arrow"/>
          <p:cNvSpPr/>
          <p:nvPr/>
        </p:nvSpPr>
        <p:spPr>
          <a:xfrm>
            <a:off x="6263640" y="1920240"/>
            <a:ext cx="365760" cy="274320"/>
          </a:xfrm>
          <a:prstGeom prst="rightArrow">
            <a:avLst/>
          </a:prstGeom>
          <a:solidFill>
            <a:srgbClr val="0E9AA7"/>
          </a:solidFill>
          <a:ln w="12700">
            <a:solidFill>
              <a:srgbClr val="0E9AA7"/>
            </a:solidFill>
            <a:prstDash val="solid"/>
          </a:ln>
        </p:spPr>
      </p:sp>
      <p:sp>
        <p:nvSpPr>
          <p:cNvPr id="16" name="Card"/>
          <p:cNvSpPr/>
          <p:nvPr/>
        </p:nvSpPr>
        <p:spPr>
          <a:xfrm>
            <a:off x="6675120" y="1371600"/>
            <a:ext cx="2651760" cy="1371600"/>
          </a:xfrm>
          <a:prstGeom prst="roundRect">
            <a:avLst>
              <a:gd name="adj" fmla="val 8000"/>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7" name="Step number"/>
          <p:cNvSpPr/>
          <p:nvPr/>
        </p:nvSpPr>
        <p:spPr>
          <a:xfrm>
            <a:off x="6839712" y="1508760"/>
            <a:ext cx="365760" cy="365760"/>
          </a:xfrm>
          <a:prstGeom prst="ellipse">
            <a:avLst/>
          </a:prstGeom>
          <a:solidFill>
            <a:srgbClr val="E8604C"/>
          </a:solidFill>
          <a:ln w="12700">
            <a:solidFill>
              <a:srgbClr val="E8604C"/>
            </a:solidFill>
            <a:prstDash val="solid"/>
          </a:ln>
        </p:spPr>
      </p:sp>
      <p:sp>
        <p:nvSpPr>
          <p:cNvPr id="18" name="Text 15"/>
          <p:cNvSpPr txBox="1"/>
          <p:nvPr/>
        </p:nvSpPr>
        <p:spPr>
          <a:xfrm>
            <a:off x="6839712"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7315200" y="1508760"/>
            <a:ext cx="1920240" cy="365760"/>
          </a:xfrm>
          <a:prstGeom prst="rect">
            <a:avLst/>
          </a:prstGeom>
          <a:noFill/>
          <a:ln/>
        </p:spPr>
        <p:txBody>
          <a:bodyPr wrap="square" lIns="0" tIns="0" rIns="0" bIns="0" rtlCol="0" anchor="ctr"/>
          <a:lstStyle/>
          <a:p>
            <a:pPr indent="0" marL="0">
              <a:buNone/>
            </a:pPr>
            <a:r>
              <a:rPr lang="en-US" sz="1400" b="1" dirty="0">
                <a:solidFill>
                  <a:srgbClr val="1F3A6E"/>
                </a:solidFill>
              </a:rPr>
              <a:t>Validation-derived threshold</a:t>
            </a:r>
            <a:endParaRPr lang="en-US" sz="1400" dirty="0"/>
          </a:p>
        </p:txBody>
      </p:sp>
      <p:sp>
        <p:nvSpPr>
          <p:cNvPr id="20" name="Text 17"/>
          <p:cNvSpPr txBox="1"/>
          <p:nvPr/>
        </p:nvSpPr>
        <p:spPr>
          <a:xfrm>
            <a:off x="6839712" y="1965960"/>
            <a:ext cx="2377440" cy="731520"/>
          </a:xfrm>
          <a:prstGeom prst="rect">
            <a:avLst/>
          </a:prstGeom>
          <a:noFill/>
          <a:ln/>
        </p:spPr>
        <p:txBody>
          <a:bodyPr wrap="square" lIns="0" tIns="0" rIns="0" bIns="0" rtlCol="0" anchor="t"/>
          <a:lstStyle/>
          <a:p>
            <a:pPr indent="0" marL="0">
              <a:buNone/>
            </a:pPr>
            <a:r>
              <a:rPr lang="en-US" sz="1150" dirty="0">
                <a:solidFill>
                  <a:srgbClr val="1B2A41"/>
                </a:solidFill>
              </a:rPr>
              <a:t>Maximises balanced accuracy of spotting correct vs wrong validation predictions; frozen before refit</a:t>
            </a:r>
            <a:endParaRPr lang="en-US" sz="1150" dirty="0"/>
          </a:p>
        </p:txBody>
      </p:sp>
      <p:sp>
        <p:nvSpPr>
          <p:cNvPr id="21" name="Arrow"/>
          <p:cNvSpPr/>
          <p:nvPr/>
        </p:nvSpPr>
        <p:spPr>
          <a:xfrm>
            <a:off x="9738360" y="1920240"/>
            <a:ext cx="365760" cy="274320"/>
          </a:xfrm>
          <a:prstGeom prst="rightArrow">
            <a:avLst/>
          </a:prstGeom>
          <a:solidFill>
            <a:srgbClr val="0E9AA7"/>
          </a:solidFill>
          <a:ln w="12700">
            <a:solidFill>
              <a:srgbClr val="0E9AA7"/>
            </a:solidFill>
            <a:prstDash val="solid"/>
          </a:ln>
        </p:spPr>
      </p:sp>
      <p:sp>
        <p:nvSpPr>
          <p:cNvPr id="22" name="Pill"/>
          <p:cNvSpPr/>
          <p:nvPr/>
        </p:nvSpPr>
        <p:spPr>
          <a:xfrm>
            <a:off x="10195560" y="1481328"/>
            <a:ext cx="1536192" cy="502920"/>
          </a:xfrm>
          <a:prstGeom prst="roundRect">
            <a:avLst>
              <a:gd name="adj" fmla="val 50000"/>
            </a:avLst>
          </a:prstGeom>
          <a:solidFill>
            <a:srgbClr val="0E9AA7"/>
          </a:solidFill>
          <a:ln w="12700">
            <a:solidFill>
              <a:srgbClr val="0E9AA7"/>
            </a:solidFill>
            <a:prstDash val="solid"/>
          </a:ln>
        </p:spPr>
      </p:sp>
      <p:sp>
        <p:nvSpPr>
          <p:cNvPr id="23" name="Text 20"/>
          <p:cNvSpPr txBox="1"/>
          <p:nvPr/>
        </p:nvSpPr>
        <p:spPr>
          <a:xfrm>
            <a:off x="10195560" y="1481328"/>
            <a:ext cx="1536192" cy="502920"/>
          </a:xfrm>
          <a:prstGeom prst="rect">
            <a:avLst/>
          </a:prstGeom>
          <a:noFill/>
          <a:ln/>
        </p:spPr>
        <p:txBody>
          <a:bodyPr wrap="square" lIns="0" tIns="0" rIns="0" bIns="0" rtlCol="0" anchor="ctr"/>
          <a:lstStyle/>
          <a:p>
            <a:pPr algn="ctr" indent="0" marL="0">
              <a:buNone/>
            </a:pPr>
            <a:r>
              <a:rPr lang="en-US" sz="1100" b="1" dirty="0">
                <a:solidFill>
                  <a:srgbClr val="FFFFFF"/>
                </a:solidFill>
              </a:rPr>
              <a:t>≥ threshold → Predicted</a:t>
            </a:r>
            <a:endParaRPr lang="en-US" sz="1100" dirty="0"/>
          </a:p>
        </p:txBody>
      </p:sp>
      <p:sp>
        <p:nvSpPr>
          <p:cNvPr id="24" name="Pill"/>
          <p:cNvSpPr/>
          <p:nvPr/>
        </p:nvSpPr>
        <p:spPr>
          <a:xfrm>
            <a:off x="10195560" y="2130552"/>
            <a:ext cx="1536192" cy="502920"/>
          </a:xfrm>
          <a:prstGeom prst="roundRect">
            <a:avLst>
              <a:gd name="adj" fmla="val 50000"/>
            </a:avLst>
          </a:prstGeom>
          <a:solidFill>
            <a:srgbClr val="F2A93B"/>
          </a:solidFill>
          <a:ln w="12700">
            <a:solidFill>
              <a:srgbClr val="F2A93B"/>
            </a:solidFill>
            <a:prstDash val="solid"/>
          </a:ln>
        </p:spPr>
      </p:sp>
      <p:sp>
        <p:nvSpPr>
          <p:cNvPr id="25" name="Text 22"/>
          <p:cNvSpPr txBox="1"/>
          <p:nvPr/>
        </p:nvSpPr>
        <p:spPr>
          <a:xfrm>
            <a:off x="10195560" y="2130552"/>
            <a:ext cx="1536192" cy="502920"/>
          </a:xfrm>
          <a:prstGeom prst="rect">
            <a:avLst/>
          </a:prstGeom>
          <a:noFill/>
          <a:ln/>
        </p:spPr>
        <p:txBody>
          <a:bodyPr wrap="square" lIns="0" tIns="0" rIns="0" bIns="0" rtlCol="0" anchor="ctr"/>
          <a:lstStyle/>
          <a:p>
            <a:pPr algn="ctr" indent="0" marL="0">
              <a:buNone/>
            </a:pPr>
            <a:r>
              <a:rPr lang="en-US" sz="1100" b="1" dirty="0">
                <a:solidFill>
                  <a:srgbClr val="1B2A41"/>
                </a:solidFill>
              </a:rPr>
              <a:t>&lt; threshold → Uncertain</a:t>
            </a:r>
            <a:endParaRPr lang="en-US" sz="1100" dirty="0"/>
          </a:p>
        </p:txBody>
      </p:sp>
      <p:sp>
        <p:nvSpPr>
          <p:cNvPr id="26" name="Card"/>
          <p:cNvSpPr/>
          <p:nvPr/>
        </p:nvSpPr>
        <p:spPr>
          <a:xfrm>
            <a:off x="457200" y="2926080"/>
            <a:ext cx="2926080" cy="1234440"/>
          </a:xfrm>
          <a:prstGeom prst="roundRect">
            <a:avLst>
              <a:gd name="adj" fmla="val 8889"/>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7" name="Status dot"/>
          <p:cNvSpPr/>
          <p:nvPr/>
        </p:nvSpPr>
        <p:spPr>
          <a:xfrm>
            <a:off x="621792" y="3081528"/>
            <a:ext cx="201168" cy="201168"/>
          </a:xfrm>
          <a:prstGeom prst="ellipse">
            <a:avLst/>
          </a:prstGeom>
          <a:solidFill>
            <a:srgbClr val="0E9AA7"/>
          </a:solidFill>
          <a:ln w="12700">
            <a:solidFill>
              <a:srgbClr val="0E9AA7"/>
            </a:solidFill>
            <a:prstDash val="solid"/>
          </a:ln>
        </p:spPr>
      </p:sp>
      <p:sp>
        <p:nvSpPr>
          <p:cNvPr id="28" name="Text 25"/>
          <p:cNvSpPr txBox="1"/>
          <p:nvPr/>
        </p:nvSpPr>
        <p:spPr>
          <a:xfrm>
            <a:off x="914400" y="3017520"/>
            <a:ext cx="2286000" cy="329184"/>
          </a:xfrm>
          <a:prstGeom prst="rect">
            <a:avLst/>
          </a:prstGeom>
          <a:noFill/>
          <a:ln/>
        </p:spPr>
        <p:txBody>
          <a:bodyPr wrap="square" lIns="0" tIns="0" rIns="0" bIns="0" rtlCol="0" anchor="ctr"/>
          <a:lstStyle/>
          <a:p>
            <a:pPr indent="0" marL="0">
              <a:buNone/>
            </a:pPr>
            <a:r>
              <a:rPr lang="en-US" sz="1400" b="1" dirty="0">
                <a:solidFill>
                  <a:srgbClr val="1F3A6E"/>
                </a:solidFill>
              </a:rPr>
              <a:t>Predicted</a:t>
            </a:r>
            <a:endParaRPr lang="en-US" sz="1400" dirty="0"/>
          </a:p>
        </p:txBody>
      </p:sp>
      <p:sp>
        <p:nvSpPr>
          <p:cNvPr id="29" name="Text 26"/>
          <p:cNvSpPr txBox="1"/>
          <p:nvPr/>
        </p:nvSpPr>
        <p:spPr>
          <a:xfrm>
            <a:off x="621792" y="3401568"/>
            <a:ext cx="2606040" cy="731520"/>
          </a:xfrm>
          <a:prstGeom prst="rect">
            <a:avLst/>
          </a:prstGeom>
          <a:noFill/>
          <a:ln/>
        </p:spPr>
        <p:txBody>
          <a:bodyPr wrap="square" lIns="0" tIns="0" rIns="0" bIns="0" rtlCol="0" anchor="t"/>
          <a:lstStyle/>
          <a:p>
            <a:pPr indent="0" marL="0">
              <a:buNone/>
            </a:pPr>
            <a:r>
              <a:rPr lang="en-US" sz="1150" dirty="0">
                <a:solidFill>
                  <a:srgbClr val="1B2A41"/>
                </a:solidFill>
              </a:rPr>
              <a:t>Confidence at or above the threshold: rating and polarity are shown.</a:t>
            </a:r>
            <a:endParaRPr lang="en-US" sz="1150" dirty="0"/>
          </a:p>
        </p:txBody>
      </p:sp>
      <p:sp>
        <p:nvSpPr>
          <p:cNvPr id="30" name="Card"/>
          <p:cNvSpPr/>
          <p:nvPr/>
        </p:nvSpPr>
        <p:spPr>
          <a:xfrm>
            <a:off x="3566160" y="2926080"/>
            <a:ext cx="2926080" cy="1234440"/>
          </a:xfrm>
          <a:prstGeom prst="roundRect">
            <a:avLst>
              <a:gd name="adj" fmla="val 8889"/>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1" name="Status dot"/>
          <p:cNvSpPr/>
          <p:nvPr/>
        </p:nvSpPr>
        <p:spPr>
          <a:xfrm>
            <a:off x="3730752" y="3081528"/>
            <a:ext cx="201168" cy="201168"/>
          </a:xfrm>
          <a:prstGeom prst="ellipse">
            <a:avLst/>
          </a:prstGeom>
          <a:solidFill>
            <a:srgbClr val="F2A93B"/>
          </a:solidFill>
          <a:ln w="12700">
            <a:solidFill>
              <a:srgbClr val="F2A93B"/>
            </a:solidFill>
            <a:prstDash val="solid"/>
          </a:ln>
        </p:spPr>
      </p:sp>
      <p:sp>
        <p:nvSpPr>
          <p:cNvPr id="32" name="Text 29"/>
          <p:cNvSpPr txBox="1"/>
          <p:nvPr/>
        </p:nvSpPr>
        <p:spPr>
          <a:xfrm>
            <a:off x="4023360" y="3017520"/>
            <a:ext cx="2286000" cy="329184"/>
          </a:xfrm>
          <a:prstGeom prst="rect">
            <a:avLst/>
          </a:prstGeom>
          <a:noFill/>
          <a:ln/>
        </p:spPr>
        <p:txBody>
          <a:bodyPr wrap="square" lIns="0" tIns="0" rIns="0" bIns="0" rtlCol="0" anchor="ctr"/>
          <a:lstStyle/>
          <a:p>
            <a:pPr indent="0" marL="0">
              <a:buNone/>
            </a:pPr>
            <a:r>
              <a:rPr lang="en-US" sz="1400" b="1" dirty="0">
                <a:solidFill>
                  <a:srgbClr val="1F3A6E"/>
                </a:solidFill>
              </a:rPr>
              <a:t>Uncertain</a:t>
            </a:r>
            <a:endParaRPr lang="en-US" sz="1400" dirty="0"/>
          </a:p>
        </p:txBody>
      </p:sp>
      <p:sp>
        <p:nvSpPr>
          <p:cNvPr id="33" name="Text 30"/>
          <p:cNvSpPr txBox="1"/>
          <p:nvPr/>
        </p:nvSpPr>
        <p:spPr>
          <a:xfrm>
            <a:off x="3730752" y="3401568"/>
            <a:ext cx="2606040" cy="731520"/>
          </a:xfrm>
          <a:prstGeom prst="rect">
            <a:avLst/>
          </a:prstGeom>
          <a:noFill/>
          <a:ln/>
        </p:spPr>
        <p:txBody>
          <a:bodyPr wrap="square" lIns="0" tIns="0" rIns="0" bIns="0" rtlCol="0" anchor="t"/>
          <a:lstStyle/>
          <a:p>
            <a:pPr indent="0" marL="0">
              <a:buNone/>
            </a:pPr>
            <a:r>
              <a:rPr lang="en-US" sz="1150" dirty="0">
                <a:solidFill>
                  <a:srgbClr val="1B2A41"/>
                </a:solidFill>
              </a:rPr>
              <a:t>Below the threshold: no rating or polarity shown; a tentative candidate stays in the details.</a:t>
            </a:r>
            <a:endParaRPr lang="en-US" sz="1150" dirty="0"/>
          </a:p>
        </p:txBody>
      </p:sp>
      <p:sp>
        <p:nvSpPr>
          <p:cNvPr id="34" name="Card"/>
          <p:cNvSpPr/>
          <p:nvPr/>
        </p:nvSpPr>
        <p:spPr>
          <a:xfrm>
            <a:off x="457200" y="4297680"/>
            <a:ext cx="2926080" cy="1234440"/>
          </a:xfrm>
          <a:prstGeom prst="roundRect">
            <a:avLst>
              <a:gd name="adj" fmla="val 8889"/>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5" name="Status dot"/>
          <p:cNvSpPr/>
          <p:nvPr/>
        </p:nvSpPr>
        <p:spPr>
          <a:xfrm>
            <a:off x="621792" y="4453128"/>
            <a:ext cx="201168" cy="201168"/>
          </a:xfrm>
          <a:prstGeom prst="ellipse">
            <a:avLst/>
          </a:prstGeom>
          <a:solidFill>
            <a:srgbClr val="64748B"/>
          </a:solidFill>
          <a:ln w="12700">
            <a:solidFill>
              <a:srgbClr val="64748B"/>
            </a:solidFill>
            <a:prstDash val="solid"/>
          </a:ln>
        </p:spPr>
      </p:sp>
      <p:sp>
        <p:nvSpPr>
          <p:cNvPr id="36" name="Text 33"/>
          <p:cNvSpPr txBox="1"/>
          <p:nvPr/>
        </p:nvSpPr>
        <p:spPr>
          <a:xfrm>
            <a:off x="914400" y="4389120"/>
            <a:ext cx="2286000" cy="329184"/>
          </a:xfrm>
          <a:prstGeom prst="rect">
            <a:avLst/>
          </a:prstGeom>
          <a:noFill/>
          <a:ln/>
        </p:spPr>
        <p:txBody>
          <a:bodyPr wrap="square" lIns="0" tIns="0" rIns="0" bIns="0" rtlCol="0" anchor="ctr"/>
          <a:lstStyle/>
          <a:p>
            <a:pPr indent="0" marL="0">
              <a:buNone/>
            </a:pPr>
            <a:r>
              <a:rPr lang="en-US" sz="1400" b="1" dirty="0">
                <a:solidFill>
                  <a:srgbClr val="1F3A6E"/>
                </a:solidFill>
              </a:rPr>
              <a:t>Not mentioned</a:t>
            </a:r>
            <a:endParaRPr lang="en-US" sz="1400" dirty="0"/>
          </a:p>
        </p:txBody>
      </p:sp>
      <p:sp>
        <p:nvSpPr>
          <p:cNvPr id="37" name="Text 34"/>
          <p:cNvSpPr txBox="1"/>
          <p:nvPr/>
        </p:nvSpPr>
        <p:spPr>
          <a:xfrm>
            <a:off x="621792" y="4773168"/>
            <a:ext cx="2606040" cy="731520"/>
          </a:xfrm>
          <a:prstGeom prst="rect">
            <a:avLst/>
          </a:prstGeom>
          <a:noFill/>
          <a:ln/>
        </p:spPr>
        <p:txBody>
          <a:bodyPr wrap="square" lIns="0" tIns="0" rIns="0" bIns="0" rtlCol="0" anchor="t"/>
          <a:lstStyle/>
          <a:p>
            <a:pPr indent="0" marL="0">
              <a:buNone/>
            </a:pPr>
            <a:r>
              <a:rPr lang="en-US" sz="1150" dirty="0">
                <a:solidFill>
                  <a:srgbClr val="1B2A41"/>
                </a:solidFill>
              </a:rPr>
              <a:t>The aspect is not explicitly mentioned in the review.</a:t>
            </a:r>
            <a:endParaRPr lang="en-US" sz="1150" dirty="0"/>
          </a:p>
        </p:txBody>
      </p:sp>
      <p:sp>
        <p:nvSpPr>
          <p:cNvPr id="38" name="Card"/>
          <p:cNvSpPr/>
          <p:nvPr/>
        </p:nvSpPr>
        <p:spPr>
          <a:xfrm>
            <a:off x="3566160" y="4297680"/>
            <a:ext cx="2926080" cy="1234440"/>
          </a:xfrm>
          <a:prstGeom prst="roundRect">
            <a:avLst>
              <a:gd name="adj" fmla="val 8889"/>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39" name="Status dot"/>
          <p:cNvSpPr/>
          <p:nvPr/>
        </p:nvSpPr>
        <p:spPr>
          <a:xfrm>
            <a:off x="3730752" y="4453128"/>
            <a:ext cx="201168" cy="201168"/>
          </a:xfrm>
          <a:prstGeom prst="ellipse">
            <a:avLst/>
          </a:prstGeom>
          <a:solidFill>
            <a:srgbClr val="E8604C"/>
          </a:solidFill>
          <a:ln w="12700">
            <a:solidFill>
              <a:srgbClr val="E8604C"/>
            </a:solidFill>
            <a:prstDash val="solid"/>
          </a:ln>
        </p:spPr>
      </p:sp>
      <p:sp>
        <p:nvSpPr>
          <p:cNvPr id="40" name="Text 37"/>
          <p:cNvSpPr txBox="1"/>
          <p:nvPr/>
        </p:nvSpPr>
        <p:spPr>
          <a:xfrm>
            <a:off x="4023360" y="4389120"/>
            <a:ext cx="2286000" cy="329184"/>
          </a:xfrm>
          <a:prstGeom prst="rect">
            <a:avLst/>
          </a:prstGeom>
          <a:noFill/>
          <a:ln/>
        </p:spPr>
        <p:txBody>
          <a:bodyPr wrap="square" lIns="0" tIns="0" rIns="0" bIns="0" rtlCol="0" anchor="ctr"/>
          <a:lstStyle/>
          <a:p>
            <a:pPr indent="0" marL="0">
              <a:buNone/>
            </a:pPr>
            <a:r>
              <a:rPr lang="en-US" sz="1400" b="1" dirty="0">
                <a:solidFill>
                  <a:srgbClr val="1F3A6E"/>
                </a:solidFill>
              </a:rPr>
              <a:t>Unavailable</a:t>
            </a:r>
            <a:endParaRPr lang="en-US" sz="1400" dirty="0"/>
          </a:p>
        </p:txBody>
      </p:sp>
      <p:sp>
        <p:nvSpPr>
          <p:cNvPr id="41" name="Text 38"/>
          <p:cNvSpPr txBox="1"/>
          <p:nvPr/>
        </p:nvSpPr>
        <p:spPr>
          <a:xfrm>
            <a:off x="3730752" y="4773168"/>
            <a:ext cx="2606040" cy="731520"/>
          </a:xfrm>
          <a:prstGeom prst="rect">
            <a:avLst/>
          </a:prstGeom>
          <a:noFill/>
          <a:ln/>
        </p:spPr>
        <p:txBody>
          <a:bodyPr wrap="square" lIns="0" tIns="0" rIns="0" bIns="0" rtlCol="0" anchor="t"/>
          <a:lstStyle/>
          <a:p>
            <a:pPr indent="0" marL="0">
              <a:buNone/>
            </a:pPr>
            <a:r>
              <a:rPr lang="en-US" sz="1150" dirty="0">
                <a:solidFill>
                  <a:srgbClr val="1B2A41"/>
                </a:solidFill>
              </a:rPr>
              <a:t>Sleep Quality: no usable real labels, so no real model exists.</a:t>
            </a:r>
            <a:endParaRPr lang="en-US" sz="1150" dirty="0"/>
          </a:p>
        </p:txBody>
      </p:sp>
      <p:sp>
        <p:nvSpPr>
          <p:cNvPr id="42" name="Card"/>
          <p:cNvSpPr/>
          <p:nvPr/>
        </p:nvSpPr>
        <p:spPr>
          <a:xfrm>
            <a:off x="6812280" y="2926080"/>
            <a:ext cx="4919472" cy="2606040"/>
          </a:xfrm>
          <a:prstGeom prst="roundRect">
            <a:avLst>
              <a:gd name="adj" fmla="val 4211"/>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graphicFrame>
        <p:nvGraphicFramePr>
          <p:cNvPr id="43" name="Chart 0" descr=""/>
          <p:cNvGraphicFramePr/>
          <p:nvPr/>
        </p:nvGraphicFramePr>
        <p:xfrm>
          <a:off x="6858000" y="2944368"/>
          <a:ext cx="4828032" cy="2560320"/>
        </p:xfrm>
        <a:graphic xmlns:a="http://schemas.openxmlformats.org/drawingml/2006/main">
          <a:graphicData uri="http://schemas.openxmlformats.org/drawingml/2006/chart">
            <c:chart xmlns:c="http://schemas.openxmlformats.org/drawingml/2006/chart" r:id="rId1"/>
          </a:graphicData>
        </a:graphic>
      </p:graphicFrame>
      <p:sp>
        <p:nvSpPr>
          <p:cNvPr id="44" name="Card"/>
          <p:cNvSpPr/>
          <p:nvPr/>
        </p:nvSpPr>
        <p:spPr>
          <a:xfrm>
            <a:off x="457200" y="5760720"/>
            <a:ext cx="11274552" cy="566928"/>
          </a:xfrm>
          <a:prstGeom prst="roundRect">
            <a:avLst>
              <a:gd name="adj" fmla="val 19355"/>
            </a:avLst>
          </a:prstGeom>
          <a:solidFill>
            <a:srgbClr val="FDF1DC"/>
          </a:solidFill>
          <a:ln w="12700">
            <a:solidFill>
              <a:srgbClr val="FFFFFF">
                <a:alpha val="0"/>
              </a:srgbClr>
            </a:solidFill>
            <a:prstDash val="solid"/>
          </a:ln>
        </p:spPr>
      </p:sp>
      <p:sp>
        <p:nvSpPr>
          <p:cNvPr id="45" name="Text 41"/>
          <p:cNvSpPr txBox="1"/>
          <p:nvPr/>
        </p:nvSpPr>
        <p:spPr>
          <a:xfrm>
            <a:off x="640080" y="5760720"/>
            <a:ext cx="10881360" cy="566928"/>
          </a:xfrm>
          <a:prstGeom prst="rect">
            <a:avLst/>
          </a:prstGeom>
          <a:noFill/>
          <a:ln/>
        </p:spPr>
        <p:txBody>
          <a:bodyPr wrap="square" lIns="0" tIns="0" rIns="0" bIns="0" rtlCol="0" anchor="ctr"/>
          <a:lstStyle/>
          <a:p>
            <a:pPr indent="0" marL="0">
              <a:buNone/>
            </a:pPr>
            <a:r>
              <a:rPr lang="en-US" sz="1250" dirty="0">
                <a:solidFill>
                  <a:srgbClr val="1B2A41"/>
                </a:solidFill>
              </a:rPr>
              <a:t>Confidence scores are model outputs, not guaranteed probabilities of correctness. Accepted accuracy covers only 36–67% of reviews, so it never replaces the all-review metrics.</a:t>
            </a:r>
            <a:endParaRPr lang="en-US" sz="125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Application demonstration</a:t>
            </a:r>
            <a:endParaRPr lang="en-US" sz="3000" dirty="0"/>
          </a:p>
        </p:txBody>
      </p:sp>
      <p:sp>
        <p:nvSpPr>
          <p:cNvPr id="4" name="Screenshot frame"/>
          <p:cNvSpPr/>
          <p:nvPr/>
        </p:nvSpPr>
        <p:spPr>
          <a:xfrm>
            <a:off x="429768" y="1298448"/>
            <a:ext cx="4837176" cy="5038344"/>
          </a:xfrm>
          <a:prstGeom prst="rect">
            <a:avLst/>
          </a:prstGeom>
          <a:solidFill>
            <a:srgbClr val="FFFFFF"/>
          </a:solidFill>
          <a:ln w="12700">
            <a:solidFill>
              <a:srgbClr val="C9D3E3"/>
            </a:solidFill>
            <a:prstDash val="solid"/>
          </a:ln>
          <a:effectLst>
            <a:outerShdw sx="100000" sy="100000" kx="0" ky="0" algn="bl" rotWithShape="0" blurRad="127000" dist="25400" dir="5400000">
              <a:srgbClr val="1F3A6E">
                <a:alpha val="12000"/>
              </a:srgbClr>
            </a:outerShdw>
          </a:effectLst>
        </p:spPr>
      </p:sp>
      <p:pic>
        <p:nvPicPr>
          <p:cNvPr id="5" name="Image 0" descr="Screenshot of the Streamlit hotel review sentiment application showing aspect-wise predictions">    </p:cNvPr>
          <p:cNvPicPr>
            <a:picLocks noChangeAspect="1"/>
          </p:cNvPicPr>
          <p:nvPr/>
        </p:nvPicPr>
        <p:blipFill>
          <a:blip r:embed="rId1"/>
          <a:stretch>
            <a:fillRect/>
          </a:stretch>
        </p:blipFill>
        <p:spPr>
          <a:xfrm>
            <a:off x="457200" y="1325880"/>
            <a:ext cx="4782312" cy="4983480"/>
          </a:xfrm>
          <a:prstGeom prst="rect">
            <a:avLst/>
          </a:prstGeom>
        </p:spPr>
      </p:pic>
      <p:sp>
        <p:nvSpPr>
          <p:cNvPr id="6" name="Marker 1"/>
          <p:cNvSpPr/>
          <p:nvPr/>
        </p:nvSpPr>
        <p:spPr>
          <a:xfrm>
            <a:off x="4942857" y="2569632"/>
            <a:ext cx="256032" cy="256032"/>
          </a:xfrm>
          <a:prstGeom prst="ellipse">
            <a:avLst/>
          </a:prstGeom>
          <a:solidFill>
            <a:srgbClr val="E8604C"/>
          </a:solidFill>
          <a:ln w="19050">
            <a:solidFill>
              <a:srgbClr val="FFFFFF"/>
            </a:solidFill>
            <a:prstDash val="solid"/>
          </a:ln>
        </p:spPr>
      </p:sp>
      <p:sp>
        <p:nvSpPr>
          <p:cNvPr id="7" name="Text 3"/>
          <p:cNvSpPr txBox="1"/>
          <p:nvPr/>
        </p:nvSpPr>
        <p:spPr>
          <a:xfrm>
            <a:off x="4942857" y="256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Marker 2"/>
          <p:cNvSpPr/>
          <p:nvPr/>
        </p:nvSpPr>
        <p:spPr>
          <a:xfrm>
            <a:off x="1210136" y="3186299"/>
            <a:ext cx="256032" cy="256032"/>
          </a:xfrm>
          <a:prstGeom prst="ellipse">
            <a:avLst/>
          </a:prstGeom>
          <a:solidFill>
            <a:srgbClr val="E8604C"/>
          </a:solidFill>
          <a:ln w="19050">
            <a:solidFill>
              <a:srgbClr val="FFFFFF"/>
            </a:solidFill>
            <a:prstDash val="solid"/>
          </a:ln>
        </p:spPr>
      </p:sp>
      <p:sp>
        <p:nvSpPr>
          <p:cNvPr id="9" name="Text 5"/>
          <p:cNvSpPr txBox="1"/>
          <p:nvPr/>
        </p:nvSpPr>
        <p:spPr>
          <a:xfrm>
            <a:off x="1210136" y="3186299"/>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Marker 3"/>
          <p:cNvSpPr/>
          <p:nvPr/>
        </p:nvSpPr>
        <p:spPr>
          <a:xfrm>
            <a:off x="2116258" y="3186299"/>
            <a:ext cx="256032" cy="256032"/>
          </a:xfrm>
          <a:prstGeom prst="ellipse">
            <a:avLst/>
          </a:prstGeom>
          <a:solidFill>
            <a:srgbClr val="E8604C"/>
          </a:solidFill>
          <a:ln w="19050">
            <a:solidFill>
              <a:srgbClr val="FFFFFF"/>
            </a:solidFill>
            <a:prstDash val="solid"/>
          </a:ln>
        </p:spPr>
      </p:sp>
      <p:sp>
        <p:nvSpPr>
          <p:cNvPr id="11" name="Text 7"/>
          <p:cNvSpPr txBox="1"/>
          <p:nvPr/>
        </p:nvSpPr>
        <p:spPr>
          <a:xfrm>
            <a:off x="2116258" y="3186299"/>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2" name="Marker 4"/>
          <p:cNvSpPr/>
          <p:nvPr/>
        </p:nvSpPr>
        <p:spPr>
          <a:xfrm>
            <a:off x="3475442" y="3186299"/>
            <a:ext cx="256032" cy="256032"/>
          </a:xfrm>
          <a:prstGeom prst="ellipse">
            <a:avLst/>
          </a:prstGeom>
          <a:solidFill>
            <a:srgbClr val="E8604C"/>
          </a:solidFill>
          <a:ln w="19050">
            <a:solidFill>
              <a:srgbClr val="FFFFFF"/>
            </a:solidFill>
            <a:prstDash val="solid"/>
          </a:ln>
        </p:spPr>
      </p:sp>
      <p:sp>
        <p:nvSpPr>
          <p:cNvPr id="13" name="Text 9"/>
          <p:cNvSpPr txBox="1"/>
          <p:nvPr/>
        </p:nvSpPr>
        <p:spPr>
          <a:xfrm>
            <a:off x="3475442" y="3186299"/>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4" name="Marker 5"/>
          <p:cNvSpPr/>
          <p:nvPr/>
        </p:nvSpPr>
        <p:spPr>
          <a:xfrm>
            <a:off x="4683605" y="3186299"/>
            <a:ext cx="256032" cy="256032"/>
          </a:xfrm>
          <a:prstGeom prst="ellipse">
            <a:avLst/>
          </a:prstGeom>
          <a:solidFill>
            <a:srgbClr val="E8604C"/>
          </a:solidFill>
          <a:ln w="19050">
            <a:solidFill>
              <a:srgbClr val="FFFFFF"/>
            </a:solidFill>
            <a:prstDash val="solid"/>
          </a:ln>
        </p:spPr>
      </p:sp>
      <p:sp>
        <p:nvSpPr>
          <p:cNvPr id="15" name="Text 11"/>
          <p:cNvSpPr txBox="1"/>
          <p:nvPr/>
        </p:nvSpPr>
        <p:spPr>
          <a:xfrm>
            <a:off x="4683605" y="3186299"/>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6" name="Pill"/>
          <p:cNvSpPr/>
          <p:nvPr/>
        </p:nvSpPr>
        <p:spPr>
          <a:xfrm>
            <a:off x="5532120" y="1325880"/>
            <a:ext cx="3108960" cy="310896"/>
          </a:xfrm>
          <a:prstGeom prst="roundRect">
            <a:avLst>
              <a:gd name="adj" fmla="val 50000"/>
            </a:avLst>
          </a:prstGeom>
          <a:solidFill>
            <a:srgbClr val="0E9AA7"/>
          </a:solidFill>
          <a:ln w="12700">
            <a:solidFill>
              <a:srgbClr val="0E9AA7"/>
            </a:solidFill>
            <a:prstDash val="solid"/>
          </a:ln>
        </p:spPr>
      </p:sp>
      <p:sp>
        <p:nvSpPr>
          <p:cNvPr id="17" name="Text 13"/>
          <p:cNvSpPr txBox="1"/>
          <p:nvPr/>
        </p:nvSpPr>
        <p:spPr>
          <a:xfrm>
            <a:off x="5532120" y="1325880"/>
            <a:ext cx="3108960" cy="310896"/>
          </a:xfrm>
          <a:prstGeom prst="rect">
            <a:avLst/>
          </a:prstGeom>
          <a:noFill/>
          <a:ln/>
        </p:spPr>
        <p:txBody>
          <a:bodyPr wrap="square" lIns="0" tIns="0" rIns="0" bIns="0" rtlCol="0" anchor="ctr"/>
          <a:lstStyle/>
          <a:p>
            <a:pPr algn="ctr" indent="0" marL="0">
              <a:buNone/>
            </a:pPr>
            <a:r>
              <a:rPr lang="en-US" sz="1200" b="1" dirty="0">
                <a:solidFill>
                  <a:srgbClr val="FFFFFF"/>
                </a:solidFill>
              </a:rPr>
              <a:t>Real screenshot of the Streamlit app</a:t>
            </a:r>
            <a:endParaRPr lang="en-US" sz="1200" dirty="0"/>
          </a:p>
        </p:txBody>
      </p:sp>
      <p:sp>
        <p:nvSpPr>
          <p:cNvPr id="18" name="Legend marker"/>
          <p:cNvSpPr/>
          <p:nvPr/>
        </p:nvSpPr>
        <p:spPr>
          <a:xfrm>
            <a:off x="5532120" y="1819656"/>
            <a:ext cx="329184" cy="329184"/>
          </a:xfrm>
          <a:prstGeom prst="ellipse">
            <a:avLst/>
          </a:prstGeom>
          <a:solidFill>
            <a:srgbClr val="E8604C"/>
          </a:solidFill>
          <a:ln w="12700">
            <a:solidFill>
              <a:srgbClr val="E8604C"/>
            </a:solidFill>
            <a:prstDash val="solid"/>
          </a:ln>
        </p:spPr>
      </p:sp>
      <p:sp>
        <p:nvSpPr>
          <p:cNvPr id="19" name="Text 15"/>
          <p:cNvSpPr txBox="1"/>
          <p:nvPr/>
        </p:nvSpPr>
        <p:spPr>
          <a:xfrm>
            <a:off x="5532120" y="18196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0" name="Text 16"/>
          <p:cNvSpPr txBox="1"/>
          <p:nvPr/>
        </p:nvSpPr>
        <p:spPr>
          <a:xfrm>
            <a:off x="5989320" y="1783080"/>
            <a:ext cx="5742432" cy="411480"/>
          </a:xfrm>
          <a:prstGeom prst="rect">
            <a:avLst/>
          </a:prstGeom>
          <a:noFill/>
          <a:ln/>
        </p:spPr>
        <p:txBody>
          <a:bodyPr wrap="square" lIns="0" tIns="0" rIns="0" bIns="0" rtlCol="0" anchor="ctr"/>
          <a:lstStyle/>
          <a:p>
            <a:pPr indent="0" marL="0">
              <a:buNone/>
            </a:pPr>
            <a:r>
              <a:rPr lang="en-US" sz="1350" b="1" dirty="0">
                <a:solidFill>
                  <a:srgbClr val="1F3A6E"/>
                </a:solidFill>
              </a:rPr>
              <a:t>Review input — </a:t>
            </a:r>
            <a:pPr indent="0" marL="0">
              <a:buNone/>
            </a:pPr>
            <a:r>
              <a:rPr lang="en-US" sz="1350" dirty="0">
                <a:solidFill>
                  <a:srgbClr val="1B2A41"/>
                </a:solidFill>
              </a:rPr>
              <a:t>Paste or type any hotel review.</a:t>
            </a:r>
            <a:endParaRPr lang="en-US" sz="1350" dirty="0"/>
          </a:p>
        </p:txBody>
      </p:sp>
      <p:sp>
        <p:nvSpPr>
          <p:cNvPr id="21" name="Legend marker"/>
          <p:cNvSpPr/>
          <p:nvPr/>
        </p:nvSpPr>
        <p:spPr>
          <a:xfrm>
            <a:off x="5532120" y="2386584"/>
            <a:ext cx="329184" cy="329184"/>
          </a:xfrm>
          <a:prstGeom prst="ellipse">
            <a:avLst/>
          </a:prstGeom>
          <a:solidFill>
            <a:srgbClr val="E8604C"/>
          </a:solidFill>
          <a:ln w="12700">
            <a:solidFill>
              <a:srgbClr val="E8604C"/>
            </a:solidFill>
            <a:prstDash val="solid"/>
          </a:ln>
        </p:spPr>
      </p:sp>
      <p:sp>
        <p:nvSpPr>
          <p:cNvPr id="22" name="Text 18"/>
          <p:cNvSpPr txBox="1"/>
          <p:nvPr/>
        </p:nvSpPr>
        <p:spPr>
          <a:xfrm>
            <a:off x="5532120" y="2386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3" name="Text 19"/>
          <p:cNvSpPr txBox="1"/>
          <p:nvPr/>
        </p:nvSpPr>
        <p:spPr>
          <a:xfrm>
            <a:off x="5989320" y="2350008"/>
            <a:ext cx="5742432" cy="411480"/>
          </a:xfrm>
          <a:prstGeom prst="rect">
            <a:avLst/>
          </a:prstGeom>
          <a:noFill/>
          <a:ln/>
        </p:spPr>
        <p:txBody>
          <a:bodyPr wrap="square" lIns="0" tIns="0" rIns="0" bIns="0" rtlCol="0" anchor="ctr"/>
          <a:lstStyle/>
          <a:p>
            <a:pPr indent="0" marL="0">
              <a:buNone/>
            </a:pPr>
            <a:r>
              <a:rPr lang="en-US" sz="1350" b="1" dirty="0">
                <a:solidFill>
                  <a:srgbClr val="1F3A6E"/>
                </a:solidFill>
              </a:rPr>
              <a:t>Aspect-wise predictions — </a:t>
            </a:r>
            <a:pPr indent="0" marL="0">
              <a:buNone/>
            </a:pPr>
            <a:r>
              <a:rPr lang="en-US" sz="1350" dirty="0">
                <a:solidFill>
                  <a:srgbClr val="1B2A41"/>
                </a:solidFill>
              </a:rPr>
              <a:t>One row per aspect, including Overall.</a:t>
            </a:r>
            <a:endParaRPr lang="en-US" sz="1350" dirty="0"/>
          </a:p>
        </p:txBody>
      </p:sp>
      <p:sp>
        <p:nvSpPr>
          <p:cNvPr id="24" name="Legend marker"/>
          <p:cNvSpPr/>
          <p:nvPr/>
        </p:nvSpPr>
        <p:spPr>
          <a:xfrm>
            <a:off x="5532120" y="2953512"/>
            <a:ext cx="329184" cy="329184"/>
          </a:xfrm>
          <a:prstGeom prst="ellipse">
            <a:avLst/>
          </a:prstGeom>
          <a:solidFill>
            <a:srgbClr val="E8604C"/>
          </a:solidFill>
          <a:ln w="12700">
            <a:solidFill>
              <a:srgbClr val="E8604C"/>
            </a:solidFill>
            <a:prstDash val="solid"/>
          </a:ln>
        </p:spPr>
      </p:sp>
      <p:sp>
        <p:nvSpPr>
          <p:cNvPr id="25" name="Text 21"/>
          <p:cNvSpPr txBox="1"/>
          <p:nvPr/>
        </p:nvSpPr>
        <p:spPr>
          <a:xfrm>
            <a:off x="5532120" y="2953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6" name="Text 22"/>
          <p:cNvSpPr txBox="1"/>
          <p:nvPr/>
        </p:nvSpPr>
        <p:spPr>
          <a:xfrm>
            <a:off x="5989320" y="2916936"/>
            <a:ext cx="5742432" cy="411480"/>
          </a:xfrm>
          <a:prstGeom prst="rect">
            <a:avLst/>
          </a:prstGeom>
          <a:noFill/>
          <a:ln/>
        </p:spPr>
        <p:txBody>
          <a:bodyPr wrap="square" lIns="0" tIns="0" rIns="0" bIns="0" rtlCol="0" anchor="ctr"/>
          <a:lstStyle/>
          <a:p>
            <a:pPr indent="0" marL="0">
              <a:buNone/>
            </a:pPr>
            <a:r>
              <a:rPr lang="en-US" sz="1350" b="1" dirty="0">
                <a:solidFill>
                  <a:srgbClr val="1F3A6E"/>
                </a:solidFill>
              </a:rPr>
              <a:t>Relevant evidence — </a:t>
            </a:r>
            <a:pPr indent="0" marL="0">
              <a:buNone/>
            </a:pPr>
            <a:r>
              <a:rPr lang="en-US" sz="1350" dirty="0">
                <a:solidFill>
                  <a:srgbClr val="1B2A41"/>
                </a:solidFill>
              </a:rPr>
              <a:t>The text the model used for that aspect.</a:t>
            </a:r>
            <a:endParaRPr lang="en-US" sz="1350" dirty="0"/>
          </a:p>
        </p:txBody>
      </p:sp>
      <p:sp>
        <p:nvSpPr>
          <p:cNvPr id="27" name="Legend marker"/>
          <p:cNvSpPr/>
          <p:nvPr/>
        </p:nvSpPr>
        <p:spPr>
          <a:xfrm>
            <a:off x="5532120" y="3520440"/>
            <a:ext cx="329184" cy="329184"/>
          </a:xfrm>
          <a:prstGeom prst="ellipse">
            <a:avLst/>
          </a:prstGeom>
          <a:solidFill>
            <a:srgbClr val="E8604C"/>
          </a:solidFill>
          <a:ln w="12700">
            <a:solidFill>
              <a:srgbClr val="E8604C"/>
            </a:solidFill>
            <a:prstDash val="solid"/>
          </a:ln>
        </p:spPr>
      </p:sp>
      <p:sp>
        <p:nvSpPr>
          <p:cNvPr id="28" name="Text 24"/>
          <p:cNvSpPr txBox="1"/>
          <p:nvPr/>
        </p:nvSpPr>
        <p:spPr>
          <a:xfrm>
            <a:off x="5532120" y="3520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Text 25"/>
          <p:cNvSpPr txBox="1"/>
          <p:nvPr/>
        </p:nvSpPr>
        <p:spPr>
          <a:xfrm>
            <a:off x="5989320" y="3483864"/>
            <a:ext cx="5742432" cy="411480"/>
          </a:xfrm>
          <a:prstGeom prst="rect">
            <a:avLst/>
          </a:prstGeom>
          <a:noFill/>
          <a:ln/>
        </p:spPr>
        <p:txBody>
          <a:bodyPr wrap="square" lIns="0" tIns="0" rIns="0" bIns="0" rtlCol="0" anchor="ctr"/>
          <a:lstStyle/>
          <a:p>
            <a:pPr indent="0" marL="0">
              <a:buNone/>
            </a:pPr>
            <a:r>
              <a:rPr lang="en-US" sz="1350" b="1" dirty="0">
                <a:solidFill>
                  <a:srgbClr val="1F3A6E"/>
                </a:solidFill>
              </a:rPr>
              <a:t>Star rating and polarity — </a:t>
            </a:r>
            <a:pPr indent="0" marL="0">
              <a:buNone/>
            </a:pPr>
            <a:r>
              <a:rPr lang="en-US" sz="1350" dirty="0">
                <a:solidFill>
                  <a:srgbClr val="1B2A41"/>
                </a:solidFill>
              </a:rPr>
              <a:t>1–5 stars mapped to negative / neutral / positive.</a:t>
            </a:r>
            <a:endParaRPr lang="en-US" sz="1350" dirty="0"/>
          </a:p>
        </p:txBody>
      </p:sp>
      <p:sp>
        <p:nvSpPr>
          <p:cNvPr id="30" name="Legend marker"/>
          <p:cNvSpPr/>
          <p:nvPr/>
        </p:nvSpPr>
        <p:spPr>
          <a:xfrm>
            <a:off x="5532120" y="4087368"/>
            <a:ext cx="329184" cy="329184"/>
          </a:xfrm>
          <a:prstGeom prst="ellipse">
            <a:avLst/>
          </a:prstGeom>
          <a:solidFill>
            <a:srgbClr val="E8604C"/>
          </a:solidFill>
          <a:ln w="12700">
            <a:solidFill>
              <a:srgbClr val="E8604C"/>
            </a:solidFill>
            <a:prstDash val="solid"/>
          </a:ln>
        </p:spPr>
      </p:sp>
      <p:sp>
        <p:nvSpPr>
          <p:cNvPr id="31" name="Text 27"/>
          <p:cNvSpPr txBox="1"/>
          <p:nvPr/>
        </p:nvSpPr>
        <p:spPr>
          <a:xfrm>
            <a:off x="5532120" y="40873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2" name="Text 28"/>
          <p:cNvSpPr txBox="1"/>
          <p:nvPr/>
        </p:nvSpPr>
        <p:spPr>
          <a:xfrm>
            <a:off x="5989320" y="4050792"/>
            <a:ext cx="5742432" cy="411480"/>
          </a:xfrm>
          <a:prstGeom prst="rect">
            <a:avLst/>
          </a:prstGeom>
          <a:noFill/>
          <a:ln/>
        </p:spPr>
        <p:txBody>
          <a:bodyPr wrap="square" lIns="0" tIns="0" rIns="0" bIns="0" rtlCol="0" anchor="ctr"/>
          <a:lstStyle/>
          <a:p>
            <a:pPr indent="0" marL="0">
              <a:buNone/>
            </a:pPr>
            <a:r>
              <a:rPr lang="en-US" sz="1350" b="1" dirty="0">
                <a:solidFill>
                  <a:srgbClr val="1F3A6E"/>
                </a:solidFill>
              </a:rPr>
              <a:t>Confidence and status — </a:t>
            </a:r>
            <a:pPr indent="0" marL="0">
              <a:buNone/>
            </a:pPr>
            <a:r>
              <a:rPr lang="en-US" sz="1350" dirty="0">
                <a:solidFill>
                  <a:srgbClr val="1B2A41"/>
                </a:solidFill>
              </a:rPr>
              <a:t>Predicted · uncertain · not mentioned · unavailable.</a:t>
            </a:r>
            <a:endParaRPr lang="en-US" sz="1350" dirty="0"/>
          </a:p>
        </p:txBody>
      </p:sp>
      <p:sp>
        <p:nvSpPr>
          <p:cNvPr id="33" name="Card"/>
          <p:cNvSpPr/>
          <p:nvPr/>
        </p:nvSpPr>
        <p:spPr>
          <a:xfrm>
            <a:off x="5532120" y="4709160"/>
            <a:ext cx="6199632" cy="1600200"/>
          </a:xfrm>
          <a:prstGeom prst="roundRect">
            <a:avLst>
              <a:gd name="adj" fmla="val 6857"/>
            </a:avLst>
          </a:prstGeom>
          <a:solidFill>
            <a:srgbClr val="F3F7FB"/>
          </a:solidFill>
          <a:ln w="12700">
            <a:solidFill>
              <a:srgbClr val="FFFFFF">
                <a:alpha val="0"/>
              </a:srgbClr>
            </a:solidFill>
            <a:prstDash val="solid"/>
          </a:ln>
        </p:spPr>
      </p:sp>
      <p:sp>
        <p:nvSpPr>
          <p:cNvPr id="34" name="Text 30"/>
          <p:cNvSpPr txBox="1"/>
          <p:nvPr/>
        </p:nvSpPr>
        <p:spPr>
          <a:xfrm>
            <a:off x="5715000" y="4800600"/>
            <a:ext cx="5852160" cy="274320"/>
          </a:xfrm>
          <a:prstGeom prst="rect">
            <a:avLst/>
          </a:prstGeom>
          <a:noFill/>
          <a:ln/>
        </p:spPr>
        <p:txBody>
          <a:bodyPr wrap="square" lIns="0" tIns="0" rIns="0" bIns="0" rtlCol="0" anchor="t"/>
          <a:lstStyle/>
          <a:p>
            <a:pPr indent="0" marL="0">
              <a:buNone/>
            </a:pPr>
            <a:r>
              <a:rPr lang="en-US" sz="1400" b="1" dirty="0">
                <a:solidFill>
                  <a:srgbClr val="1F3A6E"/>
                </a:solidFill>
              </a:rPr>
              <a:t>How hotel managers could use it</a:t>
            </a:r>
            <a:endParaRPr lang="en-US" sz="1400" dirty="0"/>
          </a:p>
        </p:txBody>
      </p:sp>
      <p:sp>
        <p:nvSpPr>
          <p:cNvPr id="35" name="Icon circle"/>
          <p:cNvSpPr/>
          <p:nvPr/>
        </p:nvSpPr>
        <p:spPr>
          <a:xfrm>
            <a:off x="5989320" y="5138928"/>
            <a:ext cx="457200" cy="457200"/>
          </a:xfrm>
          <a:prstGeom prst="ellipse">
            <a:avLst/>
          </a:prstGeom>
          <a:solidFill>
            <a:srgbClr val="1F3A6E"/>
          </a:solidFill>
          <a:ln w="12700">
            <a:solidFill>
              <a:srgbClr val="1F3A6E"/>
            </a:solidFill>
            <a:prstDash val="solid"/>
          </a:ln>
        </p:spPr>
      </p:sp>
      <p:pic>
        <p:nvPicPr>
          <p:cNvPr id="36" name="Image 1" descr="FaBed">    </p:cNvPr>
          <p:cNvPicPr>
            <a:picLocks noChangeAspect="1"/>
          </p:cNvPicPr>
          <p:nvPr/>
        </p:nvPicPr>
        <p:blipFill>
          <a:blip r:embed="rId2"/>
          <a:stretch>
            <a:fillRect/>
          </a:stretch>
        </p:blipFill>
        <p:spPr>
          <a:xfrm>
            <a:off x="6103620" y="5253228"/>
            <a:ext cx="228600" cy="228600"/>
          </a:xfrm>
          <a:prstGeom prst="rect">
            <a:avLst/>
          </a:prstGeom>
        </p:spPr>
      </p:pic>
      <p:sp>
        <p:nvSpPr>
          <p:cNvPr id="37" name="Text 32"/>
          <p:cNvSpPr txBox="1"/>
          <p:nvPr/>
        </p:nvSpPr>
        <p:spPr>
          <a:xfrm>
            <a:off x="5669280" y="5614416"/>
            <a:ext cx="1097280" cy="228600"/>
          </a:xfrm>
          <a:prstGeom prst="rect">
            <a:avLst/>
          </a:prstGeom>
          <a:noFill/>
          <a:ln/>
        </p:spPr>
        <p:txBody>
          <a:bodyPr wrap="square" lIns="0" tIns="0" rIns="0" bIns="0" rtlCol="0" anchor="t"/>
          <a:lstStyle/>
          <a:p>
            <a:pPr algn="ctr" indent="0" marL="0">
              <a:buNone/>
            </a:pPr>
            <a:r>
              <a:rPr lang="en-US" sz="1100" b="1" dirty="0">
                <a:solidFill>
                  <a:srgbClr val="1F3A6E"/>
                </a:solidFill>
              </a:rPr>
              <a:t>Rooms</a:t>
            </a:r>
            <a:endParaRPr lang="en-US" sz="1100" dirty="0"/>
          </a:p>
        </p:txBody>
      </p:sp>
      <p:sp>
        <p:nvSpPr>
          <p:cNvPr id="38" name="Icon circle"/>
          <p:cNvSpPr/>
          <p:nvPr/>
        </p:nvSpPr>
        <p:spPr>
          <a:xfrm>
            <a:off x="7159752" y="5138928"/>
            <a:ext cx="457200" cy="457200"/>
          </a:xfrm>
          <a:prstGeom prst="ellipse">
            <a:avLst/>
          </a:prstGeom>
          <a:solidFill>
            <a:srgbClr val="0E9AA7"/>
          </a:solidFill>
          <a:ln w="12700">
            <a:solidFill>
              <a:srgbClr val="0E9AA7"/>
            </a:solidFill>
            <a:prstDash val="solid"/>
          </a:ln>
        </p:spPr>
      </p:sp>
      <p:pic>
        <p:nvPicPr>
          <p:cNvPr id="39" name="Image 2" descr="FaBroom">    </p:cNvPr>
          <p:cNvPicPr>
            <a:picLocks noChangeAspect="1"/>
          </p:cNvPicPr>
          <p:nvPr/>
        </p:nvPicPr>
        <p:blipFill>
          <a:blip r:embed="rId3"/>
          <a:stretch>
            <a:fillRect/>
          </a:stretch>
        </p:blipFill>
        <p:spPr>
          <a:xfrm>
            <a:off x="7274052" y="5253228"/>
            <a:ext cx="228600" cy="228600"/>
          </a:xfrm>
          <a:prstGeom prst="rect">
            <a:avLst/>
          </a:prstGeom>
        </p:spPr>
      </p:pic>
      <p:sp>
        <p:nvSpPr>
          <p:cNvPr id="40" name="Text 34"/>
          <p:cNvSpPr txBox="1"/>
          <p:nvPr/>
        </p:nvSpPr>
        <p:spPr>
          <a:xfrm>
            <a:off x="6839712" y="5614416"/>
            <a:ext cx="1097280" cy="228600"/>
          </a:xfrm>
          <a:prstGeom prst="rect">
            <a:avLst/>
          </a:prstGeom>
          <a:noFill/>
          <a:ln/>
        </p:spPr>
        <p:txBody>
          <a:bodyPr wrap="square" lIns="0" tIns="0" rIns="0" bIns="0" rtlCol="0" anchor="t"/>
          <a:lstStyle/>
          <a:p>
            <a:pPr algn="ctr" indent="0" marL="0">
              <a:buNone/>
            </a:pPr>
            <a:r>
              <a:rPr lang="en-US" sz="1100" b="1" dirty="0">
                <a:solidFill>
                  <a:srgbClr val="1F3A6E"/>
                </a:solidFill>
              </a:rPr>
              <a:t>Cleanliness</a:t>
            </a:r>
            <a:endParaRPr lang="en-US" sz="1100" dirty="0"/>
          </a:p>
        </p:txBody>
      </p:sp>
      <p:sp>
        <p:nvSpPr>
          <p:cNvPr id="41" name="Icon circle"/>
          <p:cNvSpPr/>
          <p:nvPr/>
        </p:nvSpPr>
        <p:spPr>
          <a:xfrm>
            <a:off x="8330184" y="5138928"/>
            <a:ext cx="457200" cy="457200"/>
          </a:xfrm>
          <a:prstGeom prst="ellipse">
            <a:avLst/>
          </a:prstGeom>
          <a:solidFill>
            <a:srgbClr val="1F3A6E"/>
          </a:solidFill>
          <a:ln w="12700">
            <a:solidFill>
              <a:srgbClr val="1F3A6E"/>
            </a:solidFill>
            <a:prstDash val="solid"/>
          </a:ln>
        </p:spPr>
      </p:sp>
      <p:pic>
        <p:nvPicPr>
          <p:cNvPr id="42" name="Image 3" descr="FaConciergeBell">    </p:cNvPr>
          <p:cNvPicPr>
            <a:picLocks noChangeAspect="1"/>
          </p:cNvPicPr>
          <p:nvPr/>
        </p:nvPicPr>
        <p:blipFill>
          <a:blip r:embed="rId4"/>
          <a:stretch>
            <a:fillRect/>
          </a:stretch>
        </p:blipFill>
        <p:spPr>
          <a:xfrm>
            <a:off x="8444484" y="5253228"/>
            <a:ext cx="228600" cy="228600"/>
          </a:xfrm>
          <a:prstGeom prst="rect">
            <a:avLst/>
          </a:prstGeom>
        </p:spPr>
      </p:pic>
      <p:sp>
        <p:nvSpPr>
          <p:cNvPr id="43" name="Text 36"/>
          <p:cNvSpPr txBox="1"/>
          <p:nvPr/>
        </p:nvSpPr>
        <p:spPr>
          <a:xfrm>
            <a:off x="8010144" y="5614416"/>
            <a:ext cx="1097280" cy="228600"/>
          </a:xfrm>
          <a:prstGeom prst="rect">
            <a:avLst/>
          </a:prstGeom>
          <a:noFill/>
          <a:ln/>
        </p:spPr>
        <p:txBody>
          <a:bodyPr wrap="square" lIns="0" tIns="0" rIns="0" bIns="0" rtlCol="0" anchor="t"/>
          <a:lstStyle/>
          <a:p>
            <a:pPr algn="ctr" indent="0" marL="0">
              <a:buNone/>
            </a:pPr>
            <a:r>
              <a:rPr lang="en-US" sz="1100" b="1" dirty="0">
                <a:solidFill>
                  <a:srgbClr val="1F3A6E"/>
                </a:solidFill>
              </a:rPr>
              <a:t>Service</a:t>
            </a:r>
            <a:endParaRPr lang="en-US" sz="1100" dirty="0"/>
          </a:p>
        </p:txBody>
      </p:sp>
      <p:sp>
        <p:nvSpPr>
          <p:cNvPr id="44" name="Icon circle"/>
          <p:cNvSpPr/>
          <p:nvPr/>
        </p:nvSpPr>
        <p:spPr>
          <a:xfrm>
            <a:off x="9500616" y="5138928"/>
            <a:ext cx="457200" cy="457200"/>
          </a:xfrm>
          <a:prstGeom prst="ellipse">
            <a:avLst/>
          </a:prstGeom>
          <a:solidFill>
            <a:srgbClr val="0E9AA7"/>
          </a:solidFill>
          <a:ln w="12700">
            <a:solidFill>
              <a:srgbClr val="0E9AA7"/>
            </a:solidFill>
            <a:prstDash val="solid"/>
          </a:ln>
        </p:spPr>
      </p:sp>
      <p:pic>
        <p:nvPicPr>
          <p:cNvPr id="45" name="Image 4" descr="FaMapMarkerAlt">    </p:cNvPr>
          <p:cNvPicPr>
            <a:picLocks noChangeAspect="1"/>
          </p:cNvPicPr>
          <p:nvPr/>
        </p:nvPicPr>
        <p:blipFill>
          <a:blip r:embed="rId5"/>
          <a:stretch>
            <a:fillRect/>
          </a:stretch>
        </p:blipFill>
        <p:spPr>
          <a:xfrm>
            <a:off x="9614916" y="5253228"/>
            <a:ext cx="228600" cy="228600"/>
          </a:xfrm>
          <a:prstGeom prst="rect">
            <a:avLst/>
          </a:prstGeom>
        </p:spPr>
      </p:pic>
      <p:sp>
        <p:nvSpPr>
          <p:cNvPr id="46" name="Text 38"/>
          <p:cNvSpPr txBox="1"/>
          <p:nvPr/>
        </p:nvSpPr>
        <p:spPr>
          <a:xfrm>
            <a:off x="9180576" y="5614416"/>
            <a:ext cx="1097280" cy="228600"/>
          </a:xfrm>
          <a:prstGeom prst="rect">
            <a:avLst/>
          </a:prstGeom>
          <a:noFill/>
          <a:ln/>
        </p:spPr>
        <p:txBody>
          <a:bodyPr wrap="square" lIns="0" tIns="0" rIns="0" bIns="0" rtlCol="0" anchor="t"/>
          <a:lstStyle/>
          <a:p>
            <a:pPr algn="ctr" indent="0" marL="0">
              <a:buNone/>
            </a:pPr>
            <a:r>
              <a:rPr lang="en-US" sz="1100" b="1" dirty="0">
                <a:solidFill>
                  <a:srgbClr val="1F3A6E"/>
                </a:solidFill>
              </a:rPr>
              <a:t>Location</a:t>
            </a:r>
            <a:endParaRPr lang="en-US" sz="1100" dirty="0"/>
          </a:p>
        </p:txBody>
      </p:sp>
      <p:sp>
        <p:nvSpPr>
          <p:cNvPr id="47" name="Icon circle"/>
          <p:cNvSpPr/>
          <p:nvPr/>
        </p:nvSpPr>
        <p:spPr>
          <a:xfrm>
            <a:off x="10671048" y="5138928"/>
            <a:ext cx="457200" cy="457200"/>
          </a:xfrm>
          <a:prstGeom prst="ellipse">
            <a:avLst/>
          </a:prstGeom>
          <a:solidFill>
            <a:srgbClr val="1F3A6E"/>
          </a:solidFill>
          <a:ln w="12700">
            <a:solidFill>
              <a:srgbClr val="1F3A6E"/>
            </a:solidFill>
            <a:prstDash val="solid"/>
          </a:ln>
        </p:spPr>
      </p:sp>
      <p:pic>
        <p:nvPicPr>
          <p:cNvPr id="48" name="Image 5" descr="FaTag">    </p:cNvPr>
          <p:cNvPicPr>
            <a:picLocks noChangeAspect="1"/>
          </p:cNvPicPr>
          <p:nvPr/>
        </p:nvPicPr>
        <p:blipFill>
          <a:blip r:embed="rId6"/>
          <a:stretch>
            <a:fillRect/>
          </a:stretch>
        </p:blipFill>
        <p:spPr>
          <a:xfrm>
            <a:off x="10785348" y="5253228"/>
            <a:ext cx="228600" cy="228600"/>
          </a:xfrm>
          <a:prstGeom prst="rect">
            <a:avLst/>
          </a:prstGeom>
        </p:spPr>
      </p:pic>
      <p:sp>
        <p:nvSpPr>
          <p:cNvPr id="49" name="Text 40"/>
          <p:cNvSpPr txBox="1"/>
          <p:nvPr/>
        </p:nvSpPr>
        <p:spPr>
          <a:xfrm>
            <a:off x="10351008" y="5614416"/>
            <a:ext cx="1097280" cy="228600"/>
          </a:xfrm>
          <a:prstGeom prst="rect">
            <a:avLst/>
          </a:prstGeom>
          <a:noFill/>
          <a:ln/>
        </p:spPr>
        <p:txBody>
          <a:bodyPr wrap="square" lIns="0" tIns="0" rIns="0" bIns="0" rtlCol="0" anchor="t"/>
          <a:lstStyle/>
          <a:p>
            <a:pPr algn="ctr" indent="0" marL="0">
              <a:buNone/>
            </a:pPr>
            <a:r>
              <a:rPr lang="en-US" sz="1100" b="1" dirty="0">
                <a:solidFill>
                  <a:srgbClr val="1F3A6E"/>
                </a:solidFill>
              </a:rPr>
              <a:t>Value</a:t>
            </a:r>
            <a:endParaRPr lang="en-US" sz="1100" dirty="0"/>
          </a:p>
        </p:txBody>
      </p:sp>
      <p:sp>
        <p:nvSpPr>
          <p:cNvPr id="50" name="Text 41"/>
          <p:cNvSpPr txBox="1"/>
          <p:nvPr/>
        </p:nvSpPr>
        <p:spPr>
          <a:xfrm>
            <a:off x="5715000" y="5870448"/>
            <a:ext cx="5852160" cy="411480"/>
          </a:xfrm>
          <a:prstGeom prst="rect">
            <a:avLst/>
          </a:prstGeom>
          <a:noFill/>
          <a:ln/>
        </p:spPr>
        <p:txBody>
          <a:bodyPr wrap="square" lIns="0" tIns="0" rIns="0" bIns="0" rtlCol="0" anchor="t"/>
          <a:lstStyle/>
          <a:p>
            <a:pPr indent="0" marL="0">
              <a:buNone/>
            </a:pPr>
            <a:r>
              <a:rPr lang="en-US" sz="1150" dirty="0">
                <a:solidFill>
                  <a:srgbClr val="1B2A41"/>
                </a:solidFill>
              </a:rPr>
              <a:t>Read the evidence behind each aspect to see which guest concerns recur, then route them to the right team.</a:t>
            </a:r>
            <a:endParaRPr lang="en-US" sz="115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Findings, limitations and future work</a:t>
            </a:r>
            <a:endParaRPr lang="en-US" sz="3000" dirty="0"/>
          </a:p>
        </p:txBody>
      </p:sp>
      <p:sp>
        <p:nvSpPr>
          <p:cNvPr id="4" name="Card"/>
          <p:cNvSpPr/>
          <p:nvPr/>
        </p:nvSpPr>
        <p:spPr>
          <a:xfrm>
            <a:off x="457200" y="1325880"/>
            <a:ext cx="5486400" cy="2697480"/>
          </a:xfrm>
          <a:prstGeom prst="roundRect">
            <a:avLst>
              <a:gd name="adj" fmla="val 4068"/>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Icon circle"/>
          <p:cNvSpPr/>
          <p:nvPr/>
        </p:nvSpPr>
        <p:spPr>
          <a:xfrm>
            <a:off x="640080" y="1444752"/>
            <a:ext cx="411480" cy="411480"/>
          </a:xfrm>
          <a:prstGeom prst="ellipse">
            <a:avLst/>
          </a:prstGeom>
          <a:solidFill>
            <a:srgbClr val="0E9AA7"/>
          </a:solidFill>
          <a:ln w="12700">
            <a:solidFill>
              <a:srgbClr val="0E9AA7"/>
            </a:solidFill>
            <a:prstDash val="solid"/>
          </a:ln>
        </p:spPr>
      </p:sp>
      <p:pic>
        <p:nvPicPr>
          <p:cNvPr id="6" name="Image 0" descr="FaCheckCircle">    </p:cNvPr>
          <p:cNvPicPr>
            <a:picLocks noChangeAspect="1"/>
          </p:cNvPicPr>
          <p:nvPr/>
        </p:nvPicPr>
        <p:blipFill>
          <a:blip r:embed="rId1"/>
          <a:stretch>
            <a:fillRect/>
          </a:stretch>
        </p:blipFill>
        <p:spPr>
          <a:xfrm>
            <a:off x="742950" y="1547622"/>
            <a:ext cx="205740" cy="205740"/>
          </a:xfrm>
          <a:prstGeom prst="rect">
            <a:avLst/>
          </a:prstGeom>
        </p:spPr>
      </p:pic>
      <p:sp>
        <p:nvSpPr>
          <p:cNvPr id="7" name="Text 3"/>
          <p:cNvSpPr txBox="1"/>
          <p:nvPr/>
        </p:nvSpPr>
        <p:spPr>
          <a:xfrm>
            <a:off x="1188720" y="1444752"/>
            <a:ext cx="4114800" cy="411480"/>
          </a:xfrm>
          <a:prstGeom prst="rect">
            <a:avLst/>
          </a:prstGeom>
          <a:noFill/>
          <a:ln/>
        </p:spPr>
        <p:txBody>
          <a:bodyPr wrap="square" lIns="0" tIns="0" rIns="0" bIns="0" rtlCol="0" anchor="ctr"/>
          <a:lstStyle/>
          <a:p>
            <a:pPr indent="0" marL="0">
              <a:buNone/>
            </a:pPr>
            <a:r>
              <a:rPr lang="en-US" sz="1700" b="1" dirty="0">
                <a:solidFill>
                  <a:srgbClr val="1F3A6E"/>
                </a:solidFill>
              </a:rPr>
              <a:t>Key findings</a:t>
            </a:r>
            <a:endParaRPr lang="en-US" sz="1700" dirty="0"/>
          </a:p>
        </p:txBody>
      </p:sp>
      <p:sp>
        <p:nvSpPr>
          <p:cNvPr id="8" name="Text 4"/>
          <p:cNvSpPr txBox="1"/>
          <p:nvPr/>
        </p:nvSpPr>
        <p:spPr>
          <a:xfrm>
            <a:off x="685800" y="2011680"/>
            <a:ext cx="1005840" cy="329184"/>
          </a:xfrm>
          <a:prstGeom prst="rect">
            <a:avLst/>
          </a:prstGeom>
          <a:noFill/>
          <a:ln/>
        </p:spPr>
        <p:txBody>
          <a:bodyPr wrap="square" lIns="0" tIns="0" rIns="0" bIns="0" rtlCol="0" anchor="ctr"/>
          <a:lstStyle/>
          <a:p>
            <a:pPr indent="0" marL="0">
              <a:buNone/>
            </a:pPr>
            <a:r>
              <a:rPr lang="en-US" sz="1600" b="1" dirty="0">
                <a:solidFill>
                  <a:srgbClr val="0B7F8A"/>
                </a:solidFill>
                <a:latin typeface="Cambria" pitchFamily="34" charset="0"/>
                <a:ea typeface="Cambria" pitchFamily="34" charset="-122"/>
                <a:cs typeface="Cambria" pitchFamily="34" charset="-120"/>
              </a:rPr>
              <a:t>74.6%</a:t>
            </a:r>
            <a:endParaRPr lang="en-US" sz="1600" dirty="0"/>
          </a:p>
        </p:txBody>
      </p:sp>
      <p:sp>
        <p:nvSpPr>
          <p:cNvPr id="9" name="Text 5"/>
          <p:cNvSpPr txBox="1"/>
          <p:nvPr/>
        </p:nvSpPr>
        <p:spPr>
          <a:xfrm>
            <a:off x="1737360" y="2011680"/>
            <a:ext cx="4069080" cy="329184"/>
          </a:xfrm>
          <a:prstGeom prst="rect">
            <a:avLst/>
          </a:prstGeom>
          <a:noFill/>
          <a:ln/>
        </p:spPr>
        <p:txBody>
          <a:bodyPr wrap="square" lIns="0" tIns="0" rIns="0" bIns="0" rtlCol="0" anchor="ctr"/>
          <a:lstStyle/>
          <a:p>
            <a:pPr indent="0" marL="0">
              <a:buNone/>
            </a:pPr>
            <a:r>
              <a:rPr lang="en-US" sz="1350" dirty="0">
                <a:solidFill>
                  <a:srgbClr val="1B2A41"/>
                </a:solidFill>
              </a:rPr>
              <a:t>overall polarity accuracy</a:t>
            </a:r>
            <a:endParaRPr lang="en-US" sz="1350" dirty="0"/>
          </a:p>
        </p:txBody>
      </p:sp>
      <p:sp>
        <p:nvSpPr>
          <p:cNvPr id="10" name="Text 6"/>
          <p:cNvSpPr txBox="1"/>
          <p:nvPr/>
        </p:nvSpPr>
        <p:spPr>
          <a:xfrm>
            <a:off x="685800" y="2377440"/>
            <a:ext cx="1005840" cy="329184"/>
          </a:xfrm>
          <a:prstGeom prst="rect">
            <a:avLst/>
          </a:prstGeom>
          <a:noFill/>
          <a:ln/>
        </p:spPr>
        <p:txBody>
          <a:bodyPr wrap="square" lIns="0" tIns="0" rIns="0" bIns="0" rtlCol="0" anchor="ctr"/>
          <a:lstStyle/>
          <a:p>
            <a:pPr indent="0" marL="0">
              <a:buNone/>
            </a:pPr>
            <a:r>
              <a:rPr lang="en-US" sz="1600" b="1" dirty="0">
                <a:solidFill>
                  <a:srgbClr val="0B7F8A"/>
                </a:solidFill>
                <a:latin typeface="Cambria" pitchFamily="34" charset="0"/>
                <a:ea typeface="Cambria" pitchFamily="34" charset="-122"/>
                <a:cs typeface="Cambria" pitchFamily="34" charset="-120"/>
              </a:rPr>
              <a:t>0.709</a:t>
            </a:r>
            <a:endParaRPr lang="en-US" sz="1600" dirty="0"/>
          </a:p>
        </p:txBody>
      </p:sp>
      <p:sp>
        <p:nvSpPr>
          <p:cNvPr id="11" name="Text 7"/>
          <p:cNvSpPr txBox="1"/>
          <p:nvPr/>
        </p:nvSpPr>
        <p:spPr>
          <a:xfrm>
            <a:off x="1737360" y="2377440"/>
            <a:ext cx="4069080" cy="329184"/>
          </a:xfrm>
          <a:prstGeom prst="rect">
            <a:avLst/>
          </a:prstGeom>
          <a:noFill/>
          <a:ln/>
        </p:spPr>
        <p:txBody>
          <a:bodyPr wrap="square" lIns="0" tIns="0" rIns="0" bIns="0" rtlCol="0" anchor="ctr"/>
          <a:lstStyle/>
          <a:p>
            <a:pPr indent="0" marL="0">
              <a:buNone/>
            </a:pPr>
            <a:r>
              <a:rPr lang="en-US" sz="1350" dirty="0">
                <a:solidFill>
                  <a:srgbClr val="1B2A41"/>
                </a:solidFill>
              </a:rPr>
              <a:t>overall polarity macro-F1</a:t>
            </a:r>
            <a:endParaRPr lang="en-US" sz="1350" dirty="0"/>
          </a:p>
        </p:txBody>
      </p:sp>
      <p:sp>
        <p:nvSpPr>
          <p:cNvPr id="12" name="Text 8"/>
          <p:cNvSpPr txBox="1"/>
          <p:nvPr/>
        </p:nvSpPr>
        <p:spPr>
          <a:xfrm>
            <a:off x="685800" y="2743200"/>
            <a:ext cx="1005840" cy="329184"/>
          </a:xfrm>
          <a:prstGeom prst="rect">
            <a:avLst/>
          </a:prstGeom>
          <a:noFill/>
          <a:ln/>
        </p:spPr>
        <p:txBody>
          <a:bodyPr wrap="square" lIns="0" tIns="0" rIns="0" bIns="0" rtlCol="0" anchor="ctr"/>
          <a:lstStyle/>
          <a:p>
            <a:pPr indent="0" marL="0">
              <a:buNone/>
            </a:pPr>
            <a:r>
              <a:rPr lang="en-US" sz="1600" b="1" dirty="0">
                <a:solidFill>
                  <a:srgbClr val="0B7F8A"/>
                </a:solidFill>
                <a:latin typeface="Cambria" pitchFamily="34" charset="0"/>
                <a:ea typeface="Cambria" pitchFamily="34" charset="-122"/>
                <a:cs typeface="Cambria" pitchFamily="34" charset="-120"/>
              </a:rPr>
              <a:t>51.1%</a:t>
            </a:r>
            <a:endParaRPr lang="en-US" sz="1600" dirty="0"/>
          </a:p>
        </p:txBody>
      </p:sp>
      <p:sp>
        <p:nvSpPr>
          <p:cNvPr id="13" name="Text 9"/>
          <p:cNvSpPr txBox="1"/>
          <p:nvPr/>
        </p:nvSpPr>
        <p:spPr>
          <a:xfrm>
            <a:off x="1737360" y="2743200"/>
            <a:ext cx="4069080" cy="329184"/>
          </a:xfrm>
          <a:prstGeom prst="rect">
            <a:avLst/>
          </a:prstGeom>
          <a:noFill/>
          <a:ln/>
        </p:spPr>
        <p:txBody>
          <a:bodyPr wrap="square" lIns="0" tIns="0" rIns="0" bIns="0" rtlCol="0" anchor="ctr"/>
          <a:lstStyle/>
          <a:p>
            <a:pPr indent="0" marL="0">
              <a:buNone/>
            </a:pPr>
            <a:r>
              <a:rPr lang="en-US" sz="1350" dirty="0">
                <a:solidFill>
                  <a:srgbClr val="1B2A41"/>
                </a:solidFill>
              </a:rPr>
              <a:t>exact-star accuracy</a:t>
            </a:r>
            <a:endParaRPr lang="en-US" sz="1350" dirty="0"/>
          </a:p>
        </p:txBody>
      </p:sp>
      <p:sp>
        <p:nvSpPr>
          <p:cNvPr id="14" name="Text 10"/>
          <p:cNvSpPr txBox="1"/>
          <p:nvPr/>
        </p:nvSpPr>
        <p:spPr>
          <a:xfrm>
            <a:off x="685800" y="3108960"/>
            <a:ext cx="1005840" cy="329184"/>
          </a:xfrm>
          <a:prstGeom prst="rect">
            <a:avLst/>
          </a:prstGeom>
          <a:noFill/>
          <a:ln/>
        </p:spPr>
        <p:txBody>
          <a:bodyPr wrap="square" lIns="0" tIns="0" rIns="0" bIns="0" rtlCol="0" anchor="ctr"/>
          <a:lstStyle/>
          <a:p>
            <a:pPr indent="0" marL="0">
              <a:buNone/>
            </a:pPr>
            <a:r>
              <a:rPr lang="en-US" sz="1600" b="1" dirty="0">
                <a:solidFill>
                  <a:srgbClr val="0B7F8A"/>
                </a:solidFill>
                <a:latin typeface="Cambria" pitchFamily="34" charset="0"/>
                <a:ea typeface="Cambria" pitchFamily="34" charset="-122"/>
                <a:cs typeface="Cambria" pitchFamily="34" charset="-120"/>
              </a:rPr>
              <a:t>92.2%</a:t>
            </a:r>
            <a:endParaRPr lang="en-US" sz="1600" dirty="0"/>
          </a:p>
        </p:txBody>
      </p:sp>
      <p:sp>
        <p:nvSpPr>
          <p:cNvPr id="15" name="Text 11"/>
          <p:cNvSpPr txBox="1"/>
          <p:nvPr/>
        </p:nvSpPr>
        <p:spPr>
          <a:xfrm>
            <a:off x="1737360" y="3108960"/>
            <a:ext cx="4069080" cy="329184"/>
          </a:xfrm>
          <a:prstGeom prst="rect">
            <a:avLst/>
          </a:prstGeom>
          <a:noFill/>
          <a:ln/>
        </p:spPr>
        <p:txBody>
          <a:bodyPr wrap="square" lIns="0" tIns="0" rIns="0" bIns="0" rtlCol="0" anchor="ctr"/>
          <a:lstStyle/>
          <a:p>
            <a:pPr indent="0" marL="0">
              <a:buNone/>
            </a:pPr>
            <a:r>
              <a:rPr lang="en-US" sz="1350" dirty="0">
                <a:solidFill>
                  <a:srgbClr val="1B2A41"/>
                </a:solidFill>
              </a:rPr>
              <a:t>within-one-star accuracy</a:t>
            </a:r>
            <a:endParaRPr lang="en-US" sz="1350" dirty="0"/>
          </a:p>
        </p:txBody>
      </p:sp>
      <p:sp>
        <p:nvSpPr>
          <p:cNvPr id="16" name="Text 12"/>
          <p:cNvSpPr txBox="1"/>
          <p:nvPr/>
        </p:nvSpPr>
        <p:spPr>
          <a:xfrm>
            <a:off x="685800" y="3474720"/>
            <a:ext cx="1005840" cy="329184"/>
          </a:xfrm>
          <a:prstGeom prst="rect">
            <a:avLst/>
          </a:prstGeom>
          <a:noFill/>
          <a:ln/>
        </p:spPr>
        <p:txBody>
          <a:bodyPr wrap="square" lIns="0" tIns="0" rIns="0" bIns="0" rtlCol="0" anchor="ctr"/>
          <a:lstStyle/>
          <a:p>
            <a:pPr indent="0" marL="0">
              <a:buNone/>
            </a:pPr>
            <a:r>
              <a:rPr lang="en-US" sz="1600" b="1" dirty="0">
                <a:solidFill>
                  <a:srgbClr val="0B7F8A"/>
                </a:solidFill>
                <a:latin typeface="Cambria" pitchFamily="34" charset="0"/>
                <a:ea typeface="Cambria" pitchFamily="34" charset="-122"/>
                <a:cs typeface="Cambria" pitchFamily="34" charset="-120"/>
              </a:rPr>
              <a:t>Varies</a:t>
            </a:r>
            <a:endParaRPr lang="en-US" sz="1600" dirty="0"/>
          </a:p>
        </p:txBody>
      </p:sp>
      <p:sp>
        <p:nvSpPr>
          <p:cNvPr id="17" name="Text 13"/>
          <p:cNvSpPr txBox="1"/>
          <p:nvPr/>
        </p:nvSpPr>
        <p:spPr>
          <a:xfrm>
            <a:off x="1737360" y="3474720"/>
            <a:ext cx="4069080" cy="329184"/>
          </a:xfrm>
          <a:prstGeom prst="rect">
            <a:avLst/>
          </a:prstGeom>
          <a:noFill/>
          <a:ln/>
        </p:spPr>
        <p:txBody>
          <a:bodyPr wrap="square" lIns="0" tIns="0" rIns="0" bIns="0" rtlCol="0" anchor="ctr"/>
          <a:lstStyle/>
          <a:p>
            <a:pPr indent="0" marL="0">
              <a:buNone/>
            </a:pPr>
            <a:r>
              <a:rPr lang="en-US" sz="1350" dirty="0">
                <a:solidFill>
                  <a:srgbClr val="1B2A41"/>
                </a:solidFill>
              </a:rPr>
              <a:t>performance differs by aspect (macro-F1 0.383–0.709)</a:t>
            </a:r>
            <a:endParaRPr lang="en-US" sz="1350" dirty="0"/>
          </a:p>
        </p:txBody>
      </p:sp>
      <p:sp>
        <p:nvSpPr>
          <p:cNvPr id="18" name="Card"/>
          <p:cNvSpPr/>
          <p:nvPr/>
        </p:nvSpPr>
        <p:spPr>
          <a:xfrm>
            <a:off x="457200" y="4206240"/>
            <a:ext cx="5486400" cy="2103120"/>
          </a:xfrm>
          <a:prstGeom prst="roundRect">
            <a:avLst>
              <a:gd name="adj" fmla="val 5217"/>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19" name="Icon circle"/>
          <p:cNvSpPr/>
          <p:nvPr/>
        </p:nvSpPr>
        <p:spPr>
          <a:xfrm>
            <a:off x="640080" y="4325112"/>
            <a:ext cx="411480" cy="411480"/>
          </a:xfrm>
          <a:prstGeom prst="ellipse">
            <a:avLst/>
          </a:prstGeom>
          <a:solidFill>
            <a:srgbClr val="1F3A6E"/>
          </a:solidFill>
          <a:ln w="12700">
            <a:solidFill>
              <a:srgbClr val="1F3A6E"/>
            </a:solidFill>
            <a:prstDash val="solid"/>
          </a:ln>
        </p:spPr>
      </p:sp>
      <p:pic>
        <p:nvPicPr>
          <p:cNvPr id="20" name="Image 1" descr="FaRoad">    </p:cNvPr>
          <p:cNvPicPr>
            <a:picLocks noChangeAspect="1"/>
          </p:cNvPicPr>
          <p:nvPr/>
        </p:nvPicPr>
        <p:blipFill>
          <a:blip r:embed="rId2"/>
          <a:stretch>
            <a:fillRect/>
          </a:stretch>
        </p:blipFill>
        <p:spPr>
          <a:xfrm>
            <a:off x="742950" y="4427982"/>
            <a:ext cx="205740" cy="205740"/>
          </a:xfrm>
          <a:prstGeom prst="rect">
            <a:avLst/>
          </a:prstGeom>
        </p:spPr>
      </p:pic>
      <p:sp>
        <p:nvSpPr>
          <p:cNvPr id="21" name="Text 16"/>
          <p:cNvSpPr txBox="1"/>
          <p:nvPr/>
        </p:nvSpPr>
        <p:spPr>
          <a:xfrm>
            <a:off x="1188720" y="4325112"/>
            <a:ext cx="4114800" cy="411480"/>
          </a:xfrm>
          <a:prstGeom prst="rect">
            <a:avLst/>
          </a:prstGeom>
          <a:noFill/>
          <a:ln/>
        </p:spPr>
        <p:txBody>
          <a:bodyPr wrap="square" lIns="0" tIns="0" rIns="0" bIns="0" rtlCol="0" anchor="ctr"/>
          <a:lstStyle/>
          <a:p>
            <a:pPr indent="0" marL="0">
              <a:buNone/>
            </a:pPr>
            <a:r>
              <a:rPr lang="en-US" sz="1700" b="1" dirty="0">
                <a:solidFill>
                  <a:srgbClr val="1F3A6E"/>
                </a:solidFill>
              </a:rPr>
              <a:t>Future work</a:t>
            </a:r>
            <a:endParaRPr lang="en-US" sz="1700" dirty="0"/>
          </a:p>
        </p:txBody>
      </p:sp>
      <p:sp>
        <p:nvSpPr>
          <p:cNvPr id="22" name="Text 17"/>
          <p:cNvSpPr txBox="1"/>
          <p:nvPr/>
        </p:nvSpPr>
        <p:spPr>
          <a:xfrm>
            <a:off x="685800" y="4846320"/>
            <a:ext cx="5074920" cy="14173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B2A41"/>
                </a:solidFill>
              </a:rPr>
              <a:t>Improve aspect extraction and routing</a:t>
            </a:r>
            <a:endParaRPr lang="en-US" sz="1350" dirty="0"/>
          </a:p>
          <a:p>
            <a:pPr marL="342900" indent="-342900">
              <a:spcAft>
                <a:spcPts val="300"/>
              </a:spcAft>
              <a:buSzPct val="100000"/>
              <a:buChar char="•"/>
            </a:pPr>
            <a:r>
              <a:rPr lang="en-US" sz="1350" dirty="0">
                <a:solidFill>
                  <a:srgbClr val="1B2A41"/>
                </a:solidFill>
              </a:rPr>
              <a:t>Use broader, more diverse hotel-review datasets</a:t>
            </a:r>
            <a:endParaRPr lang="en-US" sz="1350" dirty="0"/>
          </a:p>
          <a:p>
            <a:pPr marL="342900" indent="-342900">
              <a:spcAft>
                <a:spcPts val="300"/>
              </a:spcAft>
              <a:buSzPct val="100000"/>
              <a:buChar char="•"/>
            </a:pPr>
            <a:r>
              <a:rPr lang="en-US" sz="1350" dirty="0">
                <a:solidFill>
                  <a:srgbClr val="1B2A41"/>
                </a:solidFill>
              </a:rPr>
              <a:t>Improve handling of ambiguous reviews</a:t>
            </a:r>
            <a:endParaRPr lang="en-US" sz="1350" dirty="0"/>
          </a:p>
          <a:p>
            <a:pPr marL="342900" indent="-342900">
              <a:spcAft>
                <a:spcPts val="300"/>
              </a:spcAft>
              <a:buSzPct val="100000"/>
              <a:buChar char="•"/>
            </a:pPr>
            <a:r>
              <a:rPr lang="en-US" sz="1350" dirty="0">
                <a:solidFill>
                  <a:srgbClr val="1B2A41"/>
                </a:solidFill>
              </a:rPr>
              <a:t>Improve confidence calibration</a:t>
            </a:r>
            <a:endParaRPr lang="en-US" sz="1350" dirty="0"/>
          </a:p>
          <a:p>
            <a:pPr marL="342900" indent="-342900">
              <a:spcAft>
                <a:spcPts val="300"/>
              </a:spcAft>
              <a:buSzPct val="100000"/>
              <a:buChar char="•"/>
            </a:pPr>
            <a:r>
              <a:rPr lang="en-US" sz="1350" dirty="0">
                <a:solidFill>
                  <a:srgbClr val="1B2A41"/>
                </a:solidFill>
              </a:rPr>
              <a:t>Evaluate on independently collected reviews</a:t>
            </a:r>
            <a:endParaRPr lang="en-US" sz="1350" dirty="0"/>
          </a:p>
        </p:txBody>
      </p:sp>
      <p:sp>
        <p:nvSpPr>
          <p:cNvPr id="23" name="Card"/>
          <p:cNvSpPr/>
          <p:nvPr/>
        </p:nvSpPr>
        <p:spPr>
          <a:xfrm>
            <a:off x="6172200" y="1325880"/>
            <a:ext cx="5559552" cy="4983480"/>
          </a:xfrm>
          <a:prstGeom prst="roundRect">
            <a:avLst>
              <a:gd name="adj" fmla="val 2202"/>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24" name="Icon circle"/>
          <p:cNvSpPr/>
          <p:nvPr/>
        </p:nvSpPr>
        <p:spPr>
          <a:xfrm>
            <a:off x="6355080" y="1444752"/>
            <a:ext cx="411480" cy="411480"/>
          </a:xfrm>
          <a:prstGeom prst="ellipse">
            <a:avLst/>
          </a:prstGeom>
          <a:solidFill>
            <a:srgbClr val="E8604C"/>
          </a:solidFill>
          <a:ln w="12700">
            <a:solidFill>
              <a:srgbClr val="E8604C"/>
            </a:solidFill>
            <a:prstDash val="solid"/>
          </a:ln>
        </p:spPr>
      </p:sp>
      <p:pic>
        <p:nvPicPr>
          <p:cNvPr id="25" name="Image 2" descr="FaExclamationTriangle">    </p:cNvPr>
          <p:cNvPicPr>
            <a:picLocks noChangeAspect="1"/>
          </p:cNvPicPr>
          <p:nvPr/>
        </p:nvPicPr>
        <p:blipFill>
          <a:blip r:embed="rId3"/>
          <a:stretch>
            <a:fillRect/>
          </a:stretch>
        </p:blipFill>
        <p:spPr>
          <a:xfrm>
            <a:off x="6457950" y="1547622"/>
            <a:ext cx="205740" cy="205740"/>
          </a:xfrm>
          <a:prstGeom prst="rect">
            <a:avLst/>
          </a:prstGeom>
        </p:spPr>
      </p:pic>
      <p:sp>
        <p:nvSpPr>
          <p:cNvPr id="26" name="Text 20"/>
          <p:cNvSpPr txBox="1"/>
          <p:nvPr/>
        </p:nvSpPr>
        <p:spPr>
          <a:xfrm>
            <a:off x="6903720" y="1444752"/>
            <a:ext cx="4114800" cy="411480"/>
          </a:xfrm>
          <a:prstGeom prst="rect">
            <a:avLst/>
          </a:prstGeom>
          <a:noFill/>
          <a:ln/>
        </p:spPr>
        <p:txBody>
          <a:bodyPr wrap="square" lIns="0" tIns="0" rIns="0" bIns="0" rtlCol="0" anchor="ctr"/>
          <a:lstStyle/>
          <a:p>
            <a:pPr indent="0" marL="0">
              <a:buNone/>
            </a:pPr>
            <a:r>
              <a:rPr lang="en-US" sz="1700" b="1" dirty="0">
                <a:solidFill>
                  <a:srgbClr val="1F3A6E"/>
                </a:solidFill>
              </a:rPr>
              <a:t>Limitations</a:t>
            </a:r>
            <a:endParaRPr lang="en-US" sz="1700" dirty="0"/>
          </a:p>
        </p:txBody>
      </p:sp>
      <p:sp>
        <p:nvSpPr>
          <p:cNvPr id="27" name="Text 21"/>
          <p:cNvSpPr txBox="1"/>
          <p:nvPr/>
        </p:nvSpPr>
        <p:spPr>
          <a:xfrm>
            <a:off x="6400800" y="2057400"/>
            <a:ext cx="5120640" cy="4160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A41"/>
                </a:solidFill>
              </a:rPr>
              <a:t>Location macro-F1 (0.383) is low despite 72.2% polarity accuracy; positive reviews dominate.</a:t>
            </a:r>
            <a:endParaRPr lang="en-US" sz="1500" dirty="0"/>
          </a:p>
          <a:p>
            <a:pPr marL="342900" indent="-342900">
              <a:spcAft>
                <a:spcPts val="900"/>
              </a:spcAft>
              <a:buSzPct val="100000"/>
              <a:buChar char="•"/>
            </a:pPr>
            <a:r>
              <a:rPr lang="en-US" sz="1500" dirty="0">
                <a:solidFill>
                  <a:srgbClr val="1B2A41"/>
                </a:solidFill>
              </a:rPr>
              <a:t>Aspect labels are not available for every review.</a:t>
            </a:r>
            <a:endParaRPr lang="en-US" sz="1500" dirty="0"/>
          </a:p>
          <a:p>
            <a:pPr marL="342900" indent="-342900">
              <a:spcAft>
                <a:spcPts val="900"/>
              </a:spcAft>
              <a:buSzPct val="100000"/>
              <a:buChar char="•"/>
            </a:pPr>
            <a:r>
              <a:rPr lang="en-US" sz="1500" dirty="0">
                <a:solidFill>
                  <a:srgbClr val="1B2A41"/>
                </a:solidFill>
              </a:rPr>
              <a:t>Aspect routing can be imperfect.</a:t>
            </a:r>
            <a:endParaRPr lang="en-US" sz="1500" dirty="0"/>
          </a:p>
          <a:p>
            <a:pPr marL="342900" indent="-342900">
              <a:spcAft>
                <a:spcPts val="900"/>
              </a:spcAft>
              <a:buSzPct val="100000"/>
              <a:buChar char="•"/>
            </a:pPr>
            <a:r>
              <a:rPr lang="en-US" sz="1500" dirty="0">
                <a:solidFill>
                  <a:srgbClr val="1B2A41"/>
                </a:solidFill>
              </a:rPr>
              <a:t>Cross-aspect information can still affect predictions.</a:t>
            </a:r>
            <a:endParaRPr lang="en-US" sz="1500" dirty="0"/>
          </a:p>
          <a:p>
            <a:pPr marL="342900" indent="-342900">
              <a:spcAft>
                <a:spcPts val="900"/>
              </a:spcAft>
              <a:buSzPct val="100000"/>
              <a:buChar char="•"/>
            </a:pPr>
            <a:r>
              <a:rPr lang="en-US" sz="1500" dirty="0">
                <a:solidFill>
                  <a:srgbClr val="1B2A41"/>
                </a:solidFill>
              </a:rPr>
              <a:t>Data are historical, English-language reviews.</a:t>
            </a:r>
            <a:endParaRPr lang="en-US" sz="1500" dirty="0"/>
          </a:p>
          <a:p>
            <a:pPr marL="342900" indent="-342900">
              <a:spcAft>
                <a:spcPts val="900"/>
              </a:spcAft>
              <a:buSzPct val="100000"/>
              <a:buChar char="•"/>
            </a:pPr>
            <a:r>
              <a:rPr lang="en-US" sz="1500" dirty="0">
                <a:solidFill>
                  <a:srgbClr val="1B2A41"/>
                </a:solidFill>
              </a:rPr>
              <a:t>Sleep Quality has no usable real labels.</a:t>
            </a:r>
            <a:endParaRPr lang="en-US" sz="1500" dirty="0"/>
          </a:p>
          <a:p>
            <a:pPr marL="342900" indent="-342900">
              <a:spcAft>
                <a:spcPts val="900"/>
              </a:spcAft>
              <a:buSzPct val="100000"/>
              <a:buChar char="•"/>
            </a:pPr>
            <a:r>
              <a:rPr lang="en-US" sz="1500" dirty="0">
                <a:solidFill>
                  <a:srgbClr val="1B2A41"/>
                </a:solidFill>
              </a:rPr>
              <a:t>Results do not establish performance on all hotels or future reviews.</a:t>
            </a:r>
            <a:endParaRPr lang="en-US" sz="1500" dirty="0"/>
          </a:p>
          <a:p>
            <a:pPr marL="342900" indent="-342900">
              <a:spcAft>
                <a:spcPts val="900"/>
              </a:spcAft>
              <a:buSzPct val="100000"/>
              <a:buChar char="•"/>
            </a:pPr>
            <a:r>
              <a:rPr lang="en-US" sz="1500" dirty="0">
                <a:solidFill>
                  <a:srgbClr val="1B2A41"/>
                </a:solidFill>
              </a:rPr>
              <a:t>Held-out results are descriptive, not an independent external benchmark. Not production-ready.</a:t>
            </a:r>
            <a:endParaRPr lang="en-US" sz="15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9784080" cy="731520"/>
          </a:xfrm>
          <a:prstGeom prst="rect">
            <a:avLst/>
          </a:prstGeom>
          <a:noFill/>
          <a:ln/>
        </p:spPr>
        <p:txBody>
          <a:bodyPr wrap="square" lIns="0" tIns="0" rIns="0" bIns="0" rtlCol="0" anchor="ctr"/>
          <a:lstStyle/>
          <a:p>
            <a:pPr algn="l" indent="0" marL="0">
              <a:buNone/>
            </a:pPr>
            <a:r>
              <a:rPr lang="en-US" sz="3000" b="1" dirty="0">
                <a:solidFill>
                  <a:srgbClr val="1F3A6E"/>
                </a:solidFill>
                <a:latin typeface="Cambria" pitchFamily="34" charset="0"/>
                <a:ea typeface="Cambria" pitchFamily="34" charset="-122"/>
                <a:cs typeface="Cambria" pitchFamily="34" charset="-120"/>
              </a:rPr>
              <a:t>Conclusion</a:t>
            </a:r>
            <a:endParaRPr lang="en-US" sz="3000" dirty="0"/>
          </a:p>
        </p:txBody>
      </p:sp>
      <p:sp>
        <p:nvSpPr>
          <p:cNvPr id="4" name="Card"/>
          <p:cNvSpPr/>
          <p:nvPr/>
        </p:nvSpPr>
        <p:spPr>
          <a:xfrm>
            <a:off x="457200" y="1325880"/>
            <a:ext cx="6583680" cy="2697480"/>
          </a:xfrm>
          <a:prstGeom prst="roundRect">
            <a:avLst>
              <a:gd name="adj" fmla="val 4068"/>
            </a:avLst>
          </a:prstGeom>
          <a:solidFill>
            <a:srgbClr val="FFFFFF"/>
          </a:solidFill>
          <a:ln w="12700">
            <a:solidFill>
              <a:srgbClr val="FFFFFF">
                <a:alpha val="0"/>
              </a:srgbClr>
            </a:solidFill>
            <a:prstDash val="solid"/>
          </a:ln>
          <a:effectLst>
            <a:outerShdw sx="100000" sy="100000" kx="0" ky="0" algn="bl" rotWithShape="0" blurRad="127000" dist="25400" dir="5400000">
              <a:srgbClr val="1F3A6E">
                <a:alpha val="12000"/>
              </a:srgbClr>
            </a:outerShdw>
          </a:effectLst>
        </p:spPr>
      </p:sp>
      <p:sp>
        <p:nvSpPr>
          <p:cNvPr id="5" name="Text 2"/>
          <p:cNvSpPr txBox="1"/>
          <p:nvPr/>
        </p:nvSpPr>
        <p:spPr>
          <a:xfrm>
            <a:off x="658368" y="1417320"/>
            <a:ext cx="6217920" cy="777240"/>
          </a:xfrm>
          <a:prstGeom prst="rect">
            <a:avLst/>
          </a:prstGeom>
          <a:noFill/>
          <a:ln/>
        </p:spPr>
        <p:txBody>
          <a:bodyPr wrap="square" lIns="0" tIns="0" rIns="0" bIns="0" rtlCol="0" anchor="t"/>
          <a:lstStyle/>
          <a:p>
            <a:pPr indent="0" marL="0">
              <a:buNone/>
            </a:pPr>
            <a:r>
              <a:rPr lang="en-US" sz="1700" b="1" dirty="0">
                <a:solidFill>
                  <a:srgbClr val="1F3A6E"/>
                </a:solidFill>
                <a:latin typeface="Cambria" pitchFamily="34" charset="0"/>
                <a:ea typeface="Cambria" pitchFamily="34" charset="-122"/>
                <a:cs typeface="Cambria" pitchFamily="34" charset="-120"/>
              </a:rPr>
              <a:t>Aspect-Based Sentiment Analysis turns unstructured hotel reviews into aspect-specific sentiment insights.</a:t>
            </a:r>
            <a:endParaRPr lang="en-US" sz="1700" dirty="0"/>
          </a:p>
        </p:txBody>
      </p:sp>
      <p:sp>
        <p:nvSpPr>
          <p:cNvPr id="6" name="Text 3"/>
          <p:cNvSpPr txBox="1"/>
          <p:nvPr/>
        </p:nvSpPr>
        <p:spPr>
          <a:xfrm>
            <a:off x="658368" y="2286000"/>
            <a:ext cx="6217920" cy="1645920"/>
          </a:xfrm>
          <a:prstGeom prst="rect">
            <a:avLst/>
          </a:prstGeom>
          <a:noFill/>
          <a:ln/>
        </p:spPr>
        <p:txBody>
          <a:bodyPr wrap="square" lIns="0" tIns="0" rIns="0" bIns="0" rtlCol="0" anchor="t"/>
          <a:lstStyle/>
          <a:p>
            <a:pPr indent="0" marL="0">
              <a:spcAft>
                <a:spcPts val="500"/>
              </a:spcAft>
              <a:buNone/>
            </a:pPr>
            <a:r>
              <a:rPr lang="en-US" sz="1350" b="1" dirty="0">
                <a:solidFill>
                  <a:srgbClr val="0B7F8A"/>
                </a:solidFill>
              </a:rPr>
              <a:t>Contribution: </a:t>
            </a:r>
            <a:pPr indent="0" marL="0">
              <a:spcAft>
                <a:spcPts val="500"/>
              </a:spcAft>
              <a:buNone/>
            </a:pPr>
            <a:r>
              <a:rPr lang="en-US" sz="1350" dirty="0">
                <a:solidFill>
                  <a:srgbClr val="1B2A41"/>
                </a:solidFill>
              </a:rPr>
              <a:t>an end-to-end classical-ML pipeline with aspect routing, star and polarity prediction, textual evidence and abstention.</a:t>
            </a:r>
            <a:endParaRPr lang="en-US" sz="1350" dirty="0"/>
          </a:p>
          <a:p>
            <a:pPr indent="0" marL="0">
              <a:spcAft>
                <a:spcPts val="500"/>
              </a:spcAft>
              <a:buNone/>
            </a:pPr>
            <a:r>
              <a:rPr lang="en-US" sz="1350" b="1" dirty="0">
                <a:solidFill>
                  <a:srgbClr val="0B7F8A"/>
                </a:solidFill>
              </a:rPr>
              <a:t>Main findings: </a:t>
            </a:r>
            <a:pPr indent="0" marL="0">
              <a:spcAft>
                <a:spcPts val="500"/>
              </a:spcAft>
              <a:buNone/>
            </a:pPr>
            <a:r>
              <a:rPr lang="en-US" sz="1350" dirty="0">
                <a:solidFill>
                  <a:srgbClr val="1B2A41"/>
                </a:solidFill>
              </a:rPr>
              <a:t>74.6% polarity accuracy and 0.709 macro-F1 overall; performance varies by aspect.</a:t>
            </a:r>
            <a:endParaRPr lang="en-US" sz="1350" dirty="0"/>
          </a:p>
          <a:p>
            <a:pPr indent="0" marL="0">
              <a:spcAft>
                <a:spcPts val="500"/>
              </a:spcAft>
              <a:buNone/>
            </a:pPr>
            <a:r>
              <a:rPr lang="en-US" sz="1350" b="1" dirty="0">
                <a:solidFill>
                  <a:srgbClr val="0B7F8A"/>
                </a:solidFill>
              </a:rPr>
              <a:t>Scope: </a:t>
            </a:r>
            <a:pPr indent="0" marL="0">
              <a:spcAft>
                <a:spcPts val="500"/>
              </a:spcAft>
              <a:buNone/>
            </a:pPr>
            <a:r>
              <a:rPr lang="en-US" sz="1350" dirty="0">
                <a:solidFill>
                  <a:srgbClr val="1B2A41"/>
                </a:solidFill>
              </a:rPr>
              <a:t>descriptive held-out results; not production-ready.</a:t>
            </a:r>
            <a:endParaRPr lang="en-US" sz="1350" dirty="0"/>
          </a:p>
        </p:txBody>
      </p:sp>
      <p:sp>
        <p:nvSpPr>
          <p:cNvPr id="7" name="Card"/>
          <p:cNvSpPr/>
          <p:nvPr/>
        </p:nvSpPr>
        <p:spPr>
          <a:xfrm>
            <a:off x="457200" y="4206240"/>
            <a:ext cx="6583680" cy="2103120"/>
          </a:xfrm>
          <a:prstGeom prst="roundRect">
            <a:avLst>
              <a:gd name="adj" fmla="val 5217"/>
            </a:avLst>
          </a:prstGeom>
          <a:solidFill>
            <a:srgbClr val="F3F7FB"/>
          </a:solidFill>
          <a:ln w="12700">
            <a:solidFill>
              <a:srgbClr val="FFFFFF">
                <a:alpha val="0"/>
              </a:srgbClr>
            </a:solidFill>
            <a:prstDash val="solid"/>
          </a:ln>
        </p:spPr>
      </p:sp>
      <p:sp>
        <p:nvSpPr>
          <p:cNvPr id="8" name="Text 5"/>
          <p:cNvSpPr txBox="1"/>
          <p:nvPr/>
        </p:nvSpPr>
        <p:spPr>
          <a:xfrm>
            <a:off x="658368" y="4297680"/>
            <a:ext cx="6217920" cy="274320"/>
          </a:xfrm>
          <a:prstGeom prst="rect">
            <a:avLst/>
          </a:prstGeom>
          <a:noFill/>
          <a:ln/>
        </p:spPr>
        <p:txBody>
          <a:bodyPr wrap="square" lIns="0" tIns="0" rIns="0" bIns="0" rtlCol="0" anchor="t"/>
          <a:lstStyle/>
          <a:p>
            <a:pPr indent="0" marL="0">
              <a:buNone/>
            </a:pPr>
            <a:r>
              <a:rPr lang="en-US" sz="1400" b="1" dirty="0">
                <a:solidFill>
                  <a:srgbClr val="1F3A6E"/>
                </a:solidFill>
              </a:rPr>
              <a:t>References and dataset attribution</a:t>
            </a:r>
            <a:endParaRPr lang="en-US" sz="1400" dirty="0"/>
          </a:p>
        </p:txBody>
      </p:sp>
      <p:sp>
        <p:nvSpPr>
          <p:cNvPr id="9" name="Text 6"/>
          <p:cNvSpPr txBox="1"/>
          <p:nvPr/>
        </p:nvSpPr>
        <p:spPr>
          <a:xfrm>
            <a:off x="658368" y="4617720"/>
            <a:ext cx="6217920" cy="1645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A41"/>
                </a:solidFill>
              </a:rPr>
              <a:t>Wachsmuth, H. et al. (2014). A Review Corpus for Argumentation Analysis. CICLing. ArguAna TripAdvisor annotated v2, zenodo.org/records/3973241 (scientific use only).</a:t>
            </a:r>
            <a:endParaRPr lang="en-US" sz="1250" dirty="0"/>
          </a:p>
          <a:p>
            <a:pPr marL="342900" indent="-342900">
              <a:spcAft>
                <a:spcPts val="500"/>
              </a:spcAft>
              <a:buSzPct val="100000"/>
              <a:buChar char="•"/>
            </a:pPr>
            <a:r>
              <a:rPr lang="en-US" sz="1250" dirty="0">
                <a:solidFill>
                  <a:srgbClr val="1B2A41"/>
                </a:solidFill>
              </a:rPr>
              <a:t>Yu, Y. (2016). Aspect-based Sentiment Analysis on Hotel Reviews. Stanford CS229.</a:t>
            </a:r>
            <a:endParaRPr lang="en-US" sz="1250" dirty="0"/>
          </a:p>
          <a:p>
            <a:pPr marL="342900" indent="-342900">
              <a:spcAft>
                <a:spcPts val="500"/>
              </a:spcAft>
              <a:buSzPct val="100000"/>
              <a:buChar char="•"/>
            </a:pPr>
            <a:r>
              <a:rPr lang="en-US" sz="1250" dirty="0">
                <a:solidFill>
                  <a:srgbClr val="1B2A41"/>
                </a:solidFill>
              </a:rPr>
              <a:t>scikit-learn: Probability calibration, scikit-learn.org/stable/modules/calibration.html</a:t>
            </a:r>
            <a:endParaRPr lang="en-US" sz="1250" dirty="0"/>
          </a:p>
        </p:txBody>
      </p:sp>
      <p:pic>
        <p:nvPicPr>
          <p:cNvPr id="10" name="Image 0" descr="Illustration of a hotel reception desk with a welcoming staff member">    </p:cNvPr>
          <p:cNvPicPr>
            <a:picLocks noChangeAspect="1"/>
          </p:cNvPicPr>
          <p:nvPr/>
        </p:nvPicPr>
        <p:blipFill>
          <a:blip r:embed="rId1"/>
          <a:stretch>
            <a:fillRect/>
          </a:stretch>
        </p:blipFill>
        <p:spPr>
          <a:xfrm>
            <a:off x="7269480" y="1325880"/>
            <a:ext cx="4462272" cy="3123590"/>
          </a:xfrm>
          <a:prstGeom prst="rect">
            <a:avLst/>
          </a:prstGeom>
        </p:spPr>
      </p:pic>
      <p:sp>
        <p:nvSpPr>
          <p:cNvPr id="11" name="Card"/>
          <p:cNvSpPr/>
          <p:nvPr/>
        </p:nvSpPr>
        <p:spPr>
          <a:xfrm>
            <a:off x="7269480" y="4572000"/>
            <a:ext cx="4462272" cy="1737360"/>
          </a:xfrm>
          <a:prstGeom prst="roundRect">
            <a:avLst>
              <a:gd name="adj" fmla="val 6316"/>
            </a:avLst>
          </a:prstGeom>
          <a:solidFill>
            <a:srgbClr val="E6ECF6"/>
          </a:solidFill>
          <a:ln w="12700">
            <a:solidFill>
              <a:srgbClr val="FFFFFF">
                <a:alpha val="0"/>
              </a:srgbClr>
            </a:solidFill>
            <a:prstDash val="solid"/>
          </a:ln>
        </p:spPr>
      </p:sp>
      <p:sp>
        <p:nvSpPr>
          <p:cNvPr id="12" name="Text 8"/>
          <p:cNvSpPr txBox="1"/>
          <p:nvPr/>
        </p:nvSpPr>
        <p:spPr>
          <a:xfrm>
            <a:off x="7498080" y="4636008"/>
            <a:ext cx="4023360" cy="914400"/>
          </a:xfrm>
          <a:prstGeom prst="rect">
            <a:avLst/>
          </a:prstGeom>
          <a:noFill/>
          <a:ln/>
        </p:spPr>
        <p:txBody>
          <a:bodyPr wrap="square" lIns="0" tIns="0" rIns="0" bIns="0" rtlCol="0" anchor="t"/>
          <a:lstStyle/>
          <a:p>
            <a:pPr algn="l" indent="0" marL="0">
              <a:buNone/>
            </a:pPr>
            <a:r>
              <a:rPr lang="en-US" sz="3400" b="1" dirty="0">
                <a:solidFill>
                  <a:srgbClr val="1F3A6E"/>
                </a:solidFill>
                <a:latin typeface="Cambria" pitchFamily="34" charset="0"/>
                <a:ea typeface="Cambria" pitchFamily="34" charset="-122"/>
                <a:cs typeface="Cambria" pitchFamily="34" charset="-120"/>
              </a:rPr>
              <a:t>Thank You</a:t>
            </a:r>
            <a:endParaRPr lang="en-US" sz="1400" dirty="0"/>
          </a:p>
          <a:p>
            <a:pPr algn="l" indent="0" marL="0">
              <a:buNone/>
            </a:pPr>
            <a:r>
              <a:rPr lang="en-US" sz="2400" b="1" dirty="0">
                <a:solidFill>
                  <a:srgbClr val="C4402D"/>
                </a:solidFill>
                <a:latin typeface="Cambria" pitchFamily="34" charset="0"/>
                <a:ea typeface="Cambria" pitchFamily="34" charset="-122"/>
                <a:cs typeface="Cambria" pitchFamily="34" charset="-120"/>
              </a:rPr>
              <a:t>Questions?</a:t>
            </a:r>
            <a:endParaRPr lang="en-US" sz="1400" dirty="0"/>
          </a:p>
        </p:txBody>
      </p:sp>
      <p:sp>
        <p:nvSpPr>
          <p:cNvPr id="13" name="Text 9"/>
          <p:cNvSpPr txBox="1"/>
          <p:nvPr/>
        </p:nvSpPr>
        <p:spPr>
          <a:xfrm>
            <a:off x="7498080" y="5596128"/>
            <a:ext cx="4114800" cy="548640"/>
          </a:xfrm>
          <a:prstGeom prst="rect">
            <a:avLst/>
          </a:prstGeom>
          <a:noFill/>
          <a:ln/>
        </p:spPr>
        <p:txBody>
          <a:bodyPr wrap="square" lIns="0" tIns="0" rIns="0" bIns="0" rtlCol="0" anchor="t"/>
          <a:lstStyle/>
          <a:p>
            <a:pPr indent="0" marL="0">
              <a:buNone/>
            </a:pPr>
            <a:r>
              <a:rPr lang="en-US" sz="1200" dirty="0">
                <a:solidFill>
                  <a:srgbClr val="1B2A41"/>
                </a:solidFill>
              </a:rPr>
              <a:t>Chinmayee C M — SRN: PES2UG24CS133</a:t>
            </a:r>
            <a:endParaRPr lang="en-US" sz="1200" dirty="0"/>
          </a:p>
          <a:p>
            <a:pPr indent="0" marL="0">
              <a:buNone/>
            </a:pPr>
            <a:r>
              <a:rPr lang="en-US" sz="1200" dirty="0">
                <a:solidFill>
                  <a:srgbClr val="1B2A41"/>
                </a:solidFill>
              </a:rPr>
              <a:t>Harshit Chandak — SRN: PES2UG24CS185</a:t>
            </a:r>
            <a:endParaRPr lang="en-US" sz="1200" dirty="0"/>
          </a:p>
        </p:txBody>
      </p:sp>
      <p:sp>
        <p:nvSpPr>
          <p:cNvPr id="25" name="Slide Number Placeholder 0"/>
          <p:cNvSpPr>
            <a:spLocks noGrp="1"/>
          </p:cNvSpPr>
          <p:nvPr>
            <p:ph type="sldNum" sz="quarter" idx="4294967295"/>
          </p:nvPr>
        </p:nvSpPr>
        <p:spPr>
          <a:xfrm>
            <a:off x="11247120" y="647395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84"/>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BSA Light">
  <a:themeElements>
    <a:clrScheme name="ABSA Light">
      <a:dk1>
        <a:srgbClr val="1B2A41"/>
      </a:dk1>
      <a:lt1>
        <a:srgbClr val="FFFFFF"/>
      </a:lt1>
      <a:dk2>
        <a:srgbClr val="1F3A6E"/>
      </a:dk2>
      <a:lt2>
        <a:srgbClr val="F3F7FB"/>
      </a:lt2>
      <a:accent1>
        <a:srgbClr val="1F3A6E"/>
      </a:accent1>
      <a:accent2>
        <a:srgbClr val="0E9AA7"/>
      </a:accent2>
      <a:accent3>
        <a:srgbClr val="2EC4B6"/>
      </a:accent3>
      <a:accent4>
        <a:srgbClr val="E8604C"/>
      </a:accent4>
      <a:accent5>
        <a:srgbClr val="F2A93B"/>
      </a:accent5>
      <a:accent6>
        <a:srgbClr val="5B6B84"/>
      </a:accent6>
      <a:hlink>
        <a:srgbClr val="0E9AA7"/>
      </a:hlink>
      <a:folHlink>
        <a:srgbClr val="5B6B84"/>
      </a:folHlink>
    </a:clrScheme>
    <a:fontScheme name="ABSA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Aspect-Based Sentiment Analysis on Hotel Reviews</dc:title>
  <dc:subject>ML Mini Project</dc:subject>
  <dc:creator>Chinmayee C M; Harshit Chandak</dc:creator>
  <cp:lastModifiedBy>Chinmayee C M; Harshit Chandak</cp:lastModifiedBy>
  <cp:revision>1</cp:revision>
  <dcterms:created xsi:type="dcterms:W3CDTF">2026-10-11T07:13:49Z</dcterms:created>
  <dcterms:modified xsi:type="dcterms:W3CDTF">2026-10-11T07:13:49Z</dcterms:modified>
</cp:coreProperties>
</file>