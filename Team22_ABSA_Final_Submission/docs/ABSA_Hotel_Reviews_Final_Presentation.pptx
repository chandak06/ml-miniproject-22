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2b904c973aa4785" /><Relationship Type="http://schemas.openxmlformats.org/officeDocument/2006/relationships/extended-properties" Target="/docProps/app.xml" Id="R7cc015ccb5e44c0b" /><Relationship Type="http://schemas.openxmlformats.org/officeDocument/2006/relationships/officeDocument" Target="/ppt/presentation.xml" Id="Rc28b66d957a347d9" /></Relationships>
</file>

<file path=ppt/presentation.xml><?xml version="1.0" encoding="utf-8"?>
<p:presentation xmlns:p="http://schemas.openxmlformats.org/presentationml/2006/main">
  <p:sldMasterIdLst>
    <p:sldMasterId xmlns:r="http://schemas.openxmlformats.org/officeDocument/2006/relationships" id="2147483648" r:id="Re0d88b443fef4cb9"/>
  </p:sldMasterIdLst>
  <p:notesMasterIdLst>
    <p:notesMasterId xmlns:r="http://schemas.openxmlformats.org/officeDocument/2006/relationships" r:id="R4730ee18fb5f421c"/>
  </p:notesMasterIdLst>
  <p:sldIdLst>
    <p:sldId xmlns:r="http://schemas.openxmlformats.org/officeDocument/2006/relationships" id="256" r:id="Rd275d7257b6542d8"/>
    <p:sldId xmlns:r="http://schemas.openxmlformats.org/officeDocument/2006/relationships" id="257" r:id="Ra151070ebccd44c4"/>
    <p:sldId xmlns:r="http://schemas.openxmlformats.org/officeDocument/2006/relationships" id="258" r:id="R7f86d4d1146e42a5"/>
    <p:sldId xmlns:r="http://schemas.openxmlformats.org/officeDocument/2006/relationships" id="259" r:id="Rdb82c27efdd24d92"/>
    <p:sldId xmlns:r="http://schemas.openxmlformats.org/officeDocument/2006/relationships" id="260" r:id="Rba17946e9ed64e91"/>
    <p:sldId xmlns:r="http://schemas.openxmlformats.org/officeDocument/2006/relationships" id="261" r:id="R09fd348a49974a2f"/>
    <p:sldId xmlns:r="http://schemas.openxmlformats.org/officeDocument/2006/relationships" id="262" r:id="R9a00a7d307574b20"/>
    <p:sldId xmlns:r="http://schemas.openxmlformats.org/officeDocument/2006/relationships" id="263" r:id="R6bb4f6f7fde14fb8"/>
    <p:sldId xmlns:r="http://schemas.openxmlformats.org/officeDocument/2006/relationships" id="264" r:id="Rcd47122f328d4336"/>
    <p:sldId xmlns:r="http://schemas.openxmlformats.org/officeDocument/2006/relationships" id="265" r:id="R1dcab300039d4c69"/>
    <p:sldId xmlns:r="http://schemas.openxmlformats.org/officeDocument/2006/relationships" id="266" r:id="Rc9433b7123b14f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0c10d74eea4752" /><Relationship Type="http://schemas.openxmlformats.org/officeDocument/2006/relationships/slideMaster" Target="/ppt/slideMasters/slideMaster1.xml" Id="Re0d88b443fef4cb9" /><Relationship Type="http://schemas.openxmlformats.org/officeDocument/2006/relationships/notesMaster" Target="/ppt/notesMasters/notesMaster1.xml" Id="R4730ee18fb5f421c" /><Relationship Type="http://schemas.openxmlformats.org/officeDocument/2006/relationships/presProps" Target="/ppt/presProps.xml" Id="Rca95f58bb2394920" /><Relationship Type="http://schemas.openxmlformats.org/officeDocument/2006/relationships/tableStyles" Target="/ppt/tableStyles.xml" Id="Rd66ea8d5811b47c4" /><Relationship Type="http://schemas.openxmlformats.org/officeDocument/2006/relationships/slide" Target="/ppt/slides/slide1.xml" Id="Rd275d7257b6542d8" /><Relationship Type="http://schemas.openxmlformats.org/officeDocument/2006/relationships/slide" Target="/ppt/slides/slide2.xml" Id="Ra151070ebccd44c4" /><Relationship Type="http://schemas.openxmlformats.org/officeDocument/2006/relationships/slide" Target="/ppt/slides/slide3.xml" Id="R7f86d4d1146e42a5" /><Relationship Type="http://schemas.openxmlformats.org/officeDocument/2006/relationships/slide" Target="/ppt/slides/slide4.xml" Id="Rdb82c27efdd24d92" /><Relationship Type="http://schemas.openxmlformats.org/officeDocument/2006/relationships/slide" Target="/ppt/slides/slide5.xml" Id="Rba17946e9ed64e91" /><Relationship Type="http://schemas.openxmlformats.org/officeDocument/2006/relationships/slide" Target="/ppt/slides/slide6.xml" Id="R09fd348a49974a2f" /><Relationship Type="http://schemas.openxmlformats.org/officeDocument/2006/relationships/slide" Target="/ppt/slides/slide7.xml" Id="R9a00a7d307574b20" /><Relationship Type="http://schemas.openxmlformats.org/officeDocument/2006/relationships/slide" Target="/ppt/slides/slide8.xml" Id="R6bb4f6f7fde14fb8" /><Relationship Type="http://schemas.openxmlformats.org/officeDocument/2006/relationships/slide" Target="/ppt/slides/slide9.xml" Id="Rcd47122f328d4336" /><Relationship Type="http://schemas.openxmlformats.org/officeDocument/2006/relationships/slide" Target="/ppt/slides/slide10.xml" Id="R1dcab300039d4c69" /><Relationship Type="http://schemas.openxmlformats.org/officeDocument/2006/relationships/slide" Target="/ppt/slides/slide11.xml" Id="Rc9433b7123b14f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3bebb8cfd84f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5c6b27b8d045af" /><Relationship Type="http://schemas.openxmlformats.org/officeDocument/2006/relationships/notesMaster" Target="/ppt/notesMasters/notesMaster1.xml" Id="R12513f8839e34c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1ef1bc67534f9c" /><Relationship Type="http://schemas.openxmlformats.org/officeDocument/2006/relationships/notesMaster" Target="/ppt/notesMasters/notesMaster1.xml" Id="R58047277f75049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5c085c806648eb" /><Relationship Type="http://schemas.openxmlformats.org/officeDocument/2006/relationships/notesMaster" Target="/ppt/notesMasters/notesMaster1.xml" Id="R28596a8403d44b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7175e385c24b89" /><Relationship Type="http://schemas.openxmlformats.org/officeDocument/2006/relationships/notesMaster" Target="/ppt/notesMasters/notesMaster1.xml" Id="R5253872bd06e44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76666d2b92428c" /><Relationship Type="http://schemas.openxmlformats.org/officeDocument/2006/relationships/notesMaster" Target="/ppt/notesMasters/notesMaster1.xml" Id="Rc4b947a35b534b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5926a89cc142ea" /><Relationship Type="http://schemas.openxmlformats.org/officeDocument/2006/relationships/notesMaster" Target="/ppt/notesMasters/notesMaster1.xml" Id="Rf3769281d4a04d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95cee3c3274142" /><Relationship Type="http://schemas.openxmlformats.org/officeDocument/2006/relationships/notesMaster" Target="/ppt/notesMasters/notesMaster1.xml" Id="R51d38d02a69b42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144537a32346a6" /><Relationship Type="http://schemas.openxmlformats.org/officeDocument/2006/relationships/notesMaster" Target="/ppt/notesMasters/notesMaster1.xml" Id="R8aa079833f1a4c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ac4ee3ee784a01" /><Relationship Type="http://schemas.openxmlformats.org/officeDocument/2006/relationships/notesMaster" Target="/ppt/notesMasters/notesMaster1.xml" Id="Rd7235f3311734f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e3285c5b8d4721" /><Relationship Type="http://schemas.openxmlformats.org/officeDocument/2006/relationships/notesMaster" Target="/ppt/notesMasters/notesMaster1.xml" Id="Re9bebfbd990544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1a53b9a25447c3" /><Relationship Type="http://schemas.openxmlformats.org/officeDocument/2006/relationships/notesMaster" Target="/ppt/notesMasters/notesMaster1.xml" Id="Rb4234de68c084f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22, assigned Project 1. The work is inspired by Yangyang Yu, Stanford CS229 (2016): https://cs229.stanford.edu/proj2016spr/report/032.pdf. Results in this deck come from our saved evaluation artifacts, not the reference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sentence is a constructed illustration, not a measured prediction. The project uses review-level aspect ratings rather than learned aspect-span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https://zenodo.org/records/3973241. Wachsmuth et al. (2014), A Review Corpus for Argumentation Analysis. Scientific use only, not commercial. 2100 rows and 122 hotels confirmed from the converted corpus. The supplied synthetic sample has no generator or external provenance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src/train.py and src/utils.py. Fixed candidate settings: Naive Bayes alpha=0.5, LinearSVC C=0.1, LogisticRegression C=4.0. Class weights balanced for SVM/LR; seed=42. Max vocabulary=12000. This is a pipeline comparison, not a classifier-only ablation.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outputs/real/split_manifest.csv and run_metadata.json. GroupShuffleSplit uses 20% of hotels for test, then 25% of remaining hotels for validation; counts vary by reviews per hotel. Shared review splits are used for all targets, with missing labels excluded target by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outputs/real/metrics.csv. Each model was chosen on validation scores. Baseline is the most frequent development-set polarity. Missing labels lead to different test n by target. Location is below the accuracy baseline; this is not hidden or retuned using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outputs/real/metrics.csv. Macro-F1 is calculated over all three polarity classes with equal weight. Exact star accuracy requires an exact 1-5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outputs/real/error_examples.csv, classification reports and overall_transfer_polarity_accuracy column. Aspect models improve over overall-label transfer for rooms, location, cleanliness only. Wilson intervals in CSV are descriptive and do not account for hotel clustering.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outputs/verification/test_summary.json and test_results.txt. Tests include unit/integration checks, independent metric and baseline recomputation, saved-model predictions and Streamlit AppTest interactions. Passing tests is not a claim of perfect machine-learning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python -m streamlit run streamlit_app.py from the project directory. Open http://localhost:8501. Source: outputs/demo_predictions.json, case 1. Actual real-model predictions: overall 4 positive, service 4 positive, rooms 3 neutral, cleanliness 4 positive. Service is wrong for rude staff and rooms misses the positive description. Location, value and business service are not mentioned; sleep quality is unavailable. These examples are not a scored benchmark. Follow DEMO_GUIDE.md for all five examples, invalid-input checks and synthetic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(1) Wachsmuth et al., A Review Corpus for Argumentation Analysis, CICLing 2014; corpus https://zenodo.org/records/3973241. (2) Yangyang Yu, Aspect-based Sentiment Analysis on Hotel Reviews, Stanford CS229 2016, https://cs229.stanford.edu/proj2016spr/report/032.pdf. Source code, metrics and tests are included in the submitted project. Private GitHub sharing and truthful individual contributions must be completed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208522825d49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b6e0d4fb4e44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deba71c57942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63d8728dd446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677e38d81847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451ce4ce0f43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B964C0-EA65-4101-B938-887A4DFFE2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B6973C-3FDA-420C-94E9-B1F10798094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22F0CD-8ECE-48AA-8F02-BEF1134A02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F7E7FE-1910-448D-8B06-6CA0BEFE77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2FFBDB-8700-44E4-A7E1-C3F8D65EE8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124536-C2BA-49D9-A6BD-6E82125EFB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DBB776-C8DD-4203-BB52-415C4BB76A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60A15FC-F5C3-44EE-AC81-47B99A5618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D9304B-6523-4E91-AF38-5C4013B46A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C46543-F7B4-454F-ADA6-130D2077C2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fd57f32df54dd6" /><Relationship Type="http://schemas.openxmlformats.org/officeDocument/2006/relationships/slideLayout" Target="/ppt/slideLayouts/slideLayout1.xml" Id="R949ac7bde7154f8e" /><Relationship Type="http://schemas.openxmlformats.org/officeDocument/2006/relationships/slideLayout" Target="/ppt/slideLayouts/slideLayout2.xml" Id="R0c72d95a2c484c55" /><Relationship Type="http://schemas.openxmlformats.org/officeDocument/2006/relationships/slideLayout" Target="/ppt/slideLayouts/slideLayout3.xml" Id="Rf01ecc092b84401f" /><Relationship Type="http://schemas.openxmlformats.org/officeDocument/2006/relationships/slideLayout" Target="/ppt/slideLayouts/slideLayout4.xml" Id="R9467bf1ee9524f1b" /><Relationship Type="http://schemas.openxmlformats.org/officeDocument/2006/relationships/slideLayout" Target="/ppt/slideLayouts/slideLayout5.xml" Id="R567c38c79dc94a2f" /><Relationship Type="http://schemas.openxmlformats.org/officeDocument/2006/relationships/slideLayout" Target="/ppt/slideLayouts/slideLayout6.xml" Id="R8a0e94023aa840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9ac7bde7154f8e"/>
    <p:sldLayoutId xmlns:r="http://schemas.openxmlformats.org/officeDocument/2006/relationships" id="2147483650" r:id="R0c72d95a2c484c55"/>
    <p:sldLayoutId xmlns:r="http://schemas.openxmlformats.org/officeDocument/2006/relationships" id="2147483651" r:id="Rf01ecc092b84401f"/>
    <p:sldLayoutId xmlns:r="http://schemas.openxmlformats.org/officeDocument/2006/relationships" id="2147483652" r:id="R9467bf1ee9524f1b"/>
    <p:sldLayoutId xmlns:r="http://schemas.openxmlformats.org/officeDocument/2006/relationships" id="2147483653" r:id="R567c38c79dc94a2f"/>
    <p:sldLayoutId xmlns:r="http://schemas.openxmlformats.org/officeDocument/2006/relationships" id="2147483654" r:id="R8a0e94023aa840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7969226f8b4f34" /><Relationship Type="http://schemas.openxmlformats.org/officeDocument/2006/relationships/notesSlide" Target="/ppt/notesSlides/notesSlide1.xml" Id="Redcfaa70f63d4c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113f97ab894431" /><Relationship Type="http://schemas.openxmlformats.org/officeDocument/2006/relationships/notesSlide" Target="/ppt/notesSlides/notesSlide2.xml" Id="R79c8252a3e2345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d94ffb47c44d57" /><Relationship Type="http://schemas.openxmlformats.org/officeDocument/2006/relationships/notesSlide" Target="/ppt/notesSlides/notesSlide3.xml" Id="R3b1322559c074d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2044ca20a754c18" /><Relationship Type="http://schemas.openxmlformats.org/officeDocument/2006/relationships/notesSlide" Target="/ppt/notesSlides/notesSlide4.xml" Id="Rff8bcbc14b3042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c500082c2944c7" /><Relationship Type="http://schemas.openxmlformats.org/officeDocument/2006/relationships/notesSlide" Target="/ppt/notesSlides/notesSlide5.xml" Id="Ra33c89fb59d442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45e292fbe14f99" /><Relationship Type="http://schemas.openxmlformats.org/officeDocument/2006/relationships/chart" Target="/ppt/slides/charts/chart1.xml" Id="Rb63978647be6452a" /><Relationship Type="http://schemas.openxmlformats.org/officeDocument/2006/relationships/notesSlide" Target="/ppt/notesSlides/notesSlide6.xml" Id="Rd0923db45dc34f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d8592f5e1c94d69" /><Relationship Type="http://schemas.openxmlformats.org/officeDocument/2006/relationships/notesSlide" Target="/ppt/notesSlides/notesSlide7.xml" Id="Rf41bf73486dc48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e2e082aa20a41e7" /><Relationship Type="http://schemas.openxmlformats.org/officeDocument/2006/relationships/notesSlide" Target="/ppt/notesSlides/notesSlide8.xml" Id="R5ba6443d8e1e4f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16c8ba952a6462d" /><Relationship Type="http://schemas.openxmlformats.org/officeDocument/2006/relationships/notesSlide" Target="/ppt/notesSlides/notesSlide9.xml" Id="Rfd20d6b65f0849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517d819cc25469d" /><Relationship Type="http://schemas.openxmlformats.org/officeDocument/2006/relationships/notesSlide" Target="/ppt/notesSlides/notesSlide10.xml" Id="Ra029c748802e43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62c8c6817fd4400" /><Relationship Type="http://schemas.openxmlformats.org/officeDocument/2006/relationships/notesSlide" Target="/ppt/notesSlides/notesSlide11.xml" Id="R2d912990afd5410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Selected model</c:v>
          </c:tx>
          <c:spPr>
            <a:solidFill xmlns:a="http://schemas.openxmlformats.org/drawingml/2006/main">
              <a:srgbClr val="176B87"/>
            </a:solidFill>
          </c:spPr>
          <c:cat>
            <c:strRef>
              <c:f>'Chart Data'!$A$2:$A$8</c:f>
              <c:strCache>
                <c:ptCount val="7"/>
                <c:pt idx="0">
                  <c:v>Overall</c:v>
                </c:pt>
                <c:pt idx="1">
                  <c:v>Service</c:v>
                </c:pt>
                <c:pt idx="2">
                  <c:v>Rooms</c:v>
                </c:pt>
                <c:pt idx="3">
                  <c:v>Location</c:v>
                </c:pt>
                <c:pt idx="4">
                  <c:v>Value</c:v>
                </c:pt>
                <c:pt idx="5">
                  <c:v>Cleanliness</c:v>
                </c:pt>
                <c:pt idx="6">
                  <c:v>Business</c:v>
                </c:pt>
              </c:strCache>
            </c:strRef>
          </c:cat>
          <c:val>
            <c:numRef>
              <c:f>'Chart Data'!$B$2:$B$8</c:f>
              <c:numCache>
                <c:formatCode>0%</c:formatCode>
                <c:ptCount val="7"/>
                <c:pt idx="0">
                  <c:v>0.745946</c:v>
                </c:pt>
                <c:pt idx="1">
                  <c:v>0.682657</c:v>
                </c:pt>
                <c:pt idx="2">
                  <c:v>0.608696</c:v>
                </c:pt>
                <c:pt idx="3">
                  <c:v>0.744395</c:v>
                </c:pt>
                <c:pt idx="4">
                  <c:v>0.623656</c:v>
                </c:pt>
                <c:pt idx="5">
                  <c:v>0.647482</c:v>
                </c:pt>
                <c:pt idx="6">
                  <c:v>0.553846</c:v>
                </c:pt>
              </c:numCache>
            </c:numRef>
          </c:val>
        </c:ser>
        <c:ser>
          <c:idx val="1"/>
          <c:order val="1"/>
          <c:tx>
            <c:v>Majority polarity</c:v>
          </c:tx>
          <c:spPr>
            <a:solidFill xmlns:a="http://schemas.openxmlformats.org/drawingml/2006/main">
              <a:srgbClr val="A7B7C0"/>
            </a:solidFill>
          </c:spPr>
          <c:cat>
            <c:strRef>
              <c:f>'Chart Data'!$C$2:$C$8</c:f>
              <c:strCache>
                <c:ptCount val="7"/>
                <c:pt idx="0">
                  <c:v>Overall</c:v>
                </c:pt>
                <c:pt idx="1">
                  <c:v>Service</c:v>
                </c:pt>
                <c:pt idx="2">
                  <c:v>Rooms</c:v>
                </c:pt>
                <c:pt idx="3">
                  <c:v>Location</c:v>
                </c:pt>
                <c:pt idx="4">
                  <c:v>Value</c:v>
                </c:pt>
                <c:pt idx="5">
                  <c:v>Cleanliness</c:v>
                </c:pt>
                <c:pt idx="6">
                  <c:v>Business</c:v>
                </c:pt>
              </c:strCache>
            </c:strRef>
          </c:cat>
          <c:val>
            <c:numRef>
              <c:f>'Chart Data'!$D$2:$D$8</c:f>
              <c:numCache>
                <c:formatCode>0%</c:formatCode>
                <c:ptCount val="7"/>
                <c:pt idx="0">
                  <c:v>0.324324</c:v>
                </c:pt>
                <c:pt idx="1">
                  <c:v>0.450185</c:v>
                </c:pt>
                <c:pt idx="2">
                  <c:v>0.478261</c:v>
                </c:pt>
                <c:pt idx="3">
                  <c:v>0.789238</c:v>
                </c:pt>
                <c:pt idx="4">
                  <c:v>0.37276</c:v>
                </c:pt>
                <c:pt idx="5">
                  <c:v>0.615108</c:v>
                </c:pt>
                <c:pt idx="6">
                  <c:v>0.392308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E68CB0-9411-48E7-A245-0EE89B482FBF}"/>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Aspect based Sentiment Analysis</a:t>
            </a:r>
          </a:p>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on Hotel Reviews</a:t>
            </a:r>
          </a:p>
        </p:txBody>
      </p:sp>
      <p:sp>
        <p:nvSpPr>
          <p:cNvPr id="2" name="">
            <a:extLst xmlns:a="http://schemas.openxmlformats.org/drawingml/2006/main">
              <a:ext uri="{FF2B5EF4-FFF2-40B4-BE49-F238E27FC236}">
                <a16:creationId xmlns:a16="http://schemas.microsoft.com/office/drawing/2014/main" id="{CDE4C8FD-CE51-46AB-AB3C-FC4FFFADD6C0}"/>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1</a:t>
            </a:r>
          </a:p>
        </p:txBody>
      </p:sp>
      <p:sp>
        <p:nvSpPr>
          <p:cNvPr id="3" name="">
            <a:extLst xmlns:a="http://schemas.openxmlformats.org/drawingml/2006/main">
              <a:ext uri="{FF2B5EF4-FFF2-40B4-BE49-F238E27FC236}">
                <a16:creationId xmlns:a16="http://schemas.microsoft.com/office/drawing/2014/main" id="{3728D5F1-0314-455B-A4E8-2D42F2C313A2}"/>
              </a:ext>
            </a:extLst>
          </p:cNvPr>
          <p:cNvSpPr>
            <a:spLocks xmlns:a="http://schemas.openxmlformats.org/drawingml/2006/main" noGrp="1"/>
          </p:cNvSpPr>
          <p:nvPr/>
        </p:nvSpPr>
        <p:spPr>
          <a:xfrm xmlns:a="http://schemas.openxmlformats.org/drawingml/2006/main">
            <a:off x="609600" y="24288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6B87"/>
                </a:solidFill>
                <a:latin typeface="Arial"/>
                <a:ea typeface="Arial"/>
                <a:cs typeface="Arial"/>
              </a:defRPr>
            </a:defPPr>
          </a:lstStyle>
          <a:p xmlns:a="http://schemas.openxmlformats.org/drawingml/2006/main">
            <a:pPr>
              <a:defRPr sz="2550" b="0">
                <a:solidFill>
                  <a:srgbClr val="176B87"/>
                </a:solidFill>
                <a:latin typeface="Arial"/>
                <a:ea typeface="Arial"/>
                <a:cs typeface="Arial"/>
              </a:defRPr>
            </a:pPr>
            <a:r>
              <a:rPr sz="2550" b="0">
                <a:solidFill>
                  <a:srgbClr val="176B87"/>
                </a:solidFill>
                <a:latin typeface="Arial"/>
                <a:ea typeface="Arial"/>
                <a:cs typeface="Arial"/>
              </a:rPr>
              <a:t>A supervised rating and polarity predictor</a:t>
            </a:r>
          </a:p>
        </p:txBody>
      </p:sp>
      <p:sp>
        <p:nvSpPr>
          <p:cNvPr id="4" name="">
            <a:extLst xmlns:a="http://schemas.openxmlformats.org/drawingml/2006/main">
              <a:ext uri="{FF2B5EF4-FFF2-40B4-BE49-F238E27FC236}">
                <a16:creationId xmlns:a16="http://schemas.microsoft.com/office/drawing/2014/main" id="{5599DB9D-9D8A-4629-A05F-DDD435360DD7}"/>
              </a:ext>
            </a:extLst>
          </p:cNvPr>
          <p:cNvSpPr>
            <a:spLocks xmlns:a="http://schemas.openxmlformats.org/drawingml/2006/main" noGrp="1"/>
          </p:cNvSpPr>
          <p:nvPr/>
        </p:nvSpPr>
        <p:spPr>
          <a:xfrm xmlns:a="http://schemas.openxmlformats.org/drawingml/2006/main">
            <a:off x="609600" y="3762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Harshit Chandak  ·  PES2UG24CS185</a:t>
            </a:r>
          </a:p>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Chinmayee C M  ·  PES2UG24CS133</a:t>
            </a:r>
          </a:p>
        </p:txBody>
      </p:sp>
      <p:sp>
        <p:nvSpPr>
          <p:cNvPr id="5" name="">
            <a:extLst xmlns:a="http://schemas.openxmlformats.org/drawingml/2006/main">
              <a:ext uri="{FF2B5EF4-FFF2-40B4-BE49-F238E27FC236}">
                <a16:creationId xmlns:a16="http://schemas.microsoft.com/office/drawing/2014/main" id="{E26C6392-A7F2-40D6-92CB-B7EC2EFD8F2A}"/>
              </a:ext>
            </a:extLst>
          </p:cNvPr>
          <p:cNvSpPr>
            <a:spLocks xmlns:a="http://schemas.openxmlformats.org/drawingml/2006/main" noGrp="1"/>
          </p:cNvSpPr>
          <p:nvPr/>
        </p:nvSpPr>
        <p:spPr>
          <a:xfrm xmlns:a="http://schemas.openxmlformats.org/drawingml/2006/main">
            <a:off x="609600" y="5410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3646C"/>
                </a:solidFill>
                <a:latin typeface="Arial"/>
                <a:ea typeface="Arial"/>
                <a:cs typeface="Arial"/>
              </a:defRPr>
            </a:defPPr>
          </a:lstStyle>
          <a:p xmlns:a="http://schemas.openxmlformats.org/drawingml/2006/main">
            <a:pPr>
              <a:defRPr sz="1875" b="0">
                <a:solidFill>
                  <a:srgbClr val="53646C"/>
                </a:solidFill>
                <a:latin typeface="Arial"/>
                <a:ea typeface="Arial"/>
                <a:cs typeface="Arial"/>
              </a:defRPr>
            </a:pPr>
            <a:r>
              <a:rPr sz="1875" b="0">
                <a:solidFill>
                  <a:srgbClr val="53646C"/>
                </a:solidFill>
                <a:latin typeface="Arial"/>
                <a:ea typeface="Arial"/>
                <a:cs typeface="Arial"/>
              </a:rPr>
              <a:t>Machine Learning mini-project  |  October 2026</a:t>
            </a:r>
          </a:p>
        </p:txBody>
      </p:sp>
    </p:spTree>
    <p:extLst>
      <p:ext uri="{BB962C8B-B14F-4D97-AF65-F5344CB8AC3E}">
        <p14:creationId xmlns:p14="http://schemas.microsoft.com/office/powerpoint/2010/main" val="10837996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58AE28-EBB5-44E7-B56F-D11250794DC7}"/>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Problem and outputs</a:t>
            </a:r>
          </a:p>
        </p:txBody>
      </p:sp>
      <p:sp>
        <p:nvSpPr>
          <p:cNvPr id="2" name="">
            <a:extLst xmlns:a="http://schemas.openxmlformats.org/drawingml/2006/main">
              <a:ext uri="{FF2B5EF4-FFF2-40B4-BE49-F238E27FC236}">
                <a16:creationId xmlns:a16="http://schemas.microsoft.com/office/drawing/2014/main" id="{1930E281-1FC2-4E77-BEFE-BC64A412FD16}"/>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2</a:t>
            </a:r>
          </a:p>
        </p:txBody>
      </p:sp>
      <p:sp>
        <p:nvSpPr>
          <p:cNvPr id="3" name="">
            <a:extLst xmlns:a="http://schemas.openxmlformats.org/drawingml/2006/main">
              <a:ext uri="{FF2B5EF4-FFF2-40B4-BE49-F238E27FC236}">
                <a16:creationId xmlns:a16="http://schemas.microsoft.com/office/drawing/2014/main" id="{2FDAEF36-585B-4F61-AAD4-951F8A437B1D}"/>
              </a:ext>
            </a:extLst>
          </p:cNvPr>
          <p:cNvSpPr>
            <a:spLocks xmlns:a="http://schemas.openxmlformats.org/drawingml/2006/main" noGrp="1"/>
          </p:cNvSpPr>
          <p:nvPr/>
        </p:nvSpPr>
        <p:spPr>
          <a:xfrm xmlns:a="http://schemas.openxmlformats.org/drawingml/2006/main">
            <a:off x="723900" y="15049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3746"/>
                </a:solidFill>
                <a:latin typeface="Arial"/>
                <a:ea typeface="Arial"/>
                <a:cs typeface="Arial"/>
              </a:defRPr>
            </a:defPPr>
          </a:lstStyle>
          <a:p xmlns:a="http://schemas.openxmlformats.org/drawingml/2006/main">
            <a:pPr>
              <a:defRPr sz="2325" b="0">
                <a:solidFill>
                  <a:srgbClr val="173746"/>
                </a:solidFill>
                <a:latin typeface="Arial"/>
                <a:ea typeface="Arial"/>
                <a:cs typeface="Arial"/>
              </a:defRPr>
            </a:pPr>
            <a:r>
              <a:rPr sz="2325" b="0">
                <a:solidFill>
                  <a:srgbClr val="173746"/>
                </a:solidFill>
                <a:latin typeface="Arial"/>
                <a:ea typeface="Arial"/>
                <a:cs typeface="Arial"/>
              </a:rPr>
              <a:t>“The staff were helpful, but the room was dirty.”</a:t>
            </a:r>
          </a:p>
        </p:txBody>
      </p:sp>
      <p:sp>
        <p:nvSpPr>
          <p:cNvPr id="4" name="">
            <a:extLst xmlns:a="http://schemas.openxmlformats.org/drawingml/2006/main">
              <a:ext uri="{FF2B5EF4-FFF2-40B4-BE49-F238E27FC236}">
                <a16:creationId xmlns:a16="http://schemas.microsoft.com/office/drawing/2014/main" id="{327B65FC-88ED-4772-A637-DAAA053FE170}"/>
              </a:ext>
            </a:extLst>
          </p:cNvPr>
          <p:cNvSpPr>
            <a:spLocks xmlns:a="http://schemas.openxmlformats.org/drawingml/2006/main" noGrp="1"/>
          </p:cNvSpPr>
          <p:nvPr/>
        </p:nvSpPr>
        <p:spPr>
          <a:xfrm xmlns:a="http://schemas.openxmlformats.org/drawingml/2006/main">
            <a:off x="723900" y="2571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3746"/>
                </a:solidFill>
                <a:latin typeface="Arial"/>
                <a:ea typeface="Arial"/>
                <a:cs typeface="Arial"/>
              </a:defRPr>
            </a:defPPr>
          </a:lstStyle>
          <a:p xmlns:a="http://schemas.openxmlformats.org/drawingml/2006/main">
            <a:pPr>
              <a:defRPr sz="2325" b="0">
                <a:solidFill>
                  <a:srgbClr val="173746"/>
                </a:solidFill>
                <a:latin typeface="Arial"/>
                <a:ea typeface="Arial"/>
                <a:cs typeface="Arial"/>
              </a:defRPr>
            </a:pPr>
            <a:r>
              <a:rPr sz="2325" b="0">
                <a:solidFill>
                  <a:srgbClr val="173746"/>
                </a:solidFill>
                <a:latin typeface="Arial"/>
                <a:ea typeface="Arial"/>
                <a:cs typeface="Arial"/>
              </a:rPr>
              <a:t>One overall score can hide disagreement between aspects.</a:t>
            </a:r>
          </a:p>
        </p:txBody>
      </p:sp>
      <p:sp>
        <p:nvSpPr>
          <p:cNvPr id="5" name="">
            <a:extLst xmlns:a="http://schemas.openxmlformats.org/drawingml/2006/main">
              <a:ext uri="{FF2B5EF4-FFF2-40B4-BE49-F238E27FC236}">
                <a16:creationId xmlns:a16="http://schemas.microsoft.com/office/drawing/2014/main" id="{D4338B30-419E-4D2D-A1E1-E2F235A7E81F}"/>
              </a:ext>
            </a:extLst>
          </p:cNvPr>
          <p:cNvSpPr>
            <a:spLocks xmlns:a="http://schemas.openxmlformats.org/drawingml/2006/main" noGrp="1"/>
          </p:cNvSpPr>
          <p:nvPr/>
        </p:nvSpPr>
        <p:spPr>
          <a:xfrm xmlns:a="http://schemas.openxmlformats.org/drawingml/2006/main">
            <a:off x="723900" y="36385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3746"/>
                </a:solidFill>
                <a:latin typeface="Arial"/>
                <a:ea typeface="Arial"/>
                <a:cs typeface="Arial"/>
              </a:defRPr>
            </a:defPPr>
          </a:lstStyle>
          <a:p xmlns:a="http://schemas.openxmlformats.org/drawingml/2006/main">
            <a:pPr>
              <a:defRPr sz="2325" b="0">
                <a:solidFill>
                  <a:srgbClr val="173746"/>
                </a:solidFill>
                <a:latin typeface="Arial"/>
                <a:ea typeface="Arial"/>
                <a:cs typeface="Arial"/>
              </a:defRPr>
            </a:pPr>
            <a:r>
              <a:rPr sz="2325" b="0">
                <a:solidFill>
                  <a:srgbClr val="173746"/>
                </a:solidFill>
                <a:latin typeface="Arial"/>
                <a:ea typeface="Arial"/>
                <a:cs typeface="Arial"/>
              </a:rPr>
              <a:t>Predict a 1–5 rating for each supported aspect.</a:t>
            </a:r>
          </a:p>
        </p:txBody>
      </p:sp>
      <p:sp>
        <p:nvSpPr>
          <p:cNvPr id="6" name="">
            <a:extLst xmlns:a="http://schemas.openxmlformats.org/drawingml/2006/main">
              <a:ext uri="{FF2B5EF4-FFF2-40B4-BE49-F238E27FC236}">
                <a16:creationId xmlns:a16="http://schemas.microsoft.com/office/drawing/2014/main" id="{D4F0A97C-EE29-4FF9-80BE-44C70D36551E}"/>
              </a:ext>
            </a:extLst>
          </p:cNvPr>
          <p:cNvSpPr>
            <a:spLocks xmlns:a="http://schemas.openxmlformats.org/drawingml/2006/main" noGrp="1"/>
          </p:cNvSpPr>
          <p:nvPr/>
        </p:nvSpPr>
        <p:spPr>
          <a:xfrm xmlns:a="http://schemas.openxmlformats.org/drawingml/2006/main">
            <a:off x="723900" y="47053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3746"/>
                </a:solidFill>
                <a:latin typeface="Arial"/>
                <a:ea typeface="Arial"/>
                <a:cs typeface="Arial"/>
              </a:defRPr>
            </a:defPPr>
          </a:lstStyle>
          <a:p xmlns:a="http://schemas.openxmlformats.org/drawingml/2006/main">
            <a:pPr>
              <a:defRPr sz="2325" b="0">
                <a:solidFill>
                  <a:srgbClr val="173746"/>
                </a:solidFill>
                <a:latin typeface="Arial"/>
                <a:ea typeface="Arial"/>
                <a:cs typeface="Arial"/>
              </a:defRPr>
            </a:pPr>
            <a:r>
              <a:rPr sz="2325" b="0">
                <a:solidFill>
                  <a:srgbClr val="173746"/>
                </a:solidFill>
                <a:latin typeface="Arial"/>
                <a:ea typeface="Arial"/>
                <a:cs typeface="Arial"/>
              </a:rPr>
              <a:t>Map 1–2 → negative; 3 → neutral; 4–5 → positive.</a:t>
            </a:r>
          </a:p>
        </p:txBody>
      </p:sp>
    </p:spTree>
    <p:extLst>
      <p:ext uri="{BB962C8B-B14F-4D97-AF65-F5344CB8AC3E}">
        <p14:creationId xmlns:p14="http://schemas.microsoft.com/office/powerpoint/2010/main" val="18183528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EE0ED9-98DA-48F4-8690-A3D7D87141D1}"/>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Two datasets with different purposes</a:t>
            </a:r>
          </a:p>
        </p:txBody>
      </p:sp>
      <p:sp>
        <p:nvSpPr>
          <p:cNvPr id="2" name="">
            <a:extLst xmlns:a="http://schemas.openxmlformats.org/drawingml/2006/main">
              <a:ext uri="{FF2B5EF4-FFF2-40B4-BE49-F238E27FC236}">
                <a16:creationId xmlns:a16="http://schemas.microsoft.com/office/drawing/2014/main" id="{EA7ADD23-B931-49E3-81F3-3AA7B14B1010}"/>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3</a:t>
            </a:r>
          </a:p>
        </p:txBody>
      </p:sp>
      <p:graphicFrame>
        <p:nvGraphicFramePr>
          <p:cNvPr id="3" name="">
            <a:extLst xmlns:a="http://schemas.openxmlformats.org/drawingml/2006/main">
              <a:ext uri="{FF2B5EF4-FFF2-40B4-BE49-F238E27FC236}">
                <a16:creationId xmlns:a16="http://schemas.microsoft.com/office/drawing/2014/main" id="{1353769E-72F7-48DE-8B41-8D107699A50B}"/>
              </a:ext>
            </a:extLst>
          </p:cNvPr>
          <p:cNvGraphicFramePr/>
          <p:nvPr/>
        </p:nvGraphicFramePr>
        <p:xfrm>
          <a:off xmlns:a="http://schemas.openxmlformats.org/drawingml/2006/main" x="609600" y="1524000"/>
          <a:ext xmlns:a="http://schemas.openxmlformats.org/drawingml/2006/main" cx="10972800" cy="2286000"/>
        </p:xfrm>
        <a:graphic xmlns:a="http://schemas.openxmlformats.org/drawingml/2006/main">
          <a:graphicData uri="http://schemas.openxmlformats.org/drawingml/2006/table">
            <a:tbl>
              <a:tblPr/>
              <a:tblGrid>
                <a:gridCol w="2286000"/>
                <a:gridCol w="4343400"/>
                <a:gridCol w="4343400"/>
              </a:tblGrid>
              <a:tr h="457200">
                <a:tc>
                  <a:txBody>
                    <a:bodyPr/>
                    <a:lstStyle/>
                    <a:p>
                      <a:r>
                        <a:rPr sz="1725" b="1">
                          <a:solidFill>
                            <a:srgbClr val="FFFFFF"/>
                          </a:solidFill>
                          <a:latin typeface="Arial"/>
                          <a:ea typeface="Arial"/>
                          <a:cs typeface="Arial"/>
                        </a:rPr>
                        <a:t>Property</a:t>
                      </a:r>
                    </a:p>
                  </a:txBody>
                  <a:tcPr marL="91440" marR="91440" marT="45720" marB="45720">
                    <a:solidFill>
                      <a:srgbClr val="173746"/>
                    </a:solidFill>
                  </a:tcPr>
                </a:tc>
                <a:tc>
                  <a:txBody>
                    <a:bodyPr/>
                    <a:lstStyle/>
                    <a:p>
                      <a:r>
                        <a:rPr sz="1725" b="1">
                          <a:solidFill>
                            <a:srgbClr val="FFFFFF"/>
                          </a:solidFill>
                          <a:latin typeface="Arial"/>
                          <a:ea typeface="Arial"/>
                          <a:cs typeface="Arial"/>
                        </a:rPr>
                        <a:t>Real evaluation</a:t>
                      </a:r>
                    </a:p>
                  </a:txBody>
                  <a:tcPr marL="91440" marR="91440" marT="45720" marB="45720">
                    <a:solidFill>
                      <a:srgbClr val="173746"/>
                    </a:solidFill>
                  </a:tcPr>
                </a:tc>
                <a:tc>
                  <a:txBody>
                    <a:bodyPr/>
                    <a:lstStyle/>
                    <a:p>
                      <a:r>
                        <a:rPr sz="1725" b="1">
                          <a:solidFill>
                            <a:srgbClr val="FFFFFF"/>
                          </a:solidFill>
                          <a:latin typeface="Arial"/>
                          <a:ea typeface="Arial"/>
                          <a:cs typeface="Arial"/>
                        </a:rPr>
                        <a:t>Synthetic demo</a:t>
                      </a:r>
                    </a:p>
                  </a:txBody>
                  <a:tcPr marL="91440" marR="91440" marT="45720" marB="45720">
                    <a:solidFill>
                      <a:srgbClr val="173746"/>
                    </a:solidFill>
                  </a:tcPr>
                </a:tc>
              </a:tr>
              <a:tr h="457200">
                <a:tc>
                  <a:txBody>
                    <a:bodyPr/>
                    <a:lstStyle/>
                    <a:p>
                      <a:r>
                        <a:rPr sz="1725" b="0">
                          <a:solidFill>
                            <a:srgbClr val="173746"/>
                          </a:solidFill>
                          <a:latin typeface="Arial"/>
                          <a:ea typeface="Arial"/>
                          <a:cs typeface="Arial"/>
                        </a:rPr>
                        <a:t>Reviews</a:t>
                      </a:r>
                    </a:p>
                  </a:txBody>
                  <a:tcPr marL="91440" marR="91440" marT="45720" marB="45720">
                    <a:solidFill>
                      <a:srgbClr val="FFFFFF"/>
                    </a:solidFill>
                  </a:tcPr>
                </a:tc>
                <a:tc>
                  <a:txBody>
                    <a:bodyPr/>
                    <a:lstStyle/>
                    <a:p>
                      <a:r>
                        <a:rPr sz="1725" b="0">
                          <a:solidFill>
                            <a:srgbClr val="173746"/>
                          </a:solidFill>
                          <a:latin typeface="Arial"/>
                          <a:ea typeface="Arial"/>
                          <a:cs typeface="Arial"/>
                        </a:rPr>
                        <a:t>2,100 from 122 hotels</a:t>
                      </a:r>
                    </a:p>
                  </a:txBody>
                  <a:tcPr marL="91440" marR="91440" marT="45720" marB="45720">
                    <a:solidFill>
                      <a:srgbClr val="FFFFFF"/>
                    </a:solidFill>
                  </a:tcPr>
                </a:tc>
                <a:tc>
                  <a:txBody>
                    <a:bodyPr/>
                    <a:lstStyle/>
                    <a:p>
                      <a:r>
                        <a:rPr sz="1725" b="0">
                          <a:solidFill>
                            <a:srgbClr val="173746"/>
                          </a:solidFill>
                          <a:latin typeface="Arial"/>
                          <a:ea typeface="Arial"/>
                          <a:cs typeface="Arial"/>
                        </a:rPr>
                        <a:t>320 template-based reviews</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Supervision</a:t>
                      </a:r>
                    </a:p>
                  </a:txBody>
                  <a:tcPr marL="91440" marR="91440" marT="45720" marB="45720">
                    <a:solidFill>
                      <a:srgbClr val="F0F5F7"/>
                    </a:solidFill>
                  </a:tcPr>
                </a:tc>
                <a:tc>
                  <a:txBody>
                    <a:bodyPr/>
                    <a:lstStyle/>
                    <a:p>
                      <a:r>
                        <a:rPr sz="1725" b="0">
                          <a:solidFill>
                            <a:srgbClr val="173746"/>
                          </a:solidFill>
                          <a:latin typeface="Arial"/>
                          <a:ea typeface="Arial"/>
                          <a:cs typeface="Arial"/>
                        </a:rPr>
                        <a:t>Overall + six aspects</a:t>
                      </a:r>
                    </a:p>
                  </a:txBody>
                  <a:tcPr marL="91440" marR="91440" marT="45720" marB="45720">
                    <a:solidFill>
                      <a:srgbClr val="F0F5F7"/>
                    </a:solidFill>
                  </a:tcPr>
                </a:tc>
                <a:tc>
                  <a:txBody>
                    <a:bodyPr/>
                    <a:lstStyle/>
                    <a:p>
                      <a:r>
                        <a:rPr sz="1725" b="0">
                          <a:solidFill>
                            <a:srgbClr val="173746"/>
                          </a:solidFill>
                          <a:latin typeface="Arial"/>
                          <a:ea typeface="Arial"/>
                          <a:cs typeface="Arial"/>
                        </a:rPr>
                        <a:t>Overall + seven aspects</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Sleep quality</a:t>
                      </a:r>
                    </a:p>
                  </a:txBody>
                  <a:tcPr marL="91440" marR="91440" marT="45720" marB="45720">
                    <a:solidFill>
                      <a:srgbClr val="FFFFFF"/>
                    </a:solidFill>
                  </a:tcPr>
                </a:tc>
                <a:tc>
                  <a:txBody>
                    <a:bodyPr/>
                    <a:lstStyle/>
                    <a:p>
                      <a:r>
                        <a:rPr sz="1725" b="0">
                          <a:solidFill>
                            <a:srgbClr val="173746"/>
                          </a:solidFill>
                          <a:latin typeface="Arial"/>
                          <a:ea typeface="Arial"/>
                          <a:cs typeface="Arial"/>
                        </a:rPr>
                        <a:t>No labels: unavailable</a:t>
                      </a:r>
                    </a:p>
                  </a:txBody>
                  <a:tcPr marL="91440" marR="91440" marT="45720" marB="45720">
                    <a:solidFill>
                      <a:srgbClr val="FFFFFF"/>
                    </a:solidFill>
                  </a:tcPr>
                </a:tc>
                <a:tc>
                  <a:txBody>
                    <a:bodyPr/>
                    <a:lstStyle/>
                    <a:p>
                      <a:r>
                        <a:rPr sz="1725" b="0">
                          <a:solidFill>
                            <a:srgbClr val="173746"/>
                          </a:solidFill>
                          <a:latin typeface="Arial"/>
                          <a:ea typeface="Arial"/>
                          <a:cs typeface="Arial"/>
                        </a:rPr>
                        <a:t>Demonstration only</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Purpose</a:t>
                      </a:r>
                    </a:p>
                  </a:txBody>
                  <a:tcPr marL="91440" marR="91440" marT="45720" marB="45720">
                    <a:solidFill>
                      <a:srgbClr val="F0F5F7"/>
                    </a:solidFill>
                  </a:tcPr>
                </a:tc>
                <a:tc>
                  <a:txBody>
                    <a:bodyPr/>
                    <a:lstStyle/>
                    <a:p>
                      <a:r>
                        <a:rPr sz="1725" b="0">
                          <a:solidFill>
                            <a:srgbClr val="173746"/>
                          </a:solidFill>
                          <a:latin typeface="Arial"/>
                          <a:ea typeface="Arial"/>
                          <a:cs typeface="Arial"/>
                        </a:rPr>
                        <a:t>Held-out hotel evaluation</a:t>
                      </a:r>
                    </a:p>
                  </a:txBody>
                  <a:tcPr marL="91440" marR="91440" marT="45720" marB="45720">
                    <a:solidFill>
                      <a:srgbClr val="F0F5F7"/>
                    </a:solidFill>
                  </a:tcPr>
                </a:tc>
                <a:tc>
                  <a:txBody>
                    <a:bodyPr/>
                    <a:lstStyle/>
                    <a:p>
                      <a:r>
                        <a:rPr sz="1725" b="0">
                          <a:solidFill>
                            <a:srgbClr val="173746"/>
                          </a:solidFill>
                          <a:latin typeface="Arial"/>
                          <a:ea typeface="Arial"/>
                          <a:cs typeface="Arial"/>
                        </a:rPr>
                        <a:t>Functional demonstration</a:t>
                      </a:r>
                    </a:p>
                  </a:txBody>
                  <a:tcPr marL="91440" marR="91440" marT="45720" marB="45720">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7282B02C-848D-4AD0-B40F-5E156C8879DD}"/>
              </a:ext>
            </a:extLst>
          </p:cNvPr>
          <p:cNvSpPr>
            <a:spLocks xmlns:a="http://schemas.openxmlformats.org/drawingml/2006/main" noGrp="1"/>
          </p:cNvSpPr>
          <p:nvPr/>
        </p:nvSpPr>
        <p:spPr>
          <a:xfrm xmlns:a="http://schemas.openxmlformats.org/drawingml/2006/main">
            <a:off x="723900" y="4286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87"/>
                </a:solidFill>
                <a:latin typeface="Arial"/>
                <a:ea typeface="Arial"/>
                <a:cs typeface="Arial"/>
              </a:defRPr>
            </a:defPPr>
          </a:lstStyle>
          <a:p xmlns:a="http://schemas.openxmlformats.org/drawingml/2006/main">
            <a:pPr>
              <a:defRPr sz="2100" b="1">
                <a:solidFill>
                  <a:srgbClr val="176B87"/>
                </a:solidFill>
                <a:latin typeface="Arial"/>
                <a:ea typeface="Arial"/>
                <a:cs typeface="Arial"/>
              </a:defRPr>
            </a:pPr>
            <a:r>
              <a:rPr sz="2100" b="1">
                <a:solidFill>
                  <a:srgbClr val="176B87"/>
                </a:solidFill>
                <a:latin typeface="Arial"/>
                <a:ea typeface="Arial"/>
                <a:cs typeface="Arial"/>
              </a:rPr>
              <a:t>Missing source ratings stay missing. No aspect labels are invented.</a:t>
            </a:r>
          </a:p>
        </p:txBody>
      </p:sp>
      <p:sp>
        <p:nvSpPr>
          <p:cNvPr id="5" name="">
            <a:extLst xmlns:a="http://schemas.openxmlformats.org/drawingml/2006/main">
              <a:ext uri="{FF2B5EF4-FFF2-40B4-BE49-F238E27FC236}">
                <a16:creationId xmlns:a16="http://schemas.microsoft.com/office/drawing/2014/main" id="{524875D4-B57C-442B-B109-0FE4D2F08A4A}"/>
              </a:ext>
            </a:extLst>
          </p:cNvPr>
          <p:cNvSpPr>
            <a:spLocks xmlns:a="http://schemas.openxmlformats.org/drawingml/2006/main" noGrp="1"/>
          </p:cNvSpPr>
          <p:nvPr/>
        </p:nvSpPr>
        <p:spPr>
          <a:xfrm xmlns:a="http://schemas.openxmlformats.org/drawingml/2006/main">
            <a:off x="723900" y="50958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3746"/>
                </a:solidFill>
                <a:latin typeface="Arial"/>
                <a:ea typeface="Arial"/>
                <a:cs typeface="Arial"/>
              </a:defRPr>
            </a:defPPr>
          </a:lstStyle>
          <a:p xmlns:a="http://schemas.openxmlformats.org/drawingml/2006/main">
            <a:pPr>
              <a:defRPr sz="1950" b="0">
                <a:solidFill>
                  <a:srgbClr val="173746"/>
                </a:solidFill>
                <a:latin typeface="Arial"/>
                <a:ea typeface="Arial"/>
                <a:cs typeface="Arial"/>
              </a:defRPr>
            </a:pPr>
            <a:r>
              <a:rPr sz="1950" b="0">
                <a:solidFill>
                  <a:srgbClr val="173746"/>
                </a:solidFill>
                <a:latin typeface="Arial"/>
                <a:ea typeface="Arial"/>
                <a:cs typeface="Arial"/>
              </a:rPr>
              <a:t>The real corpus is balanced by overall sentiment; it is not representative of current hotel traffic.</a:t>
            </a:r>
          </a:p>
        </p:txBody>
      </p:sp>
    </p:spTree>
    <p:extLst>
      <p:ext uri="{BB962C8B-B14F-4D97-AF65-F5344CB8AC3E}">
        <p14:creationId xmlns:p14="http://schemas.microsoft.com/office/powerpoint/2010/main" val="1896553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2B7D78-2713-467F-9AB1-6912C0B954EF}"/>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Feature and model pipelines</a:t>
            </a:r>
          </a:p>
        </p:txBody>
      </p:sp>
      <p:sp>
        <p:nvSpPr>
          <p:cNvPr id="2" name="">
            <a:extLst xmlns:a="http://schemas.openxmlformats.org/drawingml/2006/main">
              <a:ext uri="{FF2B5EF4-FFF2-40B4-BE49-F238E27FC236}">
                <a16:creationId xmlns:a16="http://schemas.microsoft.com/office/drawing/2014/main" id="{F0929CCA-1B68-4BAE-82E6-B8321A745DBD}"/>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4</a:t>
            </a:r>
          </a:p>
        </p:txBody>
      </p:sp>
      <p:graphicFrame>
        <p:nvGraphicFramePr>
          <p:cNvPr id="3" name="">
            <a:extLst xmlns:a="http://schemas.openxmlformats.org/drawingml/2006/main">
              <a:ext uri="{FF2B5EF4-FFF2-40B4-BE49-F238E27FC236}">
                <a16:creationId xmlns:a16="http://schemas.microsoft.com/office/drawing/2014/main" id="{80EF94EF-26AC-4970-8B82-1E53FB8B8D1C}"/>
              </a:ext>
            </a:extLst>
          </p:cNvPr>
          <p:cNvGraphicFramePr/>
          <p:nvPr/>
        </p:nvGraphicFramePr>
        <p:xfrm>
          <a:off xmlns:a="http://schemas.openxmlformats.org/drawingml/2006/main" x="609600" y="1524000"/>
          <a:ext xmlns:a="http://schemas.openxmlformats.org/drawingml/2006/main" cx="10972800" cy="1828800"/>
        </p:xfrm>
        <a:graphic xmlns:a="http://schemas.openxmlformats.org/drawingml/2006/main">
          <a:graphicData uri="http://schemas.openxmlformats.org/drawingml/2006/table">
            <a:tbl>
              <a:tblPr/>
              <a:tblGrid>
                <a:gridCol w="1809750"/>
                <a:gridCol w="4638675"/>
                <a:gridCol w="4524375"/>
              </a:tblGrid>
              <a:tr h="457200">
                <a:tc>
                  <a:txBody>
                    <a:bodyPr/>
                    <a:lstStyle/>
                    <a:p>
                      <a:r>
                        <a:rPr sz="1725" b="1">
                          <a:solidFill>
                            <a:srgbClr val="FFFFFF"/>
                          </a:solidFill>
                          <a:latin typeface="Arial"/>
                          <a:ea typeface="Arial"/>
                          <a:cs typeface="Arial"/>
                        </a:rPr>
                        <a:t>Pipeline</a:t>
                      </a:r>
                    </a:p>
                  </a:txBody>
                  <a:tcPr marL="91440" marR="91440" marT="45720" marB="45720">
                    <a:solidFill>
                      <a:srgbClr val="173746"/>
                    </a:solidFill>
                  </a:tcPr>
                </a:tc>
                <a:tc>
                  <a:txBody>
                    <a:bodyPr/>
                    <a:lstStyle/>
                    <a:p>
                      <a:r>
                        <a:rPr sz="1725" b="1">
                          <a:solidFill>
                            <a:srgbClr val="FFFFFF"/>
                          </a:solidFill>
                          <a:latin typeface="Arial"/>
                          <a:ea typeface="Arial"/>
                          <a:cs typeface="Arial"/>
                        </a:rPr>
                        <a:t>Representation</a:t>
                      </a:r>
                    </a:p>
                  </a:txBody>
                  <a:tcPr marL="91440" marR="91440" marT="45720" marB="45720">
                    <a:solidFill>
                      <a:srgbClr val="173746"/>
                    </a:solidFill>
                  </a:tcPr>
                </a:tc>
                <a:tc>
                  <a:txBody>
                    <a:bodyPr/>
                    <a:lstStyle/>
                    <a:p>
                      <a:r>
                        <a:rPr sz="1725" b="1">
                          <a:solidFill>
                            <a:srgbClr val="FFFFFF"/>
                          </a:solidFill>
                          <a:latin typeface="Arial"/>
                          <a:ea typeface="Arial"/>
                          <a:cs typeface="Arial"/>
                        </a:rPr>
                        <a:t>Classifier</a:t>
                      </a:r>
                    </a:p>
                  </a:txBody>
                  <a:tcPr marL="91440" marR="91440" marT="45720" marB="45720">
                    <a:solidFill>
                      <a:srgbClr val="173746"/>
                    </a:solidFill>
                  </a:tcPr>
                </a:tc>
              </a:tr>
              <a:tr h="457200">
                <a:tc>
                  <a:txBody>
                    <a:bodyPr/>
                    <a:lstStyle/>
                    <a:p>
                      <a:r>
                        <a:rPr sz="1725" b="0">
                          <a:solidFill>
                            <a:srgbClr val="173746"/>
                          </a:solidFill>
                          <a:latin typeface="Arial"/>
                          <a:ea typeface="Arial"/>
                          <a:cs typeface="Arial"/>
                        </a:rPr>
                        <a:t>NB</a:t>
                      </a:r>
                    </a:p>
                  </a:txBody>
                  <a:tcPr marL="91440" marR="91440" marT="45720" marB="45720">
                    <a:solidFill>
                      <a:srgbClr val="FFFFFF"/>
                    </a:solidFill>
                  </a:tcPr>
                </a:tc>
                <a:tc>
                  <a:txBody>
                    <a:bodyPr/>
                    <a:lstStyle/>
                    <a:p>
                      <a:r>
                        <a:rPr sz="1725" b="0">
                          <a:solidFill>
                            <a:srgbClr val="173746"/>
                          </a:solidFill>
                          <a:latin typeface="Arial"/>
                          <a:ea typeface="Arial"/>
                          <a:cs typeface="Arial"/>
                        </a:rPr>
                        <a:t>TF-IDF unigrams + bigrams</a:t>
                      </a:r>
                    </a:p>
                  </a:txBody>
                  <a:tcPr marL="91440" marR="91440" marT="45720" marB="45720">
                    <a:solidFill>
                      <a:srgbClr val="FFFFFF"/>
                    </a:solidFill>
                  </a:tcPr>
                </a:tc>
                <a:tc>
                  <a:txBody>
                    <a:bodyPr/>
                    <a:lstStyle/>
                    <a:p>
                      <a:r>
                        <a:rPr sz="1725" b="0">
                          <a:solidFill>
                            <a:srgbClr val="173746"/>
                          </a:solidFill>
                          <a:latin typeface="Arial"/>
                          <a:ea typeface="Arial"/>
                          <a:cs typeface="Arial"/>
                        </a:rPr>
                        <a:t>Multinomial Naive Bayes</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SVM</a:t>
                      </a:r>
                    </a:p>
                  </a:txBody>
                  <a:tcPr marL="91440" marR="91440" marT="45720" marB="45720">
                    <a:solidFill>
                      <a:srgbClr val="F0F5F7"/>
                    </a:solidFill>
                  </a:tcPr>
                </a:tc>
                <a:tc>
                  <a:txBody>
                    <a:bodyPr/>
                    <a:lstStyle/>
                    <a:p>
                      <a:r>
                        <a:rPr sz="1725" b="0">
                          <a:solidFill>
                            <a:srgbClr val="173746"/>
                          </a:solidFill>
                          <a:latin typeface="Arial"/>
                          <a:ea typeface="Arial"/>
                          <a:cs typeface="Arial"/>
                        </a:rPr>
                        <a:t>Count unigrams + bigrams</a:t>
                      </a:r>
                    </a:p>
                  </a:txBody>
                  <a:tcPr marL="91440" marR="91440" marT="45720" marB="45720">
                    <a:solidFill>
                      <a:srgbClr val="F0F5F7"/>
                    </a:solidFill>
                  </a:tcPr>
                </a:tc>
                <a:tc>
                  <a:txBody>
                    <a:bodyPr/>
                    <a:lstStyle/>
                    <a:p>
                      <a:r>
                        <a:rPr sz="1725" b="0">
                          <a:solidFill>
                            <a:srgbClr val="173746"/>
                          </a:solidFill>
                          <a:latin typeface="Arial"/>
                          <a:ea typeface="Arial"/>
                          <a:cs typeface="Arial"/>
                        </a:rPr>
                        <a:t>Balanced Linear SVM</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LR</a:t>
                      </a:r>
                    </a:p>
                  </a:txBody>
                  <a:tcPr marL="91440" marR="91440" marT="45720" marB="45720">
                    <a:solidFill>
                      <a:srgbClr val="FFFFFF"/>
                    </a:solidFill>
                  </a:tcPr>
                </a:tc>
                <a:tc>
                  <a:txBody>
                    <a:bodyPr/>
                    <a:lstStyle/>
                    <a:p>
                      <a:r>
                        <a:rPr sz="1725" b="0">
                          <a:solidFill>
                            <a:srgbClr val="173746"/>
                          </a:solidFill>
                          <a:latin typeface="Arial"/>
                          <a:ea typeface="Arial"/>
                          <a:cs typeface="Arial"/>
                        </a:rPr>
                        <a:t>TF-IDF unigrams + bigrams</a:t>
                      </a:r>
                    </a:p>
                  </a:txBody>
                  <a:tcPr marL="91440" marR="91440" marT="45720" marB="45720">
                    <a:solidFill>
                      <a:srgbClr val="FFFFFF"/>
                    </a:solidFill>
                  </a:tcPr>
                </a:tc>
                <a:tc>
                  <a:txBody>
                    <a:bodyPr/>
                    <a:lstStyle/>
                    <a:p>
                      <a:r>
                        <a:rPr sz="1725" b="0">
                          <a:solidFill>
                            <a:srgbClr val="173746"/>
                          </a:solidFill>
                          <a:latin typeface="Arial"/>
                          <a:ea typeface="Arial"/>
                          <a:cs typeface="Arial"/>
                        </a:rPr>
                        <a:t>Balanced Logistic Regression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FF6E04-D253-426D-9D73-53D966B40B1D}"/>
              </a:ext>
            </a:extLst>
          </p:cNvPr>
          <p:cNvSpPr>
            <a:spLocks xmlns:a="http://schemas.openxmlformats.org/drawingml/2006/main" noGrp="1"/>
          </p:cNvSpPr>
          <p:nvPr/>
        </p:nvSpPr>
        <p:spPr>
          <a:xfrm xmlns:a="http://schemas.openxmlformats.org/drawingml/2006/main">
            <a:off x="723900" y="40481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Normalize text and preserve negations such as “not clean”.</a:t>
            </a:r>
          </a:p>
        </p:txBody>
      </p:sp>
      <p:sp>
        <p:nvSpPr>
          <p:cNvPr id="5" name="">
            <a:extLst xmlns:a="http://schemas.openxmlformats.org/drawingml/2006/main">
              <a:ext uri="{FF2B5EF4-FFF2-40B4-BE49-F238E27FC236}">
                <a16:creationId xmlns:a16="http://schemas.microsoft.com/office/drawing/2014/main" id="{D7A7B556-7EC6-4556-93C8-8EBFCABEEC4E}"/>
              </a:ext>
            </a:extLst>
          </p:cNvPr>
          <p:cNvSpPr>
            <a:spLocks xmlns:a="http://schemas.openxmlformats.org/drawingml/2006/main" noGrp="1"/>
          </p:cNvSpPr>
          <p:nvPr/>
        </p:nvSpPr>
        <p:spPr>
          <a:xfrm xmlns:a="http://schemas.openxmlformats.org/drawingml/2006/main">
            <a:off x="723900" y="49530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Fit vocabulary and IDF only inside the training partition.</a:t>
            </a:r>
          </a:p>
        </p:txBody>
      </p:sp>
    </p:spTree>
    <p:extLst>
      <p:ext uri="{BB962C8B-B14F-4D97-AF65-F5344CB8AC3E}">
        <p14:creationId xmlns:p14="http://schemas.microsoft.com/office/powerpoint/2010/main" val="5748714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4FBF2E-1A4A-41F6-85AF-A891D5133B3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Evaluation without hotel overlap</a:t>
            </a:r>
          </a:p>
        </p:txBody>
      </p:sp>
      <p:sp>
        <p:nvSpPr>
          <p:cNvPr id="2" name="">
            <a:extLst xmlns:a="http://schemas.openxmlformats.org/drawingml/2006/main">
              <a:ext uri="{FF2B5EF4-FFF2-40B4-BE49-F238E27FC236}">
                <a16:creationId xmlns:a16="http://schemas.microsoft.com/office/drawing/2014/main" id="{EFA7695D-BD32-4C0F-8C13-4BA1F2A65B6F}"/>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5</a:t>
            </a:r>
          </a:p>
        </p:txBody>
      </p:sp>
      <p:sp>
        <p:nvSpPr>
          <p:cNvPr id="3" name="">
            <a:extLst xmlns:a="http://schemas.openxmlformats.org/drawingml/2006/main">
              <a:ext uri="{FF2B5EF4-FFF2-40B4-BE49-F238E27FC236}">
                <a16:creationId xmlns:a16="http://schemas.microsoft.com/office/drawing/2014/main" id="{455DB350-575D-4FAA-949F-9E4A3C0DD94D}"/>
              </a:ext>
            </a:extLst>
          </p:cNvPr>
          <p:cNvSpPr>
            <a:spLocks xmlns:a="http://schemas.openxmlformats.org/drawingml/2006/main" noGrp="1"/>
          </p:cNvSpPr>
          <p:nvPr/>
        </p:nvSpPr>
        <p:spPr>
          <a:xfrm xmlns:a="http://schemas.openxmlformats.org/drawingml/2006/main">
            <a:off x="723900" y="15430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76B87"/>
                </a:solidFill>
                <a:latin typeface="Arial"/>
                <a:ea typeface="Arial"/>
                <a:cs typeface="Arial"/>
              </a:defRPr>
            </a:defPPr>
          </a:lstStyle>
          <a:p xmlns:a="http://schemas.openxmlformats.org/drawingml/2006/main">
            <a:pPr>
              <a:defRPr sz="2700" b="1">
                <a:solidFill>
                  <a:srgbClr val="176B87"/>
                </a:solidFill>
                <a:latin typeface="Arial"/>
                <a:ea typeface="Arial"/>
                <a:cs typeface="Arial"/>
              </a:defRPr>
            </a:pPr>
            <a:r>
              <a:rPr sz="2700" b="1">
                <a:solidFill>
                  <a:srgbClr val="176B87"/>
                </a:solidFill>
                <a:latin typeface="Arial"/>
                <a:ea typeface="Arial"/>
                <a:cs typeface="Arial"/>
              </a:rPr>
              <a:t>1342 training   /   388 validation   /   370 test reviews</a:t>
            </a:r>
          </a:p>
        </p:txBody>
      </p:sp>
      <p:sp>
        <p:nvSpPr>
          <p:cNvPr id="4" name="">
            <a:extLst xmlns:a="http://schemas.openxmlformats.org/drawingml/2006/main">
              <a:ext uri="{FF2B5EF4-FFF2-40B4-BE49-F238E27FC236}">
                <a16:creationId xmlns:a16="http://schemas.microsoft.com/office/drawing/2014/main" id="{9CC997FF-D1DD-458F-A506-2C5B522EC5E6}"/>
              </a:ext>
            </a:extLst>
          </p:cNvPr>
          <p:cNvSpPr>
            <a:spLocks xmlns:a="http://schemas.openxmlformats.org/drawingml/2006/main" noGrp="1"/>
          </p:cNvSpPr>
          <p:nvPr/>
        </p:nvSpPr>
        <p:spPr>
          <a:xfrm xmlns:a="http://schemas.openxmlformats.org/drawingml/2006/main">
            <a:off x="723900" y="24288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Keep every hotel in a single partition; use seed 42.</a:t>
            </a:r>
          </a:p>
        </p:txBody>
      </p:sp>
      <p:sp>
        <p:nvSpPr>
          <p:cNvPr id="5" name="">
            <a:extLst xmlns:a="http://schemas.openxmlformats.org/drawingml/2006/main">
              <a:ext uri="{FF2B5EF4-FFF2-40B4-BE49-F238E27FC236}">
                <a16:creationId xmlns:a16="http://schemas.microsoft.com/office/drawing/2014/main" id="{0B875735-9813-454C-BCD7-2B3C166E1DB9}"/>
              </a:ext>
            </a:extLst>
          </p:cNvPr>
          <p:cNvSpPr>
            <a:spLocks xmlns:a="http://schemas.openxmlformats.org/drawingml/2006/main" noGrp="1"/>
          </p:cNvSpPr>
          <p:nvPr/>
        </p:nvSpPr>
        <p:spPr>
          <a:xfrm xmlns:a="http://schemas.openxmlformats.org/drawingml/2006/main">
            <a:off x="723900" y="32575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Select each model by validation polarity macro-F1.</a:t>
            </a:r>
          </a:p>
        </p:txBody>
      </p:sp>
      <p:sp>
        <p:nvSpPr>
          <p:cNvPr id="6" name="">
            <a:extLst xmlns:a="http://schemas.openxmlformats.org/drawingml/2006/main">
              <a:ext uri="{FF2B5EF4-FFF2-40B4-BE49-F238E27FC236}">
                <a16:creationId xmlns:a16="http://schemas.microsoft.com/office/drawing/2014/main" id="{6AC3F89B-91CC-48A3-A395-89BF9E7810A3}"/>
              </a:ext>
            </a:extLst>
          </p:cNvPr>
          <p:cNvSpPr>
            <a:spLocks xmlns:a="http://schemas.openxmlformats.org/drawingml/2006/main" noGrp="1"/>
          </p:cNvSpPr>
          <p:nvPr/>
        </p:nvSpPr>
        <p:spPr>
          <a:xfrm xmlns:a="http://schemas.openxmlformats.org/drawingml/2006/main">
            <a:off x="723900" y="40862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Refit on train + validation; test reviews stay unseen.</a:t>
            </a:r>
          </a:p>
        </p:txBody>
      </p:sp>
      <p:sp>
        <p:nvSpPr>
          <p:cNvPr id="7" name="">
            <a:extLst xmlns:a="http://schemas.openxmlformats.org/drawingml/2006/main">
              <a:ext uri="{FF2B5EF4-FFF2-40B4-BE49-F238E27FC236}">
                <a16:creationId xmlns:a16="http://schemas.microsoft.com/office/drawing/2014/main" id="{3C49CC87-F276-4DB0-A27F-F4195AEF7CED}"/>
              </a:ext>
            </a:extLst>
          </p:cNvPr>
          <p:cNvSpPr>
            <a:spLocks xmlns:a="http://schemas.openxmlformats.org/drawingml/2006/main" noGrp="1"/>
          </p:cNvSpPr>
          <p:nvPr/>
        </p:nvSpPr>
        <p:spPr>
          <a:xfrm xmlns:a="http://schemas.openxmlformats.org/drawingml/2006/main">
            <a:off x="723900" y="49149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746"/>
                </a:solidFill>
                <a:latin typeface="Arial"/>
                <a:ea typeface="Arial"/>
                <a:cs typeface="Arial"/>
              </a:defRPr>
            </a:defPPr>
          </a:lstStyle>
          <a:p xmlns:a="http://schemas.openxmlformats.org/drawingml/2006/main">
            <a:pPr>
              <a:defRPr sz="2175" b="0">
                <a:solidFill>
                  <a:srgbClr val="173746"/>
                </a:solidFill>
                <a:latin typeface="Arial"/>
                <a:ea typeface="Arial"/>
                <a:cs typeface="Arial"/>
              </a:defRPr>
            </a:pPr>
            <a:r>
              <a:rPr sz="2175" b="0">
                <a:solidFill>
                  <a:srgbClr val="173746"/>
                </a:solidFill>
                <a:latin typeface="Arial"/>
                <a:ea typeface="Arial"/>
                <a:cs typeface="Arial"/>
              </a:rPr>
              <a:t>Compare with separate majority star and polarity baselines.</a:t>
            </a:r>
          </a:p>
        </p:txBody>
      </p:sp>
    </p:spTree>
    <p:extLst>
      <p:ext uri="{BB962C8B-B14F-4D97-AF65-F5344CB8AC3E}">
        <p14:creationId xmlns:p14="http://schemas.microsoft.com/office/powerpoint/2010/main" val="6022697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9A806B-45A5-4E2F-8462-CC956A9E1573}"/>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Held-out polarity accuracy</a:t>
            </a:r>
          </a:p>
        </p:txBody>
      </p:sp>
      <p:sp>
        <p:nvSpPr>
          <p:cNvPr id="2" name="">
            <a:extLst xmlns:a="http://schemas.openxmlformats.org/drawingml/2006/main">
              <a:ext uri="{FF2B5EF4-FFF2-40B4-BE49-F238E27FC236}">
                <a16:creationId xmlns:a16="http://schemas.microsoft.com/office/drawing/2014/main" id="{BB599207-F07A-4DAA-8863-FB3397D6A3BA}"/>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6</a:t>
            </a:r>
          </a:p>
        </p:txBody>
      </p:sp>
      <p:graphicFrame>
        <p:nvGraphicFramePr>
          <p:cNvPr id="3" name="Chart">
            <a:extLst xmlns:a="http://schemas.openxmlformats.org/drawingml/2006/main">
              <a:ext uri="{FF2B5EF4-FFF2-40B4-BE49-F238E27FC236}">
                <a16:creationId xmlns:a16="http://schemas.microsoft.com/office/drawing/2014/main" id="{E8D4196F-A3CA-4E88-A4E0-1EFEE80E98E8}"/>
              </a:ext>
            </a:extLst>
          </p:cNvPr>
          <p:cNvGraphicFramePr/>
          <p:nvPr/>
        </p:nvGraphicFramePr>
        <p:xfrm>
          <a:off xmlns:a="http://schemas.openxmlformats.org/drawingml/2006/main" x="685800" y="1504950"/>
          <a:ext xmlns:a="http://schemas.openxmlformats.org/drawingml/2006/main" cx="10820400" cy="3952875"/>
        </p:xfrm>
        <a:graphic xmlns:a="http://schemas.openxmlformats.org/drawingml/2006/main">
          <a:graphicData uri="http://schemas.openxmlformats.org/drawingml/2006/chart">
            <c:chart xmlns:r="http://schemas.openxmlformats.org/officeDocument/2006/relationships" xmlns:c="http://schemas.openxmlformats.org/drawingml/2006/chart" r:id="Rb63978647be6452a"/>
          </a:graphicData>
        </a:graphic>
      </p:graphicFrame>
      <p:sp>
        <p:nvSpPr>
          <p:cNvPr id="4" name="">
            <a:extLst xmlns:a="http://schemas.openxmlformats.org/drawingml/2006/main">
              <a:ext uri="{FF2B5EF4-FFF2-40B4-BE49-F238E27FC236}">
                <a16:creationId xmlns:a16="http://schemas.microsoft.com/office/drawing/2014/main" id="{D55640A7-BDB5-4135-B87C-ADD6CB1A14E7}"/>
              </a:ext>
            </a:extLst>
          </p:cNvPr>
          <p:cNvSpPr>
            <a:spLocks xmlns:a="http://schemas.openxmlformats.org/drawingml/2006/main" noGrp="1"/>
          </p:cNvSpPr>
          <p:nvPr/>
        </p:nvSpPr>
        <p:spPr>
          <a:xfrm xmlns:a="http://schemas.openxmlformats.org/drawingml/2006/main">
            <a:off x="723900" y="56197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3746"/>
                </a:solidFill>
                <a:latin typeface="Arial"/>
                <a:ea typeface="Arial"/>
                <a:cs typeface="Arial"/>
              </a:defRPr>
            </a:defPPr>
          </a:lstStyle>
          <a:p xmlns:a="http://schemas.openxmlformats.org/drawingml/2006/main">
            <a:pPr>
              <a:defRPr sz="2100" b="1">
                <a:solidFill>
                  <a:srgbClr val="173746"/>
                </a:solidFill>
                <a:latin typeface="Arial"/>
                <a:ea typeface="Arial"/>
                <a:cs typeface="Arial"/>
              </a:defRPr>
            </a:pPr>
            <a:r>
              <a:rPr sz="2100" b="1">
                <a:solidFill>
                  <a:srgbClr val="173746"/>
                </a:solidFill>
                <a:latin typeface="Arial"/>
                <a:ea typeface="Arial"/>
                <a:cs typeface="Arial"/>
              </a:rPr>
              <a:t>Overall: 74.6% accuracy. Location: 74.4%, below the 78.9% baseline.</a:t>
            </a:r>
          </a:p>
        </p:txBody>
      </p:sp>
    </p:spTree>
    <p:extLst>
      <p:ext uri="{BB962C8B-B14F-4D97-AF65-F5344CB8AC3E}">
        <p14:creationId xmlns:p14="http://schemas.microsoft.com/office/powerpoint/2010/main" val="17735272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AF7045-C1DB-4A84-B5ED-2228698F623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Star accuracy and class balance</a:t>
            </a:r>
          </a:p>
        </p:txBody>
      </p:sp>
      <p:sp>
        <p:nvSpPr>
          <p:cNvPr id="2" name="">
            <a:extLst xmlns:a="http://schemas.openxmlformats.org/drawingml/2006/main">
              <a:ext uri="{FF2B5EF4-FFF2-40B4-BE49-F238E27FC236}">
                <a16:creationId xmlns:a16="http://schemas.microsoft.com/office/drawing/2014/main" id="{72F53E13-0569-4DA0-BF51-6A1F938D3EEF}"/>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7</a:t>
            </a:r>
          </a:p>
        </p:txBody>
      </p:sp>
      <p:graphicFrame>
        <p:nvGraphicFramePr>
          <p:cNvPr id="3" name="">
            <a:extLst xmlns:a="http://schemas.openxmlformats.org/drawingml/2006/main">
              <a:ext uri="{FF2B5EF4-FFF2-40B4-BE49-F238E27FC236}">
                <a16:creationId xmlns:a16="http://schemas.microsoft.com/office/drawing/2014/main" id="{4B3ECE66-77B5-4D7A-8E49-08B16F37AB70}"/>
              </a:ext>
            </a:extLst>
          </p:cNvPr>
          <p:cNvGraphicFramePr/>
          <p:nvPr/>
        </p:nvGraphicFramePr>
        <p:xfrm>
          <a:off xmlns:a="http://schemas.openxmlformats.org/drawingml/2006/main" x="609600" y="1524000"/>
          <a:ext xmlns:a="http://schemas.openxmlformats.org/drawingml/2006/main" cx="10972800" cy="3657600"/>
        </p:xfrm>
        <a:graphic xmlns:a="http://schemas.openxmlformats.org/drawingml/2006/main">
          <a:graphicData uri="http://schemas.openxmlformats.org/drawingml/2006/table">
            <a:tbl>
              <a:tblPr/>
              <a:tblGrid>
                <a:gridCol w="3333750"/>
                <a:gridCol w="1428750"/>
                <a:gridCol w="2857500"/>
                <a:gridCol w="3352800"/>
              </a:tblGrid>
              <a:tr h="457200">
                <a:tc>
                  <a:txBody>
                    <a:bodyPr/>
                    <a:lstStyle/>
                    <a:p>
                      <a:r>
                        <a:rPr sz="1725" b="1">
                          <a:solidFill>
                            <a:srgbClr val="FFFFFF"/>
                          </a:solidFill>
                          <a:latin typeface="Arial"/>
                          <a:ea typeface="Arial"/>
                          <a:cs typeface="Arial"/>
                        </a:rPr>
                        <a:t>Target</a:t>
                      </a:r>
                    </a:p>
                  </a:txBody>
                  <a:tcPr marL="91440" marR="91440" marT="45720" marB="45720">
                    <a:solidFill>
                      <a:srgbClr val="173746"/>
                    </a:solidFill>
                  </a:tcPr>
                </a:tc>
                <a:tc>
                  <a:txBody>
                    <a:bodyPr/>
                    <a:lstStyle/>
                    <a:p>
                      <a:r>
                        <a:rPr sz="1725" b="1">
                          <a:solidFill>
                            <a:srgbClr val="FFFFFF"/>
                          </a:solidFill>
                          <a:latin typeface="Arial"/>
                          <a:ea typeface="Arial"/>
                          <a:cs typeface="Arial"/>
                        </a:rPr>
                        <a:t>Test n</a:t>
                      </a:r>
                    </a:p>
                  </a:txBody>
                  <a:tcPr marL="91440" marR="91440" marT="45720" marB="45720">
                    <a:solidFill>
                      <a:srgbClr val="173746"/>
                    </a:solidFill>
                  </a:tcPr>
                </a:tc>
                <a:tc>
                  <a:txBody>
                    <a:bodyPr/>
                    <a:lstStyle/>
                    <a:p>
                      <a:r>
                        <a:rPr sz="1725" b="1">
                          <a:solidFill>
                            <a:srgbClr val="FFFFFF"/>
                          </a:solidFill>
                          <a:latin typeface="Arial"/>
                          <a:ea typeface="Arial"/>
                          <a:cs typeface="Arial"/>
                        </a:rPr>
                        <a:t>Star accuracy</a:t>
                      </a:r>
                    </a:p>
                  </a:txBody>
                  <a:tcPr marL="91440" marR="91440" marT="45720" marB="45720">
                    <a:solidFill>
                      <a:srgbClr val="173746"/>
                    </a:solidFill>
                  </a:tcPr>
                </a:tc>
                <a:tc>
                  <a:txBody>
                    <a:bodyPr/>
                    <a:lstStyle/>
                    <a:p>
                      <a:r>
                        <a:rPr sz="1725" b="1">
                          <a:solidFill>
                            <a:srgbClr val="FFFFFF"/>
                          </a:solidFill>
                          <a:latin typeface="Arial"/>
                          <a:ea typeface="Arial"/>
                          <a:cs typeface="Arial"/>
                        </a:rPr>
                        <a:t>Polarity macro-F1</a:t>
                      </a:r>
                    </a:p>
                  </a:txBody>
                  <a:tcPr marL="91440" marR="91440" marT="45720" marB="45720">
                    <a:solidFill>
                      <a:srgbClr val="173746"/>
                    </a:solidFill>
                  </a:tcPr>
                </a:tc>
              </a:tr>
              <a:tr h="457200">
                <a:tc>
                  <a:txBody>
                    <a:bodyPr/>
                    <a:lstStyle/>
                    <a:p>
                      <a:r>
                        <a:rPr sz="1725" b="0">
                          <a:solidFill>
                            <a:srgbClr val="173746"/>
                          </a:solidFill>
                          <a:latin typeface="Arial"/>
                          <a:ea typeface="Arial"/>
                          <a:cs typeface="Arial"/>
                        </a:rPr>
                        <a:t>Overall</a:t>
                      </a:r>
                    </a:p>
                  </a:txBody>
                  <a:tcPr marL="91440" marR="91440" marT="45720" marB="45720">
                    <a:solidFill>
                      <a:srgbClr val="FFFFFF"/>
                    </a:solidFill>
                  </a:tcPr>
                </a:tc>
                <a:tc>
                  <a:txBody>
                    <a:bodyPr/>
                    <a:lstStyle/>
                    <a:p>
                      <a:r>
                        <a:rPr sz="1725" b="0">
                          <a:solidFill>
                            <a:srgbClr val="173746"/>
                          </a:solidFill>
                          <a:latin typeface="Arial"/>
                          <a:ea typeface="Arial"/>
                          <a:cs typeface="Arial"/>
                        </a:rPr>
                        <a:t>370</a:t>
                      </a:r>
                    </a:p>
                  </a:txBody>
                  <a:tcPr marL="91440" marR="91440" marT="45720" marB="45720">
                    <a:solidFill>
                      <a:srgbClr val="FFFFFF"/>
                    </a:solidFill>
                  </a:tcPr>
                </a:tc>
                <a:tc>
                  <a:txBody>
                    <a:bodyPr/>
                    <a:lstStyle/>
                    <a:p>
                      <a:r>
                        <a:rPr sz="1725" b="0">
                          <a:solidFill>
                            <a:srgbClr val="173746"/>
                          </a:solidFill>
                          <a:latin typeface="Arial"/>
                          <a:ea typeface="Arial"/>
                          <a:cs typeface="Arial"/>
                        </a:rPr>
                        <a:t>51.1%</a:t>
                      </a:r>
                    </a:p>
                  </a:txBody>
                  <a:tcPr marL="91440" marR="91440" marT="45720" marB="45720">
                    <a:solidFill>
                      <a:srgbClr val="FFFFFF"/>
                    </a:solidFill>
                  </a:tcPr>
                </a:tc>
                <a:tc>
                  <a:txBody>
                    <a:bodyPr/>
                    <a:lstStyle/>
                    <a:p>
                      <a:r>
                        <a:rPr sz="1725" b="0">
                          <a:solidFill>
                            <a:srgbClr val="173746"/>
                          </a:solidFill>
                          <a:latin typeface="Arial"/>
                          <a:ea typeface="Arial"/>
                          <a:cs typeface="Arial"/>
                        </a:rPr>
                        <a:t>0.709</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Service</a:t>
                      </a:r>
                    </a:p>
                  </a:txBody>
                  <a:tcPr marL="91440" marR="91440" marT="45720" marB="45720">
                    <a:solidFill>
                      <a:srgbClr val="F0F5F7"/>
                    </a:solidFill>
                  </a:tcPr>
                </a:tc>
                <a:tc>
                  <a:txBody>
                    <a:bodyPr/>
                    <a:lstStyle/>
                    <a:p>
                      <a:r>
                        <a:rPr sz="1725" b="0">
                          <a:solidFill>
                            <a:srgbClr val="173746"/>
                          </a:solidFill>
                          <a:latin typeface="Arial"/>
                          <a:ea typeface="Arial"/>
                          <a:cs typeface="Arial"/>
                        </a:rPr>
                        <a:t>271</a:t>
                      </a:r>
                    </a:p>
                  </a:txBody>
                  <a:tcPr marL="91440" marR="91440" marT="45720" marB="45720">
                    <a:solidFill>
                      <a:srgbClr val="F0F5F7"/>
                    </a:solidFill>
                  </a:tcPr>
                </a:tc>
                <a:tc>
                  <a:txBody>
                    <a:bodyPr/>
                    <a:lstStyle/>
                    <a:p>
                      <a:r>
                        <a:rPr sz="1725" b="0">
                          <a:solidFill>
                            <a:srgbClr val="173746"/>
                          </a:solidFill>
                          <a:latin typeface="Arial"/>
                          <a:ea typeface="Arial"/>
                          <a:cs typeface="Arial"/>
                        </a:rPr>
                        <a:t>44.6%</a:t>
                      </a:r>
                    </a:p>
                  </a:txBody>
                  <a:tcPr marL="91440" marR="91440" marT="45720" marB="45720">
                    <a:solidFill>
                      <a:srgbClr val="F0F5F7"/>
                    </a:solidFill>
                  </a:tcPr>
                </a:tc>
                <a:tc>
                  <a:txBody>
                    <a:bodyPr/>
                    <a:lstStyle/>
                    <a:p>
                      <a:r>
                        <a:rPr sz="1725" b="0">
                          <a:solidFill>
                            <a:srgbClr val="173746"/>
                          </a:solidFill>
                          <a:latin typeface="Arial"/>
                          <a:ea typeface="Arial"/>
                          <a:cs typeface="Arial"/>
                        </a:rPr>
                        <a:t>0.628</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Rooms</a:t>
                      </a:r>
                    </a:p>
                  </a:txBody>
                  <a:tcPr marL="91440" marR="91440" marT="45720" marB="45720">
                    <a:solidFill>
                      <a:srgbClr val="FFFFFF"/>
                    </a:solidFill>
                  </a:tcPr>
                </a:tc>
                <a:tc>
                  <a:txBody>
                    <a:bodyPr/>
                    <a:lstStyle/>
                    <a:p>
                      <a:r>
                        <a:rPr sz="1725" b="0">
                          <a:solidFill>
                            <a:srgbClr val="173746"/>
                          </a:solidFill>
                          <a:latin typeface="Arial"/>
                          <a:ea typeface="Arial"/>
                          <a:cs typeface="Arial"/>
                        </a:rPr>
                        <a:t>276</a:t>
                      </a:r>
                    </a:p>
                  </a:txBody>
                  <a:tcPr marL="91440" marR="91440" marT="45720" marB="45720">
                    <a:solidFill>
                      <a:srgbClr val="FFFFFF"/>
                    </a:solidFill>
                  </a:tcPr>
                </a:tc>
                <a:tc>
                  <a:txBody>
                    <a:bodyPr/>
                    <a:lstStyle/>
                    <a:p>
                      <a:r>
                        <a:rPr sz="1725" b="0">
                          <a:solidFill>
                            <a:srgbClr val="173746"/>
                          </a:solidFill>
                          <a:latin typeface="Arial"/>
                          <a:ea typeface="Arial"/>
                          <a:cs typeface="Arial"/>
                        </a:rPr>
                        <a:t>39.1%</a:t>
                      </a:r>
                    </a:p>
                  </a:txBody>
                  <a:tcPr marL="91440" marR="91440" marT="45720" marB="45720">
                    <a:solidFill>
                      <a:srgbClr val="FFFFFF"/>
                    </a:solidFill>
                  </a:tcPr>
                </a:tc>
                <a:tc>
                  <a:txBody>
                    <a:bodyPr/>
                    <a:lstStyle/>
                    <a:p>
                      <a:r>
                        <a:rPr sz="1725" b="0">
                          <a:solidFill>
                            <a:srgbClr val="173746"/>
                          </a:solidFill>
                          <a:latin typeface="Arial"/>
                          <a:ea typeface="Arial"/>
                          <a:cs typeface="Arial"/>
                        </a:rPr>
                        <a:t>0.560</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Location</a:t>
                      </a:r>
                    </a:p>
                  </a:txBody>
                  <a:tcPr marL="91440" marR="91440" marT="45720" marB="45720">
                    <a:solidFill>
                      <a:srgbClr val="F0F5F7"/>
                    </a:solidFill>
                  </a:tcPr>
                </a:tc>
                <a:tc>
                  <a:txBody>
                    <a:bodyPr/>
                    <a:lstStyle/>
                    <a:p>
                      <a:r>
                        <a:rPr sz="1725" b="0">
                          <a:solidFill>
                            <a:srgbClr val="173746"/>
                          </a:solidFill>
                          <a:latin typeface="Arial"/>
                          <a:ea typeface="Arial"/>
                          <a:cs typeface="Arial"/>
                        </a:rPr>
                        <a:t>223</a:t>
                      </a:r>
                    </a:p>
                  </a:txBody>
                  <a:tcPr marL="91440" marR="91440" marT="45720" marB="45720">
                    <a:solidFill>
                      <a:srgbClr val="F0F5F7"/>
                    </a:solidFill>
                  </a:tcPr>
                </a:tc>
                <a:tc>
                  <a:txBody>
                    <a:bodyPr/>
                    <a:lstStyle/>
                    <a:p>
                      <a:r>
                        <a:rPr sz="1725" b="0">
                          <a:solidFill>
                            <a:srgbClr val="173746"/>
                          </a:solidFill>
                          <a:latin typeface="Arial"/>
                          <a:ea typeface="Arial"/>
                          <a:cs typeface="Arial"/>
                        </a:rPr>
                        <a:t>47.5%</a:t>
                      </a:r>
                    </a:p>
                  </a:txBody>
                  <a:tcPr marL="91440" marR="91440" marT="45720" marB="45720">
                    <a:solidFill>
                      <a:srgbClr val="F0F5F7"/>
                    </a:solidFill>
                  </a:tcPr>
                </a:tc>
                <a:tc>
                  <a:txBody>
                    <a:bodyPr/>
                    <a:lstStyle/>
                    <a:p>
                      <a:r>
                        <a:rPr sz="1725" b="0">
                          <a:solidFill>
                            <a:srgbClr val="173746"/>
                          </a:solidFill>
                          <a:latin typeface="Arial"/>
                          <a:ea typeface="Arial"/>
                          <a:cs typeface="Arial"/>
                        </a:rPr>
                        <a:t>0.423</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Value</a:t>
                      </a:r>
                    </a:p>
                  </a:txBody>
                  <a:tcPr marL="91440" marR="91440" marT="45720" marB="45720">
                    <a:solidFill>
                      <a:srgbClr val="FFFFFF"/>
                    </a:solidFill>
                  </a:tcPr>
                </a:tc>
                <a:tc>
                  <a:txBody>
                    <a:bodyPr/>
                    <a:lstStyle/>
                    <a:p>
                      <a:r>
                        <a:rPr sz="1725" b="0">
                          <a:solidFill>
                            <a:srgbClr val="173746"/>
                          </a:solidFill>
                          <a:latin typeface="Arial"/>
                          <a:ea typeface="Arial"/>
                          <a:cs typeface="Arial"/>
                        </a:rPr>
                        <a:t>279</a:t>
                      </a:r>
                    </a:p>
                  </a:txBody>
                  <a:tcPr marL="91440" marR="91440" marT="45720" marB="45720">
                    <a:solidFill>
                      <a:srgbClr val="FFFFFF"/>
                    </a:solidFill>
                  </a:tcPr>
                </a:tc>
                <a:tc>
                  <a:txBody>
                    <a:bodyPr/>
                    <a:lstStyle/>
                    <a:p>
                      <a:r>
                        <a:rPr sz="1725" b="0">
                          <a:solidFill>
                            <a:srgbClr val="173746"/>
                          </a:solidFill>
                          <a:latin typeface="Arial"/>
                          <a:ea typeface="Arial"/>
                          <a:cs typeface="Arial"/>
                        </a:rPr>
                        <a:t>46.2%</a:t>
                      </a:r>
                    </a:p>
                  </a:txBody>
                  <a:tcPr marL="91440" marR="91440" marT="45720" marB="45720">
                    <a:solidFill>
                      <a:srgbClr val="FFFFFF"/>
                    </a:solidFill>
                  </a:tcPr>
                </a:tc>
                <a:tc>
                  <a:txBody>
                    <a:bodyPr/>
                    <a:lstStyle/>
                    <a:p>
                      <a:r>
                        <a:rPr sz="1725" b="0">
                          <a:solidFill>
                            <a:srgbClr val="173746"/>
                          </a:solidFill>
                          <a:latin typeface="Arial"/>
                          <a:ea typeface="Arial"/>
                          <a:cs typeface="Arial"/>
                        </a:rPr>
                        <a:t>0.615</a:t>
                      </a:r>
                    </a:p>
                  </a:txBody>
                  <a:tcPr marL="91440" marR="91440" marT="45720" marB="45720">
                    <a:solidFill>
                      <a:srgbClr val="FFFFFF"/>
                    </a:solidFill>
                  </a:tcPr>
                </a:tc>
              </a:tr>
              <a:tr h="457200">
                <a:tc>
                  <a:txBody>
                    <a:bodyPr/>
                    <a:lstStyle/>
                    <a:p>
                      <a:r>
                        <a:rPr sz="1725" b="0">
                          <a:solidFill>
                            <a:srgbClr val="173746"/>
                          </a:solidFill>
                          <a:latin typeface="Arial"/>
                          <a:ea typeface="Arial"/>
                          <a:cs typeface="Arial"/>
                        </a:rPr>
                        <a:t>Cleanliness</a:t>
                      </a:r>
                    </a:p>
                  </a:txBody>
                  <a:tcPr marL="91440" marR="91440" marT="45720" marB="45720">
                    <a:solidFill>
                      <a:srgbClr val="F0F5F7"/>
                    </a:solidFill>
                  </a:tcPr>
                </a:tc>
                <a:tc>
                  <a:txBody>
                    <a:bodyPr/>
                    <a:lstStyle/>
                    <a:p>
                      <a:r>
                        <a:rPr sz="1725" b="0">
                          <a:solidFill>
                            <a:srgbClr val="173746"/>
                          </a:solidFill>
                          <a:latin typeface="Arial"/>
                          <a:ea typeface="Arial"/>
                          <a:cs typeface="Arial"/>
                        </a:rPr>
                        <a:t>278</a:t>
                      </a:r>
                    </a:p>
                  </a:txBody>
                  <a:tcPr marL="91440" marR="91440" marT="45720" marB="45720">
                    <a:solidFill>
                      <a:srgbClr val="F0F5F7"/>
                    </a:solidFill>
                  </a:tcPr>
                </a:tc>
                <a:tc>
                  <a:txBody>
                    <a:bodyPr/>
                    <a:lstStyle/>
                    <a:p>
                      <a:r>
                        <a:rPr sz="1725" b="0">
                          <a:solidFill>
                            <a:srgbClr val="173746"/>
                          </a:solidFill>
                          <a:latin typeface="Arial"/>
                          <a:ea typeface="Arial"/>
                          <a:cs typeface="Arial"/>
                        </a:rPr>
                        <a:t>46.4%</a:t>
                      </a:r>
                    </a:p>
                  </a:txBody>
                  <a:tcPr marL="91440" marR="91440" marT="45720" marB="45720">
                    <a:solidFill>
                      <a:srgbClr val="F0F5F7"/>
                    </a:solidFill>
                  </a:tcPr>
                </a:tc>
                <a:tc>
                  <a:txBody>
                    <a:bodyPr/>
                    <a:lstStyle/>
                    <a:p>
                      <a:r>
                        <a:rPr sz="1725" b="0">
                          <a:solidFill>
                            <a:srgbClr val="173746"/>
                          </a:solidFill>
                          <a:latin typeface="Arial"/>
                          <a:ea typeface="Arial"/>
                          <a:cs typeface="Arial"/>
                        </a:rPr>
                        <a:t>0.539</a:t>
                      </a:r>
                    </a:p>
                  </a:txBody>
                  <a:tcPr marL="91440" marR="91440" marT="45720" marB="45720">
                    <a:solidFill>
                      <a:srgbClr val="F0F5F7"/>
                    </a:solidFill>
                  </a:tcPr>
                </a:tc>
              </a:tr>
              <a:tr h="457200">
                <a:tc>
                  <a:txBody>
                    <a:bodyPr/>
                    <a:lstStyle/>
                    <a:p>
                      <a:r>
                        <a:rPr sz="1725" b="0">
                          <a:solidFill>
                            <a:srgbClr val="173746"/>
                          </a:solidFill>
                          <a:latin typeface="Arial"/>
                          <a:ea typeface="Arial"/>
                          <a:cs typeface="Arial"/>
                        </a:rPr>
                        <a:t>Business Service</a:t>
                      </a:r>
                    </a:p>
                  </a:txBody>
                  <a:tcPr marL="91440" marR="91440" marT="45720" marB="45720">
                    <a:solidFill>
                      <a:srgbClr val="FFFFFF"/>
                    </a:solidFill>
                  </a:tcPr>
                </a:tc>
                <a:tc>
                  <a:txBody>
                    <a:bodyPr/>
                    <a:lstStyle/>
                    <a:p>
                      <a:r>
                        <a:rPr sz="1725" b="0">
                          <a:solidFill>
                            <a:srgbClr val="173746"/>
                          </a:solidFill>
                          <a:latin typeface="Arial"/>
                          <a:ea typeface="Arial"/>
                          <a:cs typeface="Arial"/>
                        </a:rPr>
                        <a:t>130</a:t>
                      </a:r>
                    </a:p>
                  </a:txBody>
                  <a:tcPr marL="91440" marR="91440" marT="45720" marB="45720">
                    <a:solidFill>
                      <a:srgbClr val="FFFFFF"/>
                    </a:solidFill>
                  </a:tcPr>
                </a:tc>
                <a:tc>
                  <a:txBody>
                    <a:bodyPr/>
                    <a:lstStyle/>
                    <a:p>
                      <a:r>
                        <a:rPr sz="1725" b="0">
                          <a:solidFill>
                            <a:srgbClr val="173746"/>
                          </a:solidFill>
                          <a:latin typeface="Arial"/>
                          <a:ea typeface="Arial"/>
                          <a:cs typeface="Arial"/>
                        </a:rPr>
                        <a:t>38.5%</a:t>
                      </a:r>
                    </a:p>
                  </a:txBody>
                  <a:tcPr marL="91440" marR="91440" marT="45720" marB="45720">
                    <a:solidFill>
                      <a:srgbClr val="FFFFFF"/>
                    </a:solidFill>
                  </a:tcPr>
                </a:tc>
                <a:tc>
                  <a:txBody>
                    <a:bodyPr/>
                    <a:lstStyle/>
                    <a:p>
                      <a:r>
                        <a:rPr sz="1725" b="0">
                          <a:solidFill>
                            <a:srgbClr val="173746"/>
                          </a:solidFill>
                          <a:latin typeface="Arial"/>
                          <a:ea typeface="Arial"/>
                          <a:cs typeface="Arial"/>
                        </a:rPr>
                        <a:t>0.558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C02A2E0-DB7C-4372-B54E-19FF5CE9F345}"/>
              </a:ext>
            </a:extLst>
          </p:cNvPr>
          <p:cNvSpPr>
            <a:spLocks xmlns:a="http://schemas.openxmlformats.org/drawingml/2006/main" noGrp="1"/>
          </p:cNvSpPr>
          <p:nvPr/>
        </p:nvSpPr>
        <p:spPr>
          <a:xfrm xmlns:a="http://schemas.openxmlformats.org/drawingml/2006/main">
            <a:off x="723900" y="55054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6B87"/>
                </a:solidFill>
                <a:latin typeface="Arial"/>
                <a:ea typeface="Arial"/>
                <a:cs typeface="Arial"/>
              </a:defRPr>
            </a:defPPr>
          </a:lstStyle>
          <a:p xmlns:a="http://schemas.openxmlformats.org/drawingml/2006/main">
            <a:pPr>
              <a:defRPr sz="2175" b="1">
                <a:solidFill>
                  <a:srgbClr val="176B87"/>
                </a:solidFill>
                <a:latin typeface="Arial"/>
                <a:ea typeface="Arial"/>
                <a:cs typeface="Arial"/>
              </a:defRPr>
            </a:pPr>
            <a:r>
              <a:rPr sz="2175" b="1">
                <a:solidFill>
                  <a:srgbClr val="176B87"/>
                </a:solidFill>
                <a:latin typeface="Arial"/>
                <a:ea typeface="Arial"/>
                <a:cs typeface="Arial"/>
              </a:rPr>
              <a:t>High polarity accuracy does not guarantee precise star ratings.</a:t>
            </a:r>
          </a:p>
        </p:txBody>
      </p:sp>
    </p:spTree>
    <p:extLst>
      <p:ext uri="{BB962C8B-B14F-4D97-AF65-F5344CB8AC3E}">
        <p14:creationId xmlns:p14="http://schemas.microsoft.com/office/powerpoint/2010/main" val="6789247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4207FE-74F6-474E-B978-D1C2DC309E97}"/>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What the errors tell us</a:t>
            </a:r>
          </a:p>
        </p:txBody>
      </p:sp>
      <p:sp>
        <p:nvSpPr>
          <p:cNvPr id="2" name="">
            <a:extLst xmlns:a="http://schemas.openxmlformats.org/drawingml/2006/main">
              <a:ext uri="{FF2B5EF4-FFF2-40B4-BE49-F238E27FC236}">
                <a16:creationId xmlns:a16="http://schemas.microsoft.com/office/drawing/2014/main" id="{B45FC3A0-49FD-42CE-AF19-DE4B0FFE8E24}"/>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8</a:t>
            </a:r>
          </a:p>
        </p:txBody>
      </p:sp>
      <p:sp>
        <p:nvSpPr>
          <p:cNvPr id="3" name="">
            <a:extLst xmlns:a="http://schemas.openxmlformats.org/drawingml/2006/main">
              <a:ext uri="{FF2B5EF4-FFF2-40B4-BE49-F238E27FC236}">
                <a16:creationId xmlns:a16="http://schemas.microsoft.com/office/drawing/2014/main" id="{D8A9FEBF-4DB0-477D-AEC4-18FEA0ED758A}"/>
              </a:ext>
            </a:extLst>
          </p:cNvPr>
          <p:cNvSpPr>
            <a:spLocks xmlns:a="http://schemas.openxmlformats.org/drawingml/2006/main" noGrp="1"/>
          </p:cNvSpPr>
          <p:nvPr/>
        </p:nvSpPr>
        <p:spPr>
          <a:xfrm xmlns:a="http://schemas.openxmlformats.org/drawingml/2006/main">
            <a:off x="723900" y="15240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Location macro-F1 is 0.423 despite 74.4% accuracy.</a:t>
            </a:r>
          </a:p>
        </p:txBody>
      </p:sp>
      <p:sp>
        <p:nvSpPr>
          <p:cNvPr id="4" name="">
            <a:extLst xmlns:a="http://schemas.openxmlformats.org/drawingml/2006/main">
              <a:ext uri="{FF2B5EF4-FFF2-40B4-BE49-F238E27FC236}">
                <a16:creationId xmlns:a16="http://schemas.microsoft.com/office/drawing/2014/main" id="{64B553FF-089B-4E07-9CA8-3A86B91BAAF3}"/>
              </a:ext>
            </a:extLst>
          </p:cNvPr>
          <p:cNvSpPr>
            <a:spLocks xmlns:a="http://schemas.openxmlformats.org/drawingml/2006/main" noGrp="1"/>
          </p:cNvSpPr>
          <p:nvPr/>
        </p:nvSpPr>
        <p:spPr>
          <a:xfrm xmlns:a="http://schemas.openxmlformats.org/drawingml/2006/main">
            <a:off x="723900" y="26098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Aspect models beat overall-label transfer on only three aspects.</a:t>
            </a:r>
          </a:p>
        </p:txBody>
      </p:sp>
      <p:sp>
        <p:nvSpPr>
          <p:cNvPr id="5" name="">
            <a:extLst xmlns:a="http://schemas.openxmlformats.org/drawingml/2006/main">
              <a:ext uri="{FF2B5EF4-FFF2-40B4-BE49-F238E27FC236}">
                <a16:creationId xmlns:a16="http://schemas.microsoft.com/office/drawing/2014/main" id="{4BADE994-B03C-44FD-A3AE-755DA8A01B3E}"/>
              </a:ext>
            </a:extLst>
          </p:cNvPr>
          <p:cNvSpPr>
            <a:spLocks xmlns:a="http://schemas.openxmlformats.org/drawingml/2006/main" noGrp="1"/>
          </p:cNvSpPr>
          <p:nvPr/>
        </p:nvSpPr>
        <p:spPr>
          <a:xfrm xmlns:a="http://schemas.openxmlformats.org/drawingml/2006/main">
            <a:off x="723900" y="36957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Whole-review features can mix opposing opinions.</a:t>
            </a:r>
          </a:p>
        </p:txBody>
      </p:sp>
      <p:sp>
        <p:nvSpPr>
          <p:cNvPr id="6" name="">
            <a:extLst xmlns:a="http://schemas.openxmlformats.org/drawingml/2006/main">
              <a:ext uri="{FF2B5EF4-FFF2-40B4-BE49-F238E27FC236}">
                <a16:creationId xmlns:a16="http://schemas.microsoft.com/office/drawing/2014/main" id="{32FEFCFD-DF2F-4276-BD26-BAB3EC0B02B3}"/>
              </a:ext>
            </a:extLst>
          </p:cNvPr>
          <p:cNvSpPr>
            <a:spLocks xmlns:a="http://schemas.openxmlformats.org/drawingml/2006/main" noGrp="1"/>
          </p:cNvSpPr>
          <p:nvPr/>
        </p:nvSpPr>
        <p:spPr>
          <a:xfrm xmlns:a="http://schemas.openxmlformats.org/drawingml/2006/main">
            <a:off x="723900" y="47815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Sleep quality lacks real labels; keyword mention detection is unevaluated.</a:t>
            </a:r>
          </a:p>
        </p:txBody>
      </p:sp>
    </p:spTree>
    <p:extLst>
      <p:ext uri="{BB962C8B-B14F-4D97-AF65-F5344CB8AC3E}">
        <p14:creationId xmlns:p14="http://schemas.microsoft.com/office/powerpoint/2010/main" val="4375919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F28486-B4B3-4DF4-8316-1BEACA5F8466}"/>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Software verification</a:t>
            </a:r>
          </a:p>
        </p:txBody>
      </p:sp>
      <p:sp>
        <p:nvSpPr>
          <p:cNvPr id="2" name="">
            <a:extLst xmlns:a="http://schemas.openxmlformats.org/drawingml/2006/main">
              <a:ext uri="{FF2B5EF4-FFF2-40B4-BE49-F238E27FC236}">
                <a16:creationId xmlns:a16="http://schemas.microsoft.com/office/drawing/2014/main" id="{8B761856-CA1C-4CD9-ADF8-276A46A3E8D0}"/>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9</a:t>
            </a:r>
          </a:p>
        </p:txBody>
      </p:sp>
      <p:sp>
        <p:nvSpPr>
          <p:cNvPr id="3" name="">
            <a:extLst xmlns:a="http://schemas.openxmlformats.org/drawingml/2006/main">
              <a:ext uri="{FF2B5EF4-FFF2-40B4-BE49-F238E27FC236}">
                <a16:creationId xmlns:a16="http://schemas.microsoft.com/office/drawing/2014/main" id="{0BF1D6D3-FA47-4FB6-A83B-0FA614876C7F}"/>
              </a:ext>
            </a:extLst>
          </p:cNvPr>
          <p:cNvSpPr>
            <a:spLocks xmlns:a="http://schemas.openxmlformats.org/drawingml/2006/main" noGrp="1"/>
          </p:cNvSpPr>
          <p:nvPr/>
        </p:nvSpPr>
        <p:spPr>
          <a:xfrm xmlns:a="http://schemas.openxmlformats.org/drawingml/2006/main">
            <a:off x="723900" y="14763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650" b="1">
                <a:solidFill>
                  <a:srgbClr val="176B87"/>
                </a:solidFill>
                <a:latin typeface="Arial"/>
                <a:ea typeface="Arial"/>
                <a:cs typeface="Arial"/>
              </a:defRPr>
            </a:defPPr>
          </a:lstStyle>
          <a:p xmlns:a="http://schemas.openxmlformats.org/drawingml/2006/main">
            <a:pPr>
              <a:defRPr sz="4650" b="1">
                <a:solidFill>
                  <a:srgbClr val="176B87"/>
                </a:solidFill>
                <a:latin typeface="Arial"/>
                <a:ea typeface="Arial"/>
                <a:cs typeface="Arial"/>
              </a:defRPr>
            </a:pPr>
            <a:r>
              <a:rPr sz="4650" b="1">
                <a:solidFill>
                  <a:srgbClr val="176B87"/>
                </a:solidFill>
                <a:latin typeface="Arial"/>
                <a:ea typeface="Arial"/>
                <a:cs typeface="Arial"/>
              </a:rPr>
              <a:t>42 tests passed</a:t>
            </a:r>
          </a:p>
        </p:txBody>
      </p:sp>
      <p:sp>
        <p:nvSpPr>
          <p:cNvPr id="4" name="">
            <a:extLst xmlns:a="http://schemas.openxmlformats.org/drawingml/2006/main">
              <a:ext uri="{FF2B5EF4-FFF2-40B4-BE49-F238E27FC236}">
                <a16:creationId xmlns:a16="http://schemas.microsoft.com/office/drawing/2014/main" id="{9360D5F2-20EE-4A93-B187-C2F2C0A1917E}"/>
              </a:ext>
            </a:extLst>
          </p:cNvPr>
          <p:cNvSpPr>
            <a:spLocks xmlns:a="http://schemas.openxmlformats.org/drawingml/2006/main" noGrp="1"/>
          </p:cNvSpPr>
          <p:nvPr/>
        </p:nvSpPr>
        <p:spPr>
          <a:xfrm xmlns:a="http://schemas.openxmlformats.org/drawingml/2006/main">
            <a:off x="723900" y="2857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46"/>
                </a:solidFill>
                <a:latin typeface="Arial"/>
                <a:ea typeface="Arial"/>
                <a:cs typeface="Arial"/>
              </a:defRPr>
            </a:defPPr>
          </a:lstStyle>
          <a:p xmlns:a="http://schemas.openxmlformats.org/drawingml/2006/main">
            <a:pPr>
              <a:defRPr sz="2100" b="0">
                <a:solidFill>
                  <a:srgbClr val="173746"/>
                </a:solidFill>
                <a:latin typeface="Arial"/>
                <a:ea typeface="Arial"/>
                <a:cs typeface="Arial"/>
              </a:defRPr>
            </a:pPr>
            <a:r>
              <a:rPr sz="2100" b="0">
                <a:solidFill>
                  <a:srgbClr val="173746"/>
                </a:solidFill>
                <a:latin typeface="Arial"/>
                <a:ea typeface="Arial"/>
                <a:cs typeface="Arial"/>
              </a:rPr>
              <a:t>Input validation, duplicate checks and hotel separation</a:t>
            </a:r>
          </a:p>
        </p:txBody>
      </p:sp>
      <p:sp>
        <p:nvSpPr>
          <p:cNvPr id="5" name="">
            <a:extLst xmlns:a="http://schemas.openxmlformats.org/drawingml/2006/main">
              <a:ext uri="{FF2B5EF4-FFF2-40B4-BE49-F238E27FC236}">
                <a16:creationId xmlns:a16="http://schemas.microsoft.com/office/drawing/2014/main" id="{9B6A9315-71E8-4AFE-AB7A-FBFD172A7279}"/>
              </a:ext>
            </a:extLst>
          </p:cNvPr>
          <p:cNvSpPr>
            <a:spLocks xmlns:a="http://schemas.openxmlformats.org/drawingml/2006/main" noGrp="1"/>
          </p:cNvSpPr>
          <p:nvPr/>
        </p:nvSpPr>
        <p:spPr>
          <a:xfrm xmlns:a="http://schemas.openxmlformats.org/drawingml/2006/main">
            <a:off x="723900" y="3619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46"/>
                </a:solidFill>
                <a:latin typeface="Arial"/>
                <a:ea typeface="Arial"/>
                <a:cs typeface="Arial"/>
              </a:defRPr>
            </a:defPPr>
          </a:lstStyle>
          <a:p xmlns:a="http://schemas.openxmlformats.org/drawingml/2006/main">
            <a:pPr>
              <a:defRPr sz="2100" b="0">
                <a:solidFill>
                  <a:srgbClr val="173746"/>
                </a:solidFill>
                <a:latin typeface="Arial"/>
                <a:ea typeface="Arial"/>
                <a:cs typeface="Arial"/>
              </a:defRPr>
            </a:pPr>
            <a:r>
              <a:rPr sz="2100" b="0">
                <a:solidFill>
                  <a:srgbClr val="173746"/>
                </a:solidFill>
                <a:latin typeface="Arial"/>
                <a:ea typeface="Arial"/>
                <a:cs typeface="Arial"/>
              </a:rPr>
              <a:t>Validation-only selection and training-only vocabulary</a:t>
            </a:r>
          </a:p>
        </p:txBody>
      </p:sp>
      <p:sp>
        <p:nvSpPr>
          <p:cNvPr id="6" name="">
            <a:extLst xmlns:a="http://schemas.openxmlformats.org/drawingml/2006/main">
              <a:ext uri="{FF2B5EF4-FFF2-40B4-BE49-F238E27FC236}">
                <a16:creationId xmlns:a16="http://schemas.microsoft.com/office/drawing/2014/main" id="{59C0CC2D-5C4D-4860-9DDB-7DB92C97E7CB}"/>
              </a:ext>
            </a:extLst>
          </p:cNvPr>
          <p:cNvSpPr>
            <a:spLocks xmlns:a="http://schemas.openxmlformats.org/drawingml/2006/main" noGrp="1"/>
          </p:cNvSpPr>
          <p:nvPr/>
        </p:nvSpPr>
        <p:spPr>
          <a:xfrm xmlns:a="http://schemas.openxmlformats.org/drawingml/2006/main">
            <a:off x="723900"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46"/>
                </a:solidFill>
                <a:latin typeface="Arial"/>
                <a:ea typeface="Arial"/>
                <a:cs typeface="Arial"/>
              </a:defRPr>
            </a:defPPr>
          </a:lstStyle>
          <a:p xmlns:a="http://schemas.openxmlformats.org/drawingml/2006/main">
            <a:pPr>
              <a:defRPr sz="2100" b="0">
                <a:solidFill>
                  <a:srgbClr val="173746"/>
                </a:solidFill>
                <a:latin typeface="Arial"/>
                <a:ea typeface="Arial"/>
                <a:cs typeface="Arial"/>
              </a:defRPr>
            </a:pPr>
            <a:r>
              <a:rPr sz="2100" b="0">
                <a:solidFill>
                  <a:srgbClr val="173746"/>
                </a:solidFill>
                <a:latin typeface="Arial"/>
                <a:ea typeface="Arial"/>
                <a:cs typeface="Arial"/>
              </a:rPr>
              <a:t>Model integrity, CLI inference and saved metric agreement</a:t>
            </a:r>
          </a:p>
        </p:txBody>
      </p:sp>
      <p:sp>
        <p:nvSpPr>
          <p:cNvPr id="7" name="">
            <a:extLst xmlns:a="http://schemas.openxmlformats.org/drawingml/2006/main">
              <a:ext uri="{FF2B5EF4-FFF2-40B4-BE49-F238E27FC236}">
                <a16:creationId xmlns:a16="http://schemas.microsoft.com/office/drawing/2014/main" id="{805952EC-381E-4887-A20B-3CD119F07F2E}"/>
              </a:ext>
            </a:extLst>
          </p:cNvPr>
          <p:cNvSpPr>
            <a:spLocks xmlns:a="http://schemas.openxmlformats.org/drawingml/2006/main" noGrp="1"/>
          </p:cNvSpPr>
          <p:nvPr/>
        </p:nvSpPr>
        <p:spPr>
          <a:xfrm xmlns:a="http://schemas.openxmlformats.org/drawingml/2006/main">
            <a:off x="723900" y="5143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746"/>
                </a:solidFill>
                <a:latin typeface="Arial"/>
                <a:ea typeface="Arial"/>
                <a:cs typeface="Arial"/>
              </a:defRPr>
            </a:defPPr>
          </a:lstStyle>
          <a:p xmlns:a="http://schemas.openxmlformats.org/drawingml/2006/main">
            <a:pPr>
              <a:defRPr sz="2100" b="0">
                <a:solidFill>
                  <a:srgbClr val="173746"/>
                </a:solidFill>
                <a:latin typeface="Arial"/>
                <a:ea typeface="Arial"/>
                <a:cs typeface="Arial"/>
              </a:defRPr>
            </a:pPr>
            <a:r>
              <a:rPr sz="2100" b="0">
                <a:solidFill>
                  <a:srgbClr val="173746"/>
                </a:solidFill>
                <a:latin typeface="Arial"/>
                <a:ea typeface="Arial"/>
                <a:cs typeface="Arial"/>
              </a:rPr>
              <a:t>Streamlit prediction flow, missing aspects and invalid input</a:t>
            </a:r>
          </a:p>
        </p:txBody>
      </p:sp>
    </p:spTree>
    <p:extLst>
      <p:ext uri="{BB962C8B-B14F-4D97-AF65-F5344CB8AC3E}">
        <p14:creationId xmlns:p14="http://schemas.microsoft.com/office/powerpoint/2010/main" val="14001171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9EFD19-B206-466F-B57D-C3BBB1637623}"/>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Example predictions and live demo</a:t>
            </a:r>
          </a:p>
        </p:txBody>
      </p:sp>
      <p:sp>
        <p:nvSpPr>
          <p:cNvPr id="2" name="">
            <a:extLst xmlns:a="http://schemas.openxmlformats.org/drawingml/2006/main">
              <a:ext uri="{FF2B5EF4-FFF2-40B4-BE49-F238E27FC236}">
                <a16:creationId xmlns:a16="http://schemas.microsoft.com/office/drawing/2014/main" id="{659BCD8E-AFEC-4C30-955E-84EFDFFBB113}"/>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10</a:t>
            </a:r>
          </a:p>
        </p:txBody>
      </p:sp>
      <p:sp>
        <p:nvSpPr>
          <p:cNvPr id="3" name="">
            <a:extLst xmlns:a="http://schemas.openxmlformats.org/drawingml/2006/main">
              <a:ext uri="{FF2B5EF4-FFF2-40B4-BE49-F238E27FC236}">
                <a16:creationId xmlns:a16="http://schemas.microsoft.com/office/drawing/2014/main" id="{2868972C-F3C3-49E2-8D8A-CD5E363986AA}"/>
              </a:ext>
            </a:extLst>
          </p:cNvPr>
          <p:cNvSpPr>
            <a:spLocks xmlns:a="http://schemas.openxmlformats.org/drawingml/2006/main" noGrp="1"/>
          </p:cNvSpPr>
          <p:nvPr/>
        </p:nvSpPr>
        <p:spPr>
          <a:xfrm xmlns:a="http://schemas.openxmlformats.org/drawingml/2006/main">
            <a:off x="723900" y="15240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“The room was clean and spacious, but the staff was rude and the breakfast was disappointing.”</a:t>
            </a:r>
          </a:p>
        </p:txBody>
      </p:sp>
      <p:sp>
        <p:nvSpPr>
          <p:cNvPr id="4" name="">
            <a:extLst xmlns:a="http://schemas.openxmlformats.org/drawingml/2006/main">
              <a:ext uri="{FF2B5EF4-FFF2-40B4-BE49-F238E27FC236}">
                <a16:creationId xmlns:a16="http://schemas.microsoft.com/office/drawing/2014/main" id="{7DA3D842-2612-4612-9357-542854BA5C7D}"/>
              </a:ext>
            </a:extLst>
          </p:cNvPr>
          <p:cNvSpPr>
            <a:spLocks xmlns:a="http://schemas.openxmlformats.org/drawingml/2006/main" noGrp="1"/>
          </p:cNvSpPr>
          <p:nvPr/>
        </p:nvSpPr>
        <p:spPr>
          <a:xfrm xmlns:a="http://schemas.openxmlformats.org/drawingml/2006/main">
            <a:off x="723900" y="25241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Predicted stars: overall 4, service 4, rooms 3, cleanliness 4.</a:t>
            </a:r>
          </a:p>
        </p:txBody>
      </p:sp>
      <p:sp>
        <p:nvSpPr>
          <p:cNvPr id="5" name="">
            <a:extLst xmlns:a="http://schemas.openxmlformats.org/drawingml/2006/main">
              <a:ext uri="{FF2B5EF4-FFF2-40B4-BE49-F238E27FC236}">
                <a16:creationId xmlns:a16="http://schemas.microsoft.com/office/drawing/2014/main" id="{CF6E43AE-BC3A-4655-B322-218EE4615AC6}"/>
              </a:ext>
            </a:extLst>
          </p:cNvPr>
          <p:cNvSpPr>
            <a:spLocks xmlns:a="http://schemas.openxmlformats.org/drawingml/2006/main" noGrp="1"/>
          </p:cNvSpPr>
          <p:nvPr/>
        </p:nvSpPr>
        <p:spPr>
          <a:xfrm xmlns:a="http://schemas.openxmlformats.org/drawingml/2006/main">
            <a:off x="723900" y="3524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Error: positive service conflicts with “staff was rude”.</a:t>
            </a:r>
          </a:p>
        </p:txBody>
      </p:sp>
      <p:sp>
        <p:nvSpPr>
          <p:cNvPr id="6" name="">
            <a:extLst xmlns:a="http://schemas.openxmlformats.org/drawingml/2006/main">
              <a:ext uri="{FF2B5EF4-FFF2-40B4-BE49-F238E27FC236}">
                <a16:creationId xmlns:a16="http://schemas.microsoft.com/office/drawing/2014/main" id="{F479B832-DE7E-461D-90FD-D8A92A2C2CB4}"/>
              </a:ext>
            </a:extLst>
          </p:cNvPr>
          <p:cNvSpPr>
            <a:spLocks xmlns:a="http://schemas.openxmlformats.org/drawingml/2006/main" noGrp="1"/>
          </p:cNvSpPr>
          <p:nvPr/>
        </p:nvSpPr>
        <p:spPr>
          <a:xfrm xmlns:a="http://schemas.openxmlformats.org/drawingml/2006/main">
            <a:off x="723900" y="4524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73746"/>
                </a:solidFill>
                <a:latin typeface="Arial"/>
                <a:ea typeface="Arial"/>
                <a:cs typeface="Arial"/>
              </a:defRPr>
            </a:defPPr>
          </a:lstStyle>
          <a:p xmlns:a="http://schemas.openxmlformats.org/drawingml/2006/main">
            <a:pPr>
              <a:defRPr sz="2250" b="0">
                <a:solidFill>
                  <a:srgbClr val="173746"/>
                </a:solidFill>
                <a:latin typeface="Arial"/>
                <a:ea typeface="Arial"/>
                <a:cs typeface="Arial"/>
              </a:defRPr>
            </a:pPr>
            <a:r>
              <a:rPr sz="2250" b="0">
                <a:solidFill>
                  <a:srgbClr val="173746"/>
                </a:solidFill>
                <a:latin typeface="Arial"/>
                <a:ea typeface="Arial"/>
                <a:cs typeface="Arial"/>
              </a:rPr>
              <a:t>Breakfast has no model. See all five cases in DEMO_GUIDE.md.</a:t>
            </a:r>
          </a:p>
        </p:txBody>
      </p:sp>
      <p:sp>
        <p:nvSpPr>
          <p:cNvPr id="7" name="">
            <a:extLst xmlns:a="http://schemas.openxmlformats.org/drawingml/2006/main">
              <a:ext uri="{FF2B5EF4-FFF2-40B4-BE49-F238E27FC236}">
                <a16:creationId xmlns:a16="http://schemas.microsoft.com/office/drawing/2014/main" id="{FC52DE05-5B83-4A58-80CB-5BED73C4A5C5}"/>
              </a:ext>
            </a:extLst>
          </p:cNvPr>
          <p:cNvSpPr>
            <a:spLocks xmlns:a="http://schemas.openxmlformats.org/drawingml/2006/main" noGrp="1"/>
          </p:cNvSpPr>
          <p:nvPr/>
        </p:nvSpPr>
        <p:spPr>
          <a:xfrm xmlns:a="http://schemas.openxmlformats.org/drawingml/2006/main">
            <a:off x="723900" y="57340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6B87"/>
                </a:solidFill>
                <a:latin typeface="Arial"/>
                <a:ea typeface="Arial"/>
                <a:cs typeface="Arial"/>
              </a:defRPr>
            </a:defPPr>
          </a:lstStyle>
          <a:p xmlns:a="http://schemas.openxmlformats.org/drawingml/2006/main">
            <a:pPr>
              <a:defRPr sz="1950" b="1">
                <a:solidFill>
                  <a:srgbClr val="176B87"/>
                </a:solidFill>
                <a:latin typeface="Arial"/>
                <a:ea typeface="Arial"/>
                <a:cs typeface="Arial"/>
              </a:defRPr>
            </a:pPr>
            <a:r>
              <a:rPr sz="1950" b="1">
                <a:solidFill>
                  <a:srgbClr val="176B87"/>
                </a:solidFill>
                <a:latin typeface="Arial"/>
                <a:ea typeface="Arial"/>
                <a:cs typeface="Arial"/>
              </a:rPr>
              <a:t>python -m streamlit run streamlit_app.py</a:t>
            </a:r>
          </a:p>
        </p:txBody>
      </p:sp>
    </p:spTree>
    <p:extLst>
      <p:ext uri="{BB962C8B-B14F-4D97-AF65-F5344CB8AC3E}">
        <p14:creationId xmlns:p14="http://schemas.microsoft.com/office/powerpoint/2010/main" val="629935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6B2DCF-BB3E-4447-88D7-F09A749596A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173746"/>
                </a:solidFill>
                <a:latin typeface="Arial"/>
                <a:ea typeface="Arial"/>
                <a:cs typeface="Arial"/>
              </a:defRPr>
            </a:defPPr>
          </a:lstStyle>
          <a:p xmlns:a="http://schemas.openxmlformats.org/drawingml/2006/main">
            <a:pPr>
              <a:defRPr sz="3225" b="1">
                <a:solidFill>
                  <a:srgbClr val="173746"/>
                </a:solidFill>
                <a:latin typeface="Arial"/>
                <a:ea typeface="Arial"/>
                <a:cs typeface="Arial"/>
              </a:defRPr>
            </a:pPr>
            <a:r>
              <a:rPr sz="3225" b="1">
                <a:solidFill>
                  <a:srgbClr val="173746"/>
                </a:solidFill>
                <a:latin typeface="Arial"/>
                <a:ea typeface="Arial"/>
                <a:cs typeface="Arial"/>
              </a:rPr>
              <a:t>Conclusion and next steps</a:t>
            </a:r>
          </a:p>
        </p:txBody>
      </p:sp>
      <p:sp>
        <p:nvSpPr>
          <p:cNvPr id="2" name="">
            <a:extLst xmlns:a="http://schemas.openxmlformats.org/drawingml/2006/main">
              <a:ext uri="{FF2B5EF4-FFF2-40B4-BE49-F238E27FC236}">
                <a16:creationId xmlns:a16="http://schemas.microsoft.com/office/drawing/2014/main" id="{132D9781-D441-41DF-A3B6-7AD92A6FFA5D}"/>
              </a:ext>
            </a:extLst>
          </p:cNvPr>
          <p:cNvSpPr>
            <a:spLocks xmlns:a="http://schemas.openxmlformats.org/drawingml/2006/main" noGrp="1"/>
          </p:cNvSpPr>
          <p:nvPr/>
        </p:nvSpPr>
        <p:spPr>
          <a:xfrm xmlns:a="http://schemas.openxmlformats.org/drawingml/2006/main">
            <a:off x="609600" y="6419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3646C"/>
                </a:solidFill>
                <a:latin typeface="Arial"/>
                <a:ea typeface="Arial"/>
                <a:cs typeface="Arial"/>
              </a:defRPr>
            </a:defPPr>
          </a:lstStyle>
          <a:p xmlns:a="http://schemas.openxmlformats.org/drawingml/2006/main">
            <a:pPr>
              <a:defRPr sz="1200" b="0">
                <a:solidFill>
                  <a:srgbClr val="53646C"/>
                </a:solidFill>
                <a:latin typeface="Arial"/>
                <a:ea typeface="Arial"/>
                <a:cs typeface="Arial"/>
              </a:defRPr>
            </a:pPr>
            <a:r>
              <a:rPr sz="1200" b="0">
                <a:solidFill>
                  <a:srgbClr val="53646C"/>
                </a:solidFill>
                <a:latin typeface="Arial"/>
                <a:ea typeface="Arial"/>
                <a:cs typeface="Arial"/>
              </a:rPr>
              <a:t>Team 22 · UE24CS352A                                     11</a:t>
            </a:r>
          </a:p>
        </p:txBody>
      </p:sp>
      <p:sp>
        <p:nvSpPr>
          <p:cNvPr id="3" name="">
            <a:extLst xmlns:a="http://schemas.openxmlformats.org/drawingml/2006/main">
              <a:ext uri="{FF2B5EF4-FFF2-40B4-BE49-F238E27FC236}">
                <a16:creationId xmlns:a16="http://schemas.microsoft.com/office/drawing/2014/main" id="{D0CF23EA-1F44-40D0-8ABE-0C217BF67CD3}"/>
              </a:ext>
            </a:extLst>
          </p:cNvPr>
          <p:cNvSpPr>
            <a:spLocks xmlns:a="http://schemas.openxmlformats.org/drawingml/2006/main" noGrp="1"/>
          </p:cNvSpPr>
          <p:nvPr/>
        </p:nvSpPr>
        <p:spPr>
          <a:xfrm xmlns:a="http://schemas.openxmlformats.org/drawingml/2006/main">
            <a:off x="723900" y="1476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73746"/>
                </a:solidFill>
                <a:latin typeface="Arial"/>
                <a:ea typeface="Arial"/>
                <a:cs typeface="Arial"/>
              </a:defRPr>
            </a:defPPr>
          </a:lstStyle>
          <a:p xmlns:a="http://schemas.openxmlformats.org/drawingml/2006/main">
            <a:pPr>
              <a:defRPr sz="2400" b="0">
                <a:solidFill>
                  <a:srgbClr val="173746"/>
                </a:solidFill>
                <a:latin typeface="Arial"/>
                <a:ea typeface="Arial"/>
                <a:cs typeface="Arial"/>
              </a:defRPr>
            </a:pPr>
            <a:r>
              <a:rPr sz="2400" b="0">
                <a:solidFill>
                  <a:srgbClr val="173746"/>
                </a:solidFill>
                <a:latin typeface="Arial"/>
                <a:ea typeface="Arial"/>
                <a:cs typeface="Arial"/>
              </a:rPr>
              <a:t>A working prototype with reproducible, held-out results</a:t>
            </a:r>
          </a:p>
        </p:txBody>
      </p:sp>
      <p:sp>
        <p:nvSpPr>
          <p:cNvPr id="4" name="">
            <a:extLst xmlns:a="http://schemas.openxmlformats.org/drawingml/2006/main">
              <a:ext uri="{FF2B5EF4-FFF2-40B4-BE49-F238E27FC236}">
                <a16:creationId xmlns:a16="http://schemas.microsoft.com/office/drawing/2014/main" id="{33DC7920-562D-48FC-9354-E4D42B06815E}"/>
              </a:ext>
            </a:extLst>
          </p:cNvPr>
          <p:cNvSpPr>
            <a:spLocks xmlns:a="http://schemas.openxmlformats.org/drawingml/2006/main" noGrp="1"/>
          </p:cNvSpPr>
          <p:nvPr/>
        </p:nvSpPr>
        <p:spPr>
          <a:xfrm xmlns:a="http://schemas.openxmlformats.org/drawingml/2006/main">
            <a:off x="723900" y="2714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73746"/>
                </a:solidFill>
                <a:latin typeface="Arial"/>
                <a:ea typeface="Arial"/>
                <a:cs typeface="Arial"/>
              </a:defRPr>
            </a:defPPr>
          </a:lstStyle>
          <a:p xmlns:a="http://schemas.openxmlformats.org/drawingml/2006/main">
            <a:pPr>
              <a:defRPr sz="2400" b="0">
                <a:solidFill>
                  <a:srgbClr val="173746"/>
                </a:solidFill>
                <a:latin typeface="Arial"/>
                <a:ea typeface="Arial"/>
                <a:cs typeface="Arial"/>
              </a:defRPr>
            </a:pPr>
            <a:r>
              <a:rPr sz="2400" b="0">
                <a:solidFill>
                  <a:srgbClr val="173746"/>
                </a:solidFill>
                <a:latin typeface="Arial"/>
                <a:ea typeface="Arial"/>
                <a:cs typeface="Arial"/>
              </a:rPr>
              <a:t>Overall sentiment: 74.6%; aspect performance is uneven</a:t>
            </a:r>
          </a:p>
        </p:txBody>
      </p:sp>
      <p:sp>
        <p:nvSpPr>
          <p:cNvPr id="5" name="">
            <a:extLst xmlns:a="http://schemas.openxmlformats.org/drawingml/2006/main">
              <a:ext uri="{FF2B5EF4-FFF2-40B4-BE49-F238E27FC236}">
                <a16:creationId xmlns:a16="http://schemas.microsoft.com/office/drawing/2014/main" id="{83B65463-8838-42D0-AF26-7D29178E9703}"/>
              </a:ext>
            </a:extLst>
          </p:cNvPr>
          <p:cNvSpPr>
            <a:spLocks xmlns:a="http://schemas.openxmlformats.org/drawingml/2006/main" noGrp="1"/>
          </p:cNvSpPr>
          <p:nvPr/>
        </p:nvSpPr>
        <p:spPr>
          <a:xfrm xmlns:a="http://schemas.openxmlformats.org/drawingml/2006/main">
            <a:off x="723900" y="39528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73746"/>
                </a:solidFill>
                <a:latin typeface="Arial"/>
                <a:ea typeface="Arial"/>
                <a:cs typeface="Arial"/>
              </a:defRPr>
            </a:defPPr>
          </a:lstStyle>
          <a:p xmlns:a="http://schemas.openxmlformats.org/drawingml/2006/main">
            <a:pPr>
              <a:defRPr sz="2400" b="0">
                <a:solidFill>
                  <a:srgbClr val="173746"/>
                </a:solidFill>
                <a:latin typeface="Arial"/>
                <a:ea typeface="Arial"/>
                <a:cs typeface="Arial"/>
              </a:defRPr>
            </a:pPr>
            <a:r>
              <a:rPr sz="2400" b="0">
                <a:solidFill>
                  <a:srgbClr val="173746"/>
                </a:solidFill>
                <a:latin typeface="Arial"/>
                <a:ea typeface="Arial"/>
                <a:cs typeface="Arial"/>
              </a:rPr>
              <a:t>Next: more real labels, broader hotels and evaluated aspect extraction</a:t>
            </a:r>
          </a:p>
        </p:txBody>
      </p:sp>
      <p:sp>
        <p:nvSpPr>
          <p:cNvPr id="6" name="">
            <a:extLst xmlns:a="http://schemas.openxmlformats.org/drawingml/2006/main">
              <a:ext uri="{FF2B5EF4-FFF2-40B4-BE49-F238E27FC236}">
                <a16:creationId xmlns:a16="http://schemas.microsoft.com/office/drawing/2014/main" id="{6454F022-430A-4B9F-A0ED-8AC95DAF0826}"/>
              </a:ext>
            </a:extLst>
          </p:cNvPr>
          <p:cNvSpPr>
            <a:spLocks xmlns:a="http://schemas.openxmlformats.org/drawingml/2006/main" noGrp="1"/>
          </p:cNvSpPr>
          <p:nvPr/>
        </p:nvSpPr>
        <p:spPr>
          <a:xfrm xmlns:a="http://schemas.openxmlformats.org/drawingml/2006/main">
            <a:off x="723900" y="5429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46C"/>
                </a:solidFill>
                <a:latin typeface="Arial"/>
                <a:ea typeface="Arial"/>
                <a:cs typeface="Arial"/>
              </a:defRPr>
            </a:defPPr>
          </a:lstStyle>
          <a:p xmlns:a="http://schemas.openxmlformats.org/drawingml/2006/main">
            <a:pPr>
              <a:defRPr sz="1725" b="0">
                <a:solidFill>
                  <a:srgbClr val="53646C"/>
                </a:solidFill>
                <a:latin typeface="Arial"/>
                <a:ea typeface="Arial"/>
                <a:cs typeface="Arial"/>
              </a:defRPr>
            </a:pPr>
            <a:r>
              <a:rPr sz="1725" b="0">
                <a:solidFill>
                  <a:srgbClr val="53646C"/>
                </a:solidFill>
                <a:latin typeface="Arial"/>
                <a:ea typeface="Arial"/>
                <a:cs typeface="Arial"/>
              </a:rPr>
              <a:t>Sources: ArguAna TripAdvisor corpus (Wachsmuth et al., 2014)</a:t>
            </a:r>
          </a:p>
          <a:p xmlns:a="http://schemas.openxmlformats.org/drawingml/2006/main">
            <a:pPr>
              <a:defRPr sz="1725" b="0">
                <a:solidFill>
                  <a:srgbClr val="53646C"/>
                </a:solidFill>
                <a:latin typeface="Arial"/>
                <a:ea typeface="Arial"/>
                <a:cs typeface="Arial"/>
              </a:defRPr>
            </a:pPr>
            <a:r>
              <a:rPr sz="1725" b="0">
                <a:solidFill>
                  <a:srgbClr val="53646C"/>
                </a:solidFill>
                <a:latin typeface="Arial"/>
                <a:ea typeface="Arial"/>
                <a:cs typeface="Arial"/>
              </a:rPr>
              <a:t>Stanford CS229 reference (Yu, 2016); full citations in notes and report</a:t>
            </a:r>
          </a:p>
        </p:txBody>
      </p:sp>
    </p:spTree>
    <p:extLst>
      <p:ext uri="{BB962C8B-B14F-4D97-AF65-F5344CB8AC3E}">
        <p14:creationId xmlns:p14="http://schemas.microsoft.com/office/powerpoint/2010/main" val="15639076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2026-10-02T03:46:52.0760000Z</dcterms:created>
  <dcterms:modified xsi:type="dcterms:W3CDTF">2026-10-02T03:46:52.0760000Z</dcterms:modified>
</coreProperties>
</file>